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301" r:id="rId52"/>
    <p:sldId id="302" r:id="rId53"/>
    <p:sldId id="303" r:id="rId54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38.xml"/><Relationship Id="rId30" Type="http://schemas.openxmlformats.org/officeDocument/2006/relationships/slide" Target="slides/slide39.xml"/><Relationship Id="rId31" Type="http://schemas.openxmlformats.org/officeDocument/2006/relationships/slide" Target="slides/slide40.xml"/><Relationship Id="rId32" Type="http://schemas.openxmlformats.org/officeDocument/2006/relationships/slide" Target="slides/slide41.xml"/><Relationship Id="rId33" Type="http://schemas.openxmlformats.org/officeDocument/2006/relationships/slide" Target="slides/slide42.xml"/><Relationship Id="rId34" Type="http://schemas.openxmlformats.org/officeDocument/2006/relationships/slide" Target="slides/slide43.xml"/><Relationship Id="rId35" Type="http://schemas.openxmlformats.org/officeDocument/2006/relationships/slide" Target="slides/slide44.xml"/><Relationship Id="rId36" Type="http://schemas.openxmlformats.org/officeDocument/2006/relationships/slide" Target="slides/slide45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E64A19"/>
                </a:solidFill>
                <a:latin typeface="맑은 고딕"/>
              </a:rPr>
              <a:t>Part 4 · 3일차 · 오전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6800" b="1" i="0">
                <a:solidFill>
                  <a:srgbClr val="1F3A5F"/>
                </a:solidFill>
                <a:latin typeface="맑은 고딕"/>
              </a:rPr>
              <a:t>Ontology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666666"/>
                </a:solidFill>
                <a:latin typeface="맑은 고딕"/>
              </a:rPr>
              <a:t>Apache AGE로 추론까지 가능한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572000"/>
            <a:ext cx="7589520" cy="1188720"/>
          </a:xfrm>
          <a:prstGeom prst="round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사실 + 규칙 = 추론</a:t>
            </a:r>
          </a:p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검색을 넘어 "논리적 결론" 까지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Ontology 개념 → Apache AGE 실습 → 추론 + LLM 연동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F3A5F"/>
                </a:solidFill>
                <a:latin typeface="맑은 고딕"/>
              </a:rPr>
              <a:t>📋 학습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500">
                <a:solidFill>
                  <a:srgbClr val="222222"/>
                </a:solidFill>
                <a:latin typeface="맑은 고딕"/>
              </a:rPr>
              <a:t>●  온톨로지의 개념과 구성 요소</a:t>
            </a:r>
          </a:p>
          <a:p>
            <a:pPr>
              <a:lnSpc>
                <a:spcPct val="140000"/>
              </a:lnSpc>
            </a:pPr>
            <a:r>
              <a:rPr sz="1500">
                <a:solidFill>
                  <a:srgbClr val="222222"/>
                </a:solidFill>
                <a:latin typeface="맑은 고딕"/>
              </a:rPr>
              <a:t>●  Vector · Graph · Ontology RAG 비교</a:t>
            </a:r>
          </a:p>
          <a:p>
            <a:pPr>
              <a:lnSpc>
                <a:spcPct val="140000"/>
              </a:lnSpc>
            </a:pPr>
            <a:r>
              <a:rPr sz="1500">
                <a:solidFill>
                  <a:srgbClr val="222222"/>
                </a:solidFill>
                <a:latin typeface="맑은 고딕"/>
              </a:rPr>
              <a:t>●  Apache AGE 특징과 기본 사용법</a:t>
            </a:r>
          </a:p>
          <a:p>
            <a:pPr>
              <a:lnSpc>
                <a:spcPct val="140000"/>
              </a:lnSpc>
            </a:pPr>
            <a:r>
              <a:rPr sz="1500">
                <a:solidFill>
                  <a:srgbClr val="222222"/>
                </a:solidFill>
                <a:latin typeface="맑은 고딕"/>
              </a:rPr>
              <a:t>●  도메인 온톨로지 설계 → AGE 구축</a:t>
            </a:r>
          </a:p>
          <a:p>
            <a:pPr>
              <a:lnSpc>
                <a:spcPct val="140000"/>
              </a:lnSpc>
            </a:pPr>
            <a:r>
              <a:rPr sz="1500">
                <a:solidFill>
                  <a:srgbClr val="222222"/>
                </a:solidFill>
                <a:latin typeface="맑은 고딕"/>
              </a:rPr>
              <a:t>●  온톨로지 기반 추론 + LLM 연동</a:t>
            </a:r>
          </a:p>
          <a:p>
            <a:pPr>
              <a:lnSpc>
                <a:spcPct val="140000"/>
              </a:lnSpc>
            </a:pPr>
            <a:r>
              <a:rPr sz="1500">
                <a:solidFill>
                  <a:srgbClr val="222222"/>
                </a:solidFill>
                <a:latin typeface="맑은 고딕"/>
              </a:rPr>
              <a:t>●  의료 · 법률 · 금융 도메인 활용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F3A5F"/>
                </a:solidFill>
                <a:latin typeface="맑은 고딕"/>
              </a:rPr>
              <a:t>🛠️ 학습 흐름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94560"/>
            <a:ext cx="1554480" cy="64008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개념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35915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Ontology + 추론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971800"/>
            <a:ext cx="1554480" cy="6400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도구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13639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Apache 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749040"/>
            <a:ext cx="155448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설계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91363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도메인 온톨로지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526280"/>
            <a:ext cx="155448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추론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69087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Class · Transitivity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5303520"/>
            <a:ext cx="1554480" cy="6400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연동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546811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LLM + Cypher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2일차 복습 → 3일차 진입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Graph RAG의 한계 → Ontology가 채워준다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5577840" cy="411480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🌆 2일차 — Graph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관계를 따라간다 (다중 홉)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Cypher MATCH 패턴으로 traversal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사실(facts)을 저장된 그대로 조회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→ "저장 안 된 사실" 은 못 찾음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577840" cy="4114800"/>
          </a:xfrm>
          <a:prstGeom prst="roundRect">
            <a:avLst/>
          </a:prstGeom>
          <a:solidFill>
            <a:srgbClr val="FEF6E5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E64A19"/>
                </a:solidFill>
                <a:latin typeface="맑은 고딕"/>
              </a:rPr>
              <a:t>🧠 3일차 — Ontology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5303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관계 + 규칙(axiom) 으로 추론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저장 안 된 사실도 derive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예: 당뇨 환자 → 만성질환자 (상속)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→ 검색 + 논리적 결론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350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🎯 핵심: "있는 것 조회" → "있는 것에서 추론한 결론까지"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Ontology란 무엇인가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도메인을 "기계가 이해할 수 있게" 형식화한 지식 모델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338560" cy="8229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1">
                <a:solidFill>
                  <a:srgbClr val="1F3A5F"/>
                </a:solidFill>
                <a:latin typeface="맑은 고딕"/>
              </a:rPr>
              <a:t>"세계의 개념과 그 관계를 형식 언어로 명시화한 명세"  — Tom Gruber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📐 Knowledge Graph와의 차이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5486400" cy="22860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Knowledge Graph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사실의 집합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(메타-인수-인스타)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조회만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291840"/>
            <a:ext cx="5486400" cy="228600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Ontology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사실 + 규칙(공리)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(Class 계층 · Property · Axiom)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조회 + 추론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1">
                <a:solidFill>
                  <a:srgbClr val="666666"/>
                </a:solidFill>
                <a:latin typeface="맑은 고딕"/>
              </a:rPr>
              <a:t>💡 KG가 데이터라면, Ontology는 데이터 + 데이터 의미를 결정하는 스키마/규칙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Ontology의 4가지 구성 요소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Class · Property · Instance · Axiom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82296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요소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정의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예시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82296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개념·범주의 정의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Disease, ChronicDisease, Diabetes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Property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Class들 사이의 관계·속성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hasSymptom, treatedBy, hasOnset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82296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Instance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Class의 구체 사례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patient001 (a Diabetes instance)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Axiom (공리)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항상 참인 규칙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Diabetes ⊑ ChronicDisease (포함)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350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E64A19"/>
                </a:solidFill>
                <a:latin typeface="맑은 고딕"/>
              </a:rPr>
              <a:t>💡 Axiom이 "추론" 의 원천 — "X가 Diabetes면 X는 ChronicDisease" 자동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일상 예시 — 동물 분류 Ontology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Class 계층 + Property + Instance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80" y="1828800"/>
            <a:ext cx="2286000" cy="54864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Animal</a:t>
            </a:r>
          </a:p>
        </p:txBody>
      </p:sp>
      <p:sp>
        <p:nvSpPr>
          <p:cNvPr id="5" name="Down Arrow 4"/>
          <p:cNvSpPr/>
          <p:nvPr/>
        </p:nvSpPr>
        <p:spPr>
          <a:xfrm>
            <a:off x="6263640" y="2423160"/>
            <a:ext cx="27432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2926080"/>
            <a:ext cx="2286000" cy="5486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Mammal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926080"/>
            <a:ext cx="2286000" cy="5486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Bird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3840480" y="2377440"/>
            <a:ext cx="2103120" cy="54864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0" y="2377440"/>
            <a:ext cx="1554480" cy="54864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" y="4023360"/>
            <a:ext cx="1828800" cy="5486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Dog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4023360"/>
            <a:ext cx="1828800" cy="5486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Cat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828800" y="3520440"/>
            <a:ext cx="1828800" cy="50292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31920" y="3520440"/>
            <a:ext cx="182880" cy="50292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046720" y="4023360"/>
            <a:ext cx="2377440" cy="5486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Sparrow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58200" y="3520440"/>
            <a:ext cx="777240" cy="50292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50292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🎯 이 온톨로지의 공리(axiom) 예시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86400"/>
            <a:ext cx="11338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Dog ⊑ Mammal ⊑ Animal — "모든 Dog는 Mammal이고 Animal"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Property: hasLegs (Animal → Integer)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Axiom: Mammal.hasLegs = 4 — "포유류는 네 발" (Sparrow는 Bird라 적용 안 됨)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Vector vs Graph vs Ontology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세 RAG 패러다임의 핵심 차이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68580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Vector RAG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Graph RAG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Ontology RAG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저장 단위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텍스트 청크 + 임베딩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Node + 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Class + Property + Axiom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검색 방식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유사도 (코사인)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Cypher 패턴 매칭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패턴 매칭 + 규칙 추론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새 사실 derive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C0392B"/>
                          </a:solidFill>
                          <a:latin typeface="맑은 고딕"/>
                        </a:rPr>
                        <a:t>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C0392B"/>
                          </a:solidFill>
                          <a:latin typeface="맑은 고딕"/>
                        </a:rPr>
                        <a:t>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가능 (자동)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대표 도구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Chroma, FAISS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Neo4j, AGE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Apache AGE, Owlready2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적합 도메인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FAQ, 매뉴얼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추천·소셜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의료·법률·금융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8932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맑은 고딕"/>
              </a:rPr>
              <a:t>🎯 핵심 차이: Ontology만 "저장 안 된 사실" 을 자동으로 만들어낸다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같은 질문, 다른 답변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patient001이 ChronicDisease 환자인가?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657600" cy="182880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0392B"/>
                </a:solidFill>
                <a:latin typeface="맑은 고딕"/>
              </a:rPr>
              <a:t>Vector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❓ "ChronicDisease" 문구가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문서에 없으면 못 찾음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→ ❌ 답변 불가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828800"/>
            <a:ext cx="3657600" cy="1828800"/>
          </a:xfrm>
          <a:prstGeom prst="roundRect">
            <a:avLst/>
          </a:prstGeom>
          <a:solidFill>
            <a:srgbClr val="FEF6E5"/>
          </a:solidFill>
          <a:ln w="1905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9659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E64A19"/>
                </a:solidFill>
                <a:latin typeface="맑은 고딕"/>
              </a:rPr>
              <a:t>Graph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46888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patient001-[:HAS]→Diabetes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조회됨. 하지만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ChronicDisease 관계 없음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→ △ 부분 답변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657600" cy="1828800"/>
          </a:xfrm>
          <a:prstGeom prst="roundRect">
            <a:avLst/>
          </a:prstGeom>
          <a:solidFill>
            <a:srgbClr val="E8F7E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659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27AE60"/>
                </a:solidFill>
                <a:latin typeface="맑은 고딕"/>
              </a:rPr>
              <a:t>Ontology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46888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Diabetes ⊑ ChronicDisease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공리 적용 → 자동 derive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→ ✅ "네, 만성질환자"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   답변 + 근거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🔑 핵심 인사이트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11338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온톨로지는 "명시되지 않은 사실" 도 추론으로 만들어냄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Vector·Graph는 "있는 것만" 검색 — 명시 안 된 카테고리·관계는 모름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→ 의료·법률처럼 분류 체계가 핵심인 도메인에 결정적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왜 Ontology가 필요한가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검색만으로 풀리지 않는 4가지 시나리오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788920" cy="1920240"/>
          </a:xfrm>
          <a:prstGeom prst="roundRect">
            <a:avLst/>
          </a:prstGeom>
          <a:solidFill>
            <a:srgbClr val="F6F8FB"/>
          </a:solidFill>
          <a:ln w="254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788920" cy="5029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계층적 분류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423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당뇨 환자 → 만성질환자</a:t>
            </a:r>
          </a:p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→ 보험 적용 대상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788920" cy="1920240"/>
          </a:xfrm>
          <a:prstGeom prst="roundRect">
            <a:avLst/>
          </a:prstGeom>
          <a:solidFill>
            <a:srgbClr val="F6F8FB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828800"/>
            <a:ext cx="2788920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9202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Transitivity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560320"/>
            <a:ext cx="2423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A is_part_of B,</a:t>
            </a:r>
          </a:p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B is_part_of C → A is_part_of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2788920" cy="1920240"/>
          </a:xfrm>
          <a:prstGeom prst="roundRect">
            <a:avLst/>
          </a:prstGeom>
          <a:solidFill>
            <a:srgbClr val="F6F8FB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278892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제약 조건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560320"/>
            <a:ext cx="2423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1형 당뇨는 인슐린 의존</a:t>
            </a:r>
          </a:p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(자동 검증)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1828800"/>
            <a:ext cx="2788920" cy="1920240"/>
          </a:xfrm>
          <a:prstGeom prst="roundRect">
            <a:avLst/>
          </a:prstGeom>
          <a:solidFill>
            <a:srgbClr val="F6F8F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72600" y="1828800"/>
            <a:ext cx="278892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9202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호환성·표준화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2560320"/>
            <a:ext cx="2423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ICD-10·SNOMED 같은</a:t>
            </a:r>
          </a:p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국제 표준 활용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맑은 고딕"/>
              </a:rPr>
              <a:t>🎯 이 4가지가 모두 "규칙 기반 추론" — 단순 검색으로는 불가능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RDFS / OWL — 온톨로지 표준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W3C가 정의한 표현 언어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68580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표준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표현력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주요 용도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추론기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RDF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Triple (S-P-O)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기본 그래프 표현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(없음)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RDFS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Class 계층 · 도메인/범위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기본 분류 체계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rdfs:subClassOf 등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OWL 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RDFS + 기본 제약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단순 온톨로지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ELK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OWL DL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Description Logic 전체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표현력 풍부, 결정 가능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HermiT, Pellet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OWL 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최대 표현력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결정 불가능 (실용 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(없음)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8932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맑은 고딕"/>
              </a:rPr>
              <a:t>💡 산업 표준 = OWL DL — 표현력과 추론 가능성의 균형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Apache 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PostgreSQL을 그래프 DB로 — Bitnine(한국) 개발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📦 AGE의 정체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PostgreSQL Extension (별도 DB 아님)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openCypher 쿼리 지원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PG 위에 노드·엣지를 테이블로 저장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기존 PG 기능 모두 활용 (ACID, JSON)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Apache 2.0 라이선스 (완전 오픈)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한국 기업 Bitnine 주도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✅ AGE를 쓰는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488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이미 PG 인프라가 있다면 부담 0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SQL + Cypher 혼용 가능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엄격한 스키마·타입 — 온톨로지 친화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트랜잭션·복제 등 PG 자산 그대로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Neo4j Enterprise 비용 없음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한국어 자료/지원 상대적으로 풍부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맑은 고딕"/>
              </a:rPr>
              <a:t>🎯 "이미 PostgreSQL을 쓰는 팀" 에게 가장 매력적인 그래프 옵션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AGE vs Neo4j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왜 이번 세션은 AGE인가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45720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Neo4j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Apache AGE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기반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독립형 그래프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PostgreSQL Extension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저장 엔진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Native Graph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PG 테이블 (vertex/edge)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SQL 호환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C0392B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혼용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트랜잭션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자체 ACID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PG ACID 그대로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라이선스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Community GPL / Enterprise 상용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Apache 2.0 (완전 오픈)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성능 (대규모 traversal)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네이티브 최적화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PG보다 약간 느림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운영 부담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별도 DB 띄움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기존 PG에 확장만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온톨로지 친화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보통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엄격 스키마 + SQL → 친화적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AGE 설치 — Docker 한 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PostgreSQL + AGE Extension 포함 이미지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11338560" cy="27432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10512"/>
            <a:ext cx="11119104" cy="2596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1) Docker로 PG + AGE 실행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docker run -d \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--name age \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-p 5432:5432 \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-e POSTGRES_PASSWORD=password \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apache/age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2) psql로 접속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docker exec -it age psql -U postgres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3) AGE 확장 로드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LOAD 'age';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SET search_path = ag_catalog, "$user", public;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SELECT create_graph('medical_ontology');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🐍 Python 클라이언트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074920"/>
            <a:ext cx="11338560" cy="146304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5148072"/>
            <a:ext cx="11119104" cy="1316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import psycopg2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conn = psycopg2.connect(host="localhost", port=5432,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                    user="postgres", password="password")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cur = conn.cursor()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cur.execute("LOAD 'age';")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cur.execute('SET search_path = ag_catalog, "$user", public;')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AGE Cypher — Neo4j와 거의 동일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openCypher 표준 따름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11338560" cy="475488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10512"/>
            <a:ext cx="11119104" cy="4608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-- 1) 노드 생성 (psql에서 — SQL로 감싸야 함)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SELECT * FROM cypher('medical_ontology', $$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CREATE (d:Disease {name: 'Diabetes', icd10: 'E10'})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$$) as (v agtype);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-- 2) Class 계층 (Diabetes is_a ChronicDisease)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SELECT * FROM cypher('medical_ontology', $$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MATCH (d:Disease {name: 'Diabetes'})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MATCH (c:Disease {name: 'ChronicDisease'})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CREATE (d)-[:IS_A]-&gt;(c)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$$) as (v agtype);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-- 3) 환자가 어떤 만성질환을 갖고 있나? (Transitive)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SELECT * FROM cypher('medical_ontology', $$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MATCH (p:Patient)-[:HAS]-&gt;(d:Disease)-[:IS_A*1..]-&gt;(c:Disease {name: 'ChronicDisease'})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RETURN p.name, d.name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$$) as (patient agtype, disease agtype);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1">
                <a:solidFill>
                  <a:srgbClr val="E64A19"/>
                </a:solidFill>
                <a:latin typeface="맑은 고딕"/>
              </a:rPr>
              <a:t>💡 [:IS_A*1..] — 가변 길이 경로로 transitive 추론 자동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Class 계층 — IS_A 관계로 표현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OWL의 rdfs:subClassOf를 IS_A 엣지로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📝 클래스 계층 구축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48840"/>
            <a:ext cx="5486400" cy="41148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221992"/>
            <a:ext cx="5266944" cy="3968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SELECT * FROM cypher(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'medical_ontology', $$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CREATE (a:Class {name:'Disease'}),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(b:Class {name:'ChronicDisease'}),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(c:Class {name:'Diabetes'}),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(d:Class {name:'Type1Diabetes'}),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(e:Class {name:'Type2Diabetes'})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CREATE (b)-[:IS_A]-&gt;(a),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(c)-[:IS_A]-&gt;(b),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(d)-[:IS_A]-&gt;(c),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(e)-[:IS_A]-&gt;(c)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$$) as (v agtype);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📐 만들어진 계층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286000"/>
            <a:ext cx="2286000" cy="50292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Disease</a:t>
            </a:r>
          </a:p>
        </p:txBody>
      </p:sp>
      <p:sp>
        <p:nvSpPr>
          <p:cNvPr id="9" name="Down Arrow 8"/>
          <p:cNvSpPr/>
          <p:nvPr/>
        </p:nvSpPr>
        <p:spPr>
          <a:xfrm>
            <a:off x="8778240" y="2834640"/>
            <a:ext cx="274320" cy="22860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0" y="3200400"/>
            <a:ext cx="2286000" cy="5029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ChronicDisease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8778240" y="3749040"/>
            <a:ext cx="274320" cy="22860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0" y="4114800"/>
            <a:ext cx="2286000" cy="5029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Diabetes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863840" y="4663440"/>
            <a:ext cx="274320" cy="22860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9692640" y="4663440"/>
            <a:ext cx="274320" cy="22860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0" y="5029200"/>
            <a:ext cx="2194560" cy="50292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Type1Diabetes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5029200"/>
            <a:ext cx="2194560" cy="50292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Type2Diabetes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도메인 온톨로지 설계 — 5단계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ad-hoc 설계 vs 체계적 설계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2240280" cy="228600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240280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1. 범위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1965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어떤 질문에 답할 것인가?</a:t>
            </a:r>
          </a:p>
          <a:p>
            <a:pPr algn="ctr">
              <a:lnSpc>
                <a:spcPct val="155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사용 시나리오 명확화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737360"/>
            <a:ext cx="2240280" cy="228600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88920" y="1737360"/>
            <a:ext cx="2240280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8288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2. 핵심 개념 추출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468880"/>
            <a:ext cx="1965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도메인 전문가와 함께</a:t>
            </a:r>
          </a:p>
          <a:p>
            <a:pPr algn="ctr">
              <a:lnSpc>
                <a:spcPct val="155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주요 명사·동사 식별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737360"/>
            <a:ext cx="2240280" cy="228600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0" y="1737360"/>
            <a:ext cx="2240280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8288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3. Class 계층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468880"/>
            <a:ext cx="1965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상위→하위 분류 정의</a:t>
            </a:r>
          </a:p>
          <a:p>
            <a:pPr algn="ctr">
              <a:lnSpc>
                <a:spcPct val="155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IS_A 관계로 표현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737360"/>
            <a:ext cx="2240280" cy="228600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1737360"/>
            <a:ext cx="2240280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18288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4. Property 정의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468880"/>
            <a:ext cx="1965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Class 간 관계</a:t>
            </a:r>
          </a:p>
          <a:p>
            <a:pPr algn="ctr">
              <a:lnSpc>
                <a:spcPct val="155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속성 + 제약(domain/range)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1737360"/>
            <a:ext cx="2240280" cy="228600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84080" y="1737360"/>
            <a:ext cx="2240280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18288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5. 공리 추가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2468880"/>
            <a:ext cx="1965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transitivity, restriction</a:t>
            </a:r>
          </a:p>
          <a:p>
            <a:pPr algn="ctr">
              <a:lnSpc>
                <a:spcPct val="155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추론 규칙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976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E64A19"/>
                </a:solidFill>
                <a:latin typeface="맑은 고딕"/>
              </a:rPr>
              <a:t>💡 "한 번에 큰 그림 그리지 말고, 작은 시나리오부터 반복 확장"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의료 도메인 온톨로지 예시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환자·질병·약물·증상의 관계 그래프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3383280"/>
            <a:ext cx="2103120" cy="64008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Patient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2011680"/>
            <a:ext cx="210312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Disease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383280"/>
            <a:ext cx="2103120" cy="6400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Drug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3383280"/>
            <a:ext cx="2103120" cy="6400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Symptom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4754880"/>
            <a:ext cx="210312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ChronicDisease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080760" y="2651760"/>
            <a:ext cx="0" cy="73152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72200" y="2880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1">
                <a:solidFill>
                  <a:srgbClr val="E64A19"/>
                </a:solidFill>
                <a:latin typeface="맑은 고딕"/>
              </a:rPr>
              <a:t>HAS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474720" y="3703320"/>
            <a:ext cx="1554480" cy="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0" y="3383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1">
                <a:solidFill>
                  <a:srgbClr val="E64A19"/>
                </a:solidFill>
                <a:latin typeface="맑은 고딕"/>
              </a:rPr>
              <a:t>TAKES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32320" y="2331720"/>
            <a:ext cx="1554480" cy="118872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89520" y="2788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1">
                <a:solidFill>
                  <a:srgbClr val="E64A19"/>
                </a:solidFill>
                <a:latin typeface="맑은 고딕"/>
              </a:rPr>
              <a:t>HAS_SYMPTOM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2651760"/>
            <a:ext cx="0" cy="2103120"/>
          </a:xfrm>
          <a:prstGeom prst="line">
            <a:avLst/>
          </a:prstGeom>
          <a:ln w="31750">
            <a:solidFill>
              <a:srgbClr val="E64A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63640" y="4114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1">
                <a:solidFill>
                  <a:srgbClr val="E64A19"/>
                </a:solidFill>
                <a:latin typeface="맑은 고딕"/>
              </a:rPr>
              <a:t>IS_A (axiom)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3474720" y="2331720"/>
            <a:ext cx="1554480" cy="10515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383280" y="2743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1">
                <a:solidFill>
                  <a:srgbClr val="E64A19"/>
                </a:solidFill>
                <a:latin typeface="맑은 고딕"/>
              </a:rPr>
              <a:t>TREATS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5216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💡 이 작은 온톨로지 위에서 "환자의 만성질환?" "이 약이 치료하는 질병?" 등을 추론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추론 ① Class 상속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하위 클래스의 인스턴스는 자동으로 상위 클래스도 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🎯 시나리오: "patient001이 ChronicDisease 환자인가?"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4A90E2"/>
                </a:solidFill>
                <a:latin typeface="맑은 고딕"/>
              </a:rPr>
              <a:t>📦 저장된 사실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2468880" cy="91440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patient001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71800" y="2651760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21945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1">
                <a:solidFill>
                  <a:srgbClr val="666666"/>
                </a:solidFill>
                <a:latin typeface="맑은 고딕"/>
              </a:rPr>
              <a:t>HAS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377440"/>
            <a:ext cx="2468880" cy="9144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Type2Diabetes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64A19"/>
                </a:solidFill>
                <a:latin typeface="맑은 고딕"/>
              </a:rPr>
              <a:t>📐 공리 (axiom)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377440"/>
            <a:ext cx="5394960" cy="914400"/>
          </a:xfrm>
          <a:prstGeom prst="roundRect">
            <a:avLst/>
          </a:prstGeom>
          <a:solidFill>
            <a:srgbClr val="FEF6E5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560320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Consolas"/>
              </a:rPr>
              <a:t>Type2Diabetes ⊑ Diabetes ⊑ ChronicDisease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43600" y="3657600"/>
            <a:ext cx="365760" cy="36576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27AE60"/>
                </a:solidFill>
                <a:latin typeface="맑은 고딕"/>
              </a:rPr>
              <a:t>🎯 추론 결과 (자동 derive)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72000"/>
            <a:ext cx="11338560" cy="1371600"/>
          </a:xfrm>
          <a:prstGeom prst="roundRect">
            <a:avLst/>
          </a:prstGeom>
          <a:solidFill>
            <a:srgbClr val="E8F7E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27AE60"/>
                </a:solidFill>
                <a:latin typeface="Consolas"/>
              </a:rPr>
              <a:t>✅ patient001 → Type2Diabetes → Diabetes → ChronicDisease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→ "네, patient001은 ChronicDisease 환자입니다"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    (Type2Diabetes 진단 + IS_A 체인 자동 적용)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추론 ② Transitivity (이행성)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A→B, B→C ⇒ A→C 자동 derive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📝 [:RELATION*1..N] 으로 N단계까지 자동 추적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48840"/>
            <a:ext cx="11338560" cy="2286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221992"/>
            <a:ext cx="11119104" cy="2139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-- patient001이 가진 모든 ChronicDisease (transitivity 적용)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SELECT * FROM cypher('medical_ontology', $$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MATCH (p:Patient {id:'patient001'})-[:HAS]-&gt;(d:Disease)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-[:IS_A*1..]-&gt;(c:Class {name:'ChronicDisease'})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RETURN p.id, d.name, c.name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$$) as (patient agtype, disease agtype, super_class agtype);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🎯 결과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983480"/>
          <a:ext cx="113385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68580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patient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disease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super_class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patient001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Type2Diabetes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ChronicDisease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추론 ③ Restriction (제약)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Class 멤버십을 속성으로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🎯 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"인슐린에 의존하는 모든 당뇨"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→ Type1Diabetes로 분류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📝 Restriction 표현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48840"/>
            <a:ext cx="5394960" cy="1371600"/>
          </a:xfrm>
          <a:prstGeom prst="roundRect">
            <a:avLst/>
          </a:prstGeom>
          <a:solidFill>
            <a:srgbClr val="FEF6E5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1" i="0">
                <a:solidFill>
                  <a:srgbClr val="E64A19"/>
                </a:solidFill>
                <a:latin typeface="Consolas"/>
              </a:rPr>
              <a:t>Type1Diabetes ≡</a:t>
            </a:r>
          </a:p>
          <a:p>
            <a:pPr algn="ctr">
              <a:lnSpc>
                <a:spcPct val="140000"/>
              </a:lnSpc>
            </a:pPr>
            <a:r>
              <a:rPr sz="1300" b="1" i="0">
                <a:solidFill>
                  <a:srgbClr val="E64A19"/>
                </a:solidFill>
                <a:latin typeface="Consolas"/>
              </a:rPr>
              <a:t>Diabetes ⊓</a:t>
            </a:r>
          </a:p>
          <a:p>
            <a:pPr algn="ctr">
              <a:lnSpc>
                <a:spcPct val="140000"/>
              </a:lnSpc>
            </a:pPr>
            <a:r>
              <a:rPr sz="1300" b="1" i="0">
                <a:solidFill>
                  <a:srgbClr val="E64A19"/>
                </a:solidFill>
                <a:latin typeface="Consolas"/>
              </a:rPr>
              <a:t>(∀treatedBy.Insulin)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27AE60"/>
                </a:solidFill>
                <a:latin typeface="맑은 고딕"/>
              </a:rPr>
              <a:t>✅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43400"/>
            <a:ext cx="11338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인슐린 치료받는 당뇨 환자 새로 등록 → 자동으로 Type1Diabetes 인식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수동 라벨링 불필요 — 규칙이 자동으로 분류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역방향도 가능: 모든 Type1Diabetes는 인슐린 치료받음을 함의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→ 일관성 검증·자동 분류 동시 달성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LLM + Ontology — 자연어 → Cypher → 추론 → 답변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GraphCypherQAChain 패턴을 AGE에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📐 전체 흐름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240280"/>
            <a:ext cx="1828800" cy="91440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자연어 질문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21408" y="2560320"/>
            <a:ext cx="164592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04288" y="2240280"/>
            <a:ext cx="2011680" cy="9144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LLM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NL→Cypher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34256" y="2560320"/>
            <a:ext cx="164592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17136" y="2240280"/>
            <a:ext cx="2103120" cy="9144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AGE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(IS_A*1.. 포함)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638544" y="2560320"/>
            <a:ext cx="164592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21424" y="2240280"/>
            <a:ext cx="1828800" cy="9144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추론 결과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668512" y="2560320"/>
            <a:ext cx="164592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51392" y="2240280"/>
            <a:ext cx="1828800" cy="9144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LLM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답변 합성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698480" y="2560320"/>
            <a:ext cx="164592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881360" y="2240280"/>
            <a:ext cx="1737360" cy="91440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최종 답변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💡 Graph RAG와의 차이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69080"/>
            <a:ext cx="11338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쿼리에 [:IS_A*1..] 같은 transitivity 패턴 포함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LLM 프롬프트에 "공리 적용 가능" 명시 (스키마 + 공리 목록)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결과는 "저장된 사실 + 추론된 사실" 모두 포함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답변에 출처(어느 사실 + 어느 공리) 명시 가능 → 설명 가능 AI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코드 예시 — LangChain + 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자연어 → 추론 포함 Cypher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11338560" cy="475488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10512"/>
            <a:ext cx="11119104" cy="4608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import psycopg2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from langchain_openai import ChatOpenAI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from langchain.prompts import ChatPromptTemplate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1) AGE 연결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conn = psycopg2.connect(host="localhost", port=5432, user="postgres",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             password="password")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2) 스키마 + 공리 텍스트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SCHEMA = '''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Classes: Patient, Disease, ChronicDisease, Diabetes, Type1Diabetes, Type2Diabetes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Relations: (Patient)-[:HAS]-&gt;(Disease)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(Disease)-[:IS_A]-&gt;(Class)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Axioms (transitive): IS_A 관계는 transitive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'''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3) LLM에 자연어 → Cypher 생성 요청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prompt = ChatPromptTemplate.from_messages([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("system", f"You are an AGE expert. Use [:IS_A*1..] for transitive queries.\n{SCHEMA}"),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("user", "{question}"),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])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llm = ChatOpenAI(model="gpt-4o", temperature=0)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q = "patient001이 ChronicDisease 환자인지 알려줘"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cypher = llm.invoke(prompt.format_messages(question=q)).content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4) AGE에서 실행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with conn.cursor() as cur: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cur.execute(f"SELECT * FROM cypher('medical_ontology', $${cypher}$$) as (r agtype);")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rows = cur.fetchall()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5) 결과 → LLM 답변 합성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answer = llm.invoke(f"질문: {q}\n결과: {rows}\n자연어로 답하세요.").content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§5 실습 — 의료 온톨로지 RAG 만들기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노트북의 4 Steps을 한눈에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📐 실습 전체 파이프라인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468880" cy="1280160"/>
          </a:xfrm>
          <a:prstGeom prst="roundRect">
            <a:avLst/>
          </a:prstGeom>
          <a:solidFill>
            <a:srgbClr val="F6F8FB"/>
          </a:solidFill>
          <a:ln w="254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468880" cy="4114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5915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온톨로지 스키마</a:t>
            </a:r>
          </a:p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Class · Relation</a:t>
            </a:r>
          </a:p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· Constraint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44368" y="2788920"/>
            <a:ext cx="146304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108960" y="2286000"/>
            <a:ext cx="2468880" cy="1280160"/>
          </a:xfrm>
          <a:prstGeom prst="roundRect">
            <a:avLst/>
          </a:prstGeom>
          <a:solidFill>
            <a:srgbClr val="F6F8FB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08960" y="2286000"/>
            <a:ext cx="246888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35915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889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AGE 그래프</a:t>
            </a:r>
          </a:p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구축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2004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노드·엣지 적재</a:t>
            </a:r>
          </a:p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+ 시각화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596128" y="2788920"/>
            <a:ext cx="146304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60720" y="2286000"/>
            <a:ext cx="2468880" cy="1280160"/>
          </a:xfrm>
          <a:prstGeom prst="roundRect">
            <a:avLst/>
          </a:prstGeom>
          <a:solidFill>
            <a:srgbClr val="F6F8FB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2286000"/>
            <a:ext cx="246888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235915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27889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OntologyReasoner</a:t>
            </a:r>
          </a:p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추론 엔진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2004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find_related</a:t>
            </a:r>
          </a:p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check_constraint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247888" y="2788920"/>
            <a:ext cx="146304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0" y="2286000"/>
            <a:ext cx="2468880" cy="1280160"/>
          </a:xfrm>
          <a:prstGeom prst="roundRect">
            <a:avLst/>
          </a:prstGeom>
          <a:solidFill>
            <a:srgbClr val="F6F8F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12480" y="2286000"/>
            <a:ext cx="246888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35915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7889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OntologyRAG</a:t>
            </a:r>
          </a:p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LLM 연동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2004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스키마 + 그래프</a:t>
            </a:r>
          </a:p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→ LLM 답변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0233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E64A19"/>
                </a:solidFill>
                <a:latin typeface="맑은 고딕"/>
              </a:rPr>
              <a:t>🎯 최종 시나리오: 약물 상호작용 검사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434840"/>
            <a:ext cx="11338560" cy="1554480"/>
          </a:xfrm>
          <a:prstGeom prst="roundRect">
            <a:avLst/>
          </a:prstGeom>
          <a:solidFill>
            <a:srgbClr val="FEF6E5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👨‍⚕️ 의사가 환자에게 "메트포르민" 추가 처방하려 함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  → 시스템이 자동으로: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      ① 환자의 기존 치료 경로 탐색 (Disease → Treatment → Drug)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      ② contraindicated 관계 확인 → 위험 약물 있나?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      ③ 결과 + 근거를 LLM이 자연어로 설명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Step 1 — 의료 온톨로지 스키마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Class + Property + Relation + Constraint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📝 OntologySchema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48840"/>
            <a:ext cx="5943600" cy="420624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221992"/>
            <a:ext cx="5724144" cy="4059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medical = OntologySchema("의료 온톨로지")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클래스 정의 + 속성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medical.add_class("Disease",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properties={"name": "string",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     "icd_code": "string",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     "severity": "string"})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medical.add_class("Drug",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properties={"name": "string",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     "type": "string",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     "dosage": "string"})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medical.add_class("Treatment", ...)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medical.add_class("Patient", ...)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관계 정의 (domain · range · cardinality)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medical.add_relation(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"hasSymptom", "Disease", "Symptom",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"one-to-many")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medical.add_relation(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"contraindicated", "Drug", "Drug",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"many-to-many")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제약조건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medical.add_constraint(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"contraindicated 관계 약물 동시 처방 불가")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737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📋 정의된 6개 클래스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148840"/>
            <a:ext cx="1554480" cy="50292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Disease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26771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icd_code, severity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788920"/>
            <a:ext cx="1554480" cy="50292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Symptom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90779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name, body_part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3429000"/>
            <a:ext cx="1554480" cy="50292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Drug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54787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name, type, dosage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4069080"/>
            <a:ext cx="1554480" cy="50292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Treatment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18795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name, method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4709160"/>
            <a:ext cx="1554480" cy="50292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Patient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8280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id, age, gender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5349240"/>
            <a:ext cx="1554480" cy="50292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Doctor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546811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name, specialty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852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1">
                <a:solidFill>
                  <a:srgbClr val="E64A19"/>
                </a:solidFill>
                <a:latin typeface="맑은 고딕"/>
              </a:rPr>
              <a:t>💡 hasSymptom · treatedBy · contraindicated 등 8개 관계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Step 2 — AGE 그래프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도메인 데이터를 노드·엣지로 적재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📦 medical_data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48840"/>
            <a:ext cx="5943600" cy="420624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221992"/>
            <a:ext cx="5724144" cy="4059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medical_data = {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"nodes": [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# 질병 (3개)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{"label":"Disease",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"props":{"name":"고혈압", "icd":"I10"}},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{"label":"Disease",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"props":{"name":"당뇨병", "icd":"E11"}},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# 증상 (5개) — 두통/어지러움/다음다뇨/기침/발열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# 약물 (3개) — 암로디핀/메트포르민/아목시실린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# 치료법 (3개) — 항고혈압/혈당조절/항생제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],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"edges": [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{"from":"고혈압", "rel":"HAS_SYMPTOM",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"to":"두통"},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{"from":"고혈압", "rel":"TREATED_BY",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"to":"항고혈압치료"},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{"from":"항고혈압치료", "rel":"USES_DRUG",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"to":"암로디핀"},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{"from":"메트포르민", "rel":"CONTRAINDICATED",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"to":"암로디핀"},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# ...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]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age.load_graph(medical_data)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737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📐 구축된 미니 그래프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331720"/>
            <a:ext cx="1828800" cy="50292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고혈압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3246120"/>
            <a:ext cx="1554480" cy="4114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두통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3246120"/>
            <a:ext cx="1828800" cy="4114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항고혈압치료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4160520"/>
            <a:ext cx="182880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암로디핀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4160520"/>
            <a:ext cx="155448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메트포르민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315200" y="2834640"/>
            <a:ext cx="1371600" cy="411480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601200" y="2834640"/>
            <a:ext cx="914400" cy="411480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515600" y="3657600"/>
            <a:ext cx="0" cy="502920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4370832"/>
            <a:ext cx="1371600" cy="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321040" y="44805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1">
                <a:solidFill>
                  <a:srgbClr val="C0392B"/>
                </a:solidFill>
                <a:latin typeface="맑은 고딕"/>
              </a:rPr>
              <a:t>CONTRAINDICATED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🔍 networkx로 시각화하면 디버깅 쉬움</a:t>
            </a:r>
          </a:p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(빨간 선 = CONTRAINDICATED 관계 = 위험)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Step 3-A — OntologyReasoner 추론 엔진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그래프 + 스키마를 활용한 검색 메서드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📦 OntologyReasoner — 핵심 메서드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48840"/>
            <a:ext cx="11338560" cy="420624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221992"/>
            <a:ext cx="11119104" cy="4059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class OntologyReasoner: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"""온톨로지 스키마를 활용한 추론 엔진"""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def __init__(self, ontology: OntologySchema, graph_data: Dict):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self.ontology = ontology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self.graph = self._build_internal_graph(graph_data)   # networkx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# ── 메서드 ① — 특정 클래스의 모든 인스턴스 검색 ──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def find_by_class(self, class_name: str) -&gt; List[str]: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return [n for n, d in self.graph.nodes(data=True)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     if d.get("label") == class_name]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# ── 메서드 ② — 관계 따라 N홉 탐색 (다중 홉 추론) ──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def find_related(self, entity: str, relation: str = None,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          max_hops: int = 2) -&gt; List[Dict]: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results, visited = [], set()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def traverse(node, depth):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 if depth &gt; max_hops or node in visited: return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 visited.add(node)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 for _, target, data in self.graph.out_edges(node, data=True):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     if relation is None or data["relation"] == relation: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         results.append({"from": node, "relation": data["relation"],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                         "to": target, "depth": depth})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     traverse(target, depth + 1)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traverse(entity, 1)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return results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Step 3-B — 다중 홉 탐색 + 제약 검사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find_related + check_constraint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🔍 find_related 호출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48840"/>
            <a:ext cx="5486400" cy="21945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221992"/>
            <a:ext cx="5266944" cy="2048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고혈압의 치료 경로 (2-hop)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treatments = reasoner.find_related(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"고혈압",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relation="TREATED_BY",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max_hops=1,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→ [{"from":"고혈압",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    "relation":"TREATED_BY",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    "to":"항고혈압치료"}]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치료법이 쓰는 약물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drugs = reasoner.find_related(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"항고혈압치료",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relation="USES_DRUG", max_hops=1)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→ [{... "to":"암로디핀"}]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⚠️ check_constraint 호출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148840"/>
            <a:ext cx="5486400" cy="21945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2221992"/>
            <a:ext cx="5266944" cy="2048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contraindicated 위반 검사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warnings = reasoner.check_constraint(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drug_new="메트포르민",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drugs_current=["암로디핀"],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→ [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  "⚠️ 메트포르민과 암로디핀은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   contraindicated 관계입니다.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   동시 처방 불가."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E64A19"/>
                </a:solidFill>
                <a:latin typeface="맑은 고딕"/>
              </a:rPr>
              <a:t>🎯 핵심: "저장 안 된 결론도" 도출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1338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노드 간 직접 관계 + 다중 홉 탐색으로 derived facts 발견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제약조건(constraint)으로 정합성 검증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→ 단순 검색이 아닌 "추론된 답" 을 LLM에 전달 가능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Step 4 — OntologyRAG (LLM 연동)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스키마 + 그래프 컨텍스트 → LLM 답변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📦 OntologyRAG — 클래스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48840"/>
            <a:ext cx="11338560" cy="429768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221992"/>
            <a:ext cx="11119104" cy="4151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class OntologyRAG: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    def __init__(self, ontology, reasoner):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        self.ontology, self.reasoner = ontology, reasoner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        self.client = OpenAI()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    def _build_schema_context(self) -&gt; str: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        """온톨로지 스키마 → LLM이 이해할 텍스트"""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        ctx = f"도메인: {self.ontology.name}\n\n클래스:\n"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        for cls, info in self.ontology.classes.items():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            ctx += f"  - {cls}: {info[\'properties\']}\n"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        ctx += "\n관계:\n"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        for rel, info in self.ontology.relations.items():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            ctx += f"  - {info[\'domain\']} --[{rel}]--&gt; {info[\'range\']}\n"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        return ctx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    def _build_graph_context(self, entities: List[str]) -&gt; str: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        """관련 그래프 데이터 → 텍스트"""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        ctx = "관련 지식 그래프 데이터:\n"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        for entity in entities: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            for r in self.reasoner.find_related(entity, max_hops=2):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                ctx += f"  ({r[\'from\']}) --[{r[\'relation\']}]--&gt; ({r[\'to\']})\n"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        return ctx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    def query(self, question: str, entities: List[str]) -&gt; str: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        full_context = self._build_schema_context() + self._build_graph_context(entities)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        return self.client.chat.completions.create(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            model="gpt-4o-mini",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            messages=[{"role": "system", "content": full_context},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                      {"role": "user", "content": question}]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DCDCDC"/>
                </a:solidFill>
                <a:latin typeface="Consolas"/>
              </a:rPr>
              <a:t>        ).choices[0].message.content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최종 시나리오 — 약물 상호작용 검사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Step 1~4를 모두 활용한 실전 케이스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▶️ 호출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48840"/>
            <a:ext cx="5486400" cy="21945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221992"/>
            <a:ext cx="5266944" cy="2048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check_drug_interaction(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reasoner,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disease="고혈압",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new_drug="메트포르민",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📤 출력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148840"/>
            <a:ext cx="5486400" cy="21945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2221992"/>
            <a:ext cx="5266944" cy="2048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=== 약물 상호작용 검사 ===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질환: 고혈압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추가 처방 약물: 메트포르민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[현재 치료 경로]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고혈압 --[TREATED_BY]--&gt; 항고혈압치료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항고혈압치료 --[USES_DRUG]--&gt; 암로디핀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[경고]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⚠️ 메트포르민-암로디핀 contraindicated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🎯 각 단계가 어디서 쓰였나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983480"/>
          <a:ext cx="113385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5669280"/>
              </a:tblGrid>
              <a:tr h="301752"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Step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이 시나리오에서의 역할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01752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Step 1 스키마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Disease/Drug/Treatment 클래스 + contraindicated 관계 정의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Step 2 그래프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고혈압 → 항고혈압치료 → 암로디핀 / 메트포르민-암로디핀 적재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301752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Step 3 Reasoner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find_related로 치료경로 탐색 + check_constraint로 위험 감지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Step 4 LLM RAG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(확장 시) 위 결과를 자연어로 "메트포르민은 위험합니다…" 답변 합성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심화 — 온톨로지 월드 모델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194560"/>
            <a:ext cx="9418320" cy="128016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"검색하는 KG"   →   "행동하는 KG"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0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사실 ⊕ 클래스 계층 ⊕ 함의 규칙 ⊕ 제약 = 추론 가능한 미니 세계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B0B8C4"/>
                </a:solidFill>
                <a:latin typeface="맑은 고딕"/>
                <a:ea typeface="맑은 고딕"/>
                <a:cs typeface="맑은 고딕"/>
              </a:rPr>
              <a:t>Part 4 · Session 31 — §5.7 OntologyWorldModel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정의 — 무엇이 모이면 «월드 모델»인가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2606040" cy="77724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Entities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Relations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423160"/>
            <a:ext cx="2606040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64592" bIns="164592" wrap="square"/>
          <a:lstStyle/>
          <a:p>
            <a:pPr algn="ctr"/>
            <a:r>
              <a:rPr sz="13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지금 세계에 무엇이 있는가</a:t>
            </a:r>
          </a:p>
          <a:p>
            <a:pPr algn="ctr"/>
            <a:r>
              <a:rPr sz="13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(사실 / 트리플)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554480"/>
            <a:ext cx="2606040" cy="777240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Class Hierarchy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(IS_A)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2423160"/>
            <a:ext cx="2606040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64592" bIns="164592" wrap="square"/>
          <a:lstStyle/>
          <a:p>
            <a:pPr algn="ctr"/>
            <a:r>
              <a:rPr sz="13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무엇이 무엇의 일종인가</a:t>
            </a:r>
          </a:p>
          <a:p>
            <a:pPr algn="ctr"/>
            <a:r>
              <a:rPr sz="13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(분류 / 상속)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554480"/>
            <a:ext cx="2606040" cy="77724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Axioms / Rules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2423160"/>
            <a:ext cx="2606040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64592" bIns="164592" wrap="square"/>
          <a:lstStyle/>
          <a:p>
            <a:pPr algn="ctr"/>
            <a:r>
              <a:rPr sz="13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어떤 사실이</a:t>
            </a:r>
          </a:p>
          <a:p>
            <a:pPr algn="ctr"/>
            <a:r>
              <a:rPr sz="13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다른 사실을 함의하는가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554480"/>
            <a:ext cx="2606040" cy="777240"/>
          </a:xfrm>
          <a:prstGeom prst="roundRect">
            <a:avLst/>
          </a:prstGeom>
          <a:solidFill>
            <a:srgbClr val="6E4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Constraints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2423160"/>
            <a:ext cx="2606040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6E4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64592" bIns="164592" wrap="square"/>
          <a:lstStyle/>
          <a:p>
            <a:pPr algn="ctr"/>
            <a:r>
              <a:rPr sz="13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어떤 상태는</a:t>
            </a:r>
          </a:p>
          <a:p>
            <a:pPr algn="ctr"/>
            <a:r>
              <a:rPr sz="13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허용되지 않는가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160520"/>
            <a:ext cx="11155680" cy="4572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4343400"/>
            <a:ext cx="11155680" cy="6858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8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⬇  네 가지가 합쳐지면 → «도메인을 시뮬레이션·검증할 수 있는 월드 모델»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349240"/>
            <a:ext cx="1115568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• 검색 RAG : "세계의 단편을 찾아 LLM 에 던지기"</a:t>
            </a:r>
          </a:p>
          <a:p>
            <a:pPr algn="l"/>
            <a:r>
              <a:rPr sz="14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• 월드 모델: "세계를 가지고 LLM 이 시뮬레이션 / 추론 / 검증"</a:t>
            </a:r>
          </a:p>
          <a:p>
            <a:pPr algn="l"/>
            <a:r>
              <a:rPr sz="14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→ LLM Agent 의 «안전한 행동 백엔드» 역할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월드 모델이 갖춰야 할 4가지 능력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440680" cy="68580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 Entailment    —    함의 추론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94560"/>
            <a:ext cx="544068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공리에서 새 사실을 자동 도출</a:t>
            </a:r>
          </a:p>
          <a:p>
            <a:pPr algn="l"/>
            <a:r>
              <a:rPr sz="12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  폐렴 IS_A 감염병</a:t>
            </a:r>
          </a:p>
          <a:p>
            <a:pPr algn="l"/>
            <a:r>
              <a:rPr sz="12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  + P001 진단됨 폐렴</a:t>
            </a:r>
          </a:p>
          <a:p>
            <a:pPr algn="l"/>
            <a:r>
              <a:rPr sz="12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  ⇒ P001 진단됨 감염병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17320"/>
            <a:ext cx="5440680" cy="685800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 What-if    —    가설 추론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2194560"/>
            <a:ext cx="544068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실제 변경 없이 가상 결과 미리 확인</a:t>
            </a:r>
          </a:p>
          <a:p>
            <a:pPr algn="l"/>
            <a:r>
              <a:rPr sz="12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  "P001 에게 메트포르민을</a:t>
            </a:r>
          </a:p>
          <a:p>
            <a:pPr algn="l"/>
            <a:r>
              <a:rPr sz="12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    추가하면 어떻게 될까?"</a:t>
            </a:r>
          </a:p>
          <a:p>
            <a:pPr algn="l"/>
            <a:r>
              <a:rPr sz="12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  → 가상 세계 평가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023360"/>
            <a:ext cx="5440680" cy="68580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 Consistency    —    일관성 검사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800600"/>
            <a:ext cx="544068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새 사실이 제약을 깨는가</a:t>
            </a:r>
          </a:p>
          <a:p>
            <a:pPr algn="l"/>
            <a:r>
              <a:rPr sz="12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  CONTRAINDICATED 위반?</a:t>
            </a:r>
          </a:p>
          <a:p>
            <a:pPr algn="l"/>
            <a:r>
              <a:rPr sz="12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  cardinality 초과?</a:t>
            </a:r>
          </a:p>
          <a:p>
            <a:pPr algn="l"/>
            <a:r>
              <a:rPr sz="12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  → LLM 호출 없이 결정적 검증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023360"/>
            <a:ext cx="5440680" cy="685800"/>
          </a:xfrm>
          <a:prstGeom prst="roundRect">
            <a:avLst/>
          </a:prstGeom>
          <a:solidFill>
            <a:srgbClr val="6E4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 Action Simulation    —    상태 전이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4800600"/>
            <a:ext cx="544068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6E4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 bIns="137160" wrap="square"/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안전한 액션만 실제 상태에 commit</a:t>
            </a:r>
          </a:p>
          <a:p>
            <a:pPr algn="l"/>
            <a:r>
              <a:rPr sz="12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  가설 → 일관성 OK → 적용</a:t>
            </a:r>
          </a:p>
          <a:p>
            <a:pPr algn="l"/>
            <a:r>
              <a:rPr sz="12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  가설 → 위반 → 거부</a:t>
            </a:r>
          </a:p>
          <a:p>
            <a:pPr algn="l"/>
            <a:r>
              <a:rPr sz="12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  (Plan-and-Act 패턴)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LLM 월드 모델  vs  온톨로지 월드 모델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7160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114800"/>
                <a:gridCol w="4114800"/>
              </a:tblGrid>
              <a:tr h="548640">
                <a:tc>
                  <a:txBody>
                    <a:bodyPr tIns="54864" bIns="54864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월드 모델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온톨로지 월드 모델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548640"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1">
                          <a:solidFill>
                            <a:srgbClr val="1F3A6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추론 방식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ctr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통계적 (next-token 분포)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ctr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형식 논리 (deduction)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1">
                          <a:solidFill>
                            <a:srgbClr val="1F3A6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새 사실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ctr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데이터에서 외삽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ctr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공리에서 연역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1">
                          <a:solidFill>
                            <a:srgbClr val="1F3A6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정확성 보장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ctr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확률적 (환각 가능)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ctr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결정론적 · 검증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1">
                          <a:solidFill>
                            <a:srgbClr val="1F3A6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설명 가능성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ctr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낮음 — 가중치 블랙박스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ctr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추론 경로 제시 가능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1">
                          <a:solidFill>
                            <a:srgbClr val="1F3A6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ctr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사실 검증 어려움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ctr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공리·제약 사람이 작성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4937760"/>
            <a:ext cx="11155680" cy="14630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Best Practice  —  LLM = 자연어 인터페이스 + 후보 생성    │    온톨로지 월드 모델 = 검증·추론 백엔드</a:t>
            </a:r>
          </a:p>
          <a:p>
            <a:pPr algn="ctr"/>
            <a:r>
              <a:rPr sz="15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/>
            <a:r>
              <a:rPr sz="15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↓ 결합하면 →  OntologyRAG / 안전한 LLM Agent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OntologyWorldModel — 클래스 설계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411480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내부 상태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146304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F3A68"/>
                </a:solidFill>
                <a:latin typeface="맑은 고딕"/>
                <a:ea typeface="맑은 고딕"/>
                <a:cs typeface="맑은 고딕"/>
              </a:rPr>
              <a:t>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176272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현재 사실(트리플) 집합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97480"/>
            <a:ext cx="146304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F3A68"/>
                </a:solidFill>
                <a:latin typeface="맑은 고딕"/>
                <a:ea typeface="맑은 고딕"/>
                <a:cs typeface="맑은 고딕"/>
              </a:rPr>
              <a:t>is_a_axioms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816352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{ sub: super } 매핑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337560"/>
            <a:ext cx="146304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F3A68"/>
                </a:solidFill>
                <a:latin typeface="맑은 고딕"/>
                <a:ea typeface="맑은 고딕"/>
                <a:cs typeface="맑은 고딕"/>
              </a:rPr>
              <a:t>inverse_of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456432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{ rel: inverse_rel 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977640"/>
            <a:ext cx="146304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F3A68"/>
                </a:solidFill>
                <a:latin typeface="맑은 고딕"/>
                <a:ea typeface="맑은 고딕"/>
                <a:cs typeface="맑은 고딕"/>
              </a:rPr>
              <a:t>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096512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[제약 검사 함수, ...]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1417320"/>
            <a:ext cx="685800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공개 메서드  →  4가지 능력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2057400"/>
            <a:ext cx="301752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deduce()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05740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F3A68"/>
                </a:solidFill>
                <a:latin typeface="맑은 고딕"/>
                <a:ea typeface="맑은 고딕"/>
                <a:cs typeface="맑은 고딕"/>
              </a:rPr>
              <a:t>Entailment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148840"/>
            <a:ext cx="2103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IS_A 전이 + 역관계로 함의된 트리플 생성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2697480"/>
            <a:ext cx="3017520" cy="502920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hypothetical(add)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269748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E86A33"/>
                </a:solidFill>
                <a:latin typeface="맑은 고딕"/>
                <a:ea typeface="맑은 고딕"/>
                <a:cs typeface="맑은 고딕"/>
              </a:rPr>
              <a:t>What-if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788920"/>
            <a:ext cx="2103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가상 추가 후 derived / violations 리포트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3337560"/>
            <a:ext cx="3017520" cy="50292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check_consistency()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333756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2E7D4F"/>
                </a:solidFill>
                <a:latin typeface="맑은 고딕"/>
                <a:ea typeface="맑은 고딕"/>
                <a:cs typeface="맑은 고딕"/>
              </a:rPr>
              <a:t>Consistency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429000"/>
            <a:ext cx="2103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constraints 함수 모두 실행 → 위반 목록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3977640"/>
            <a:ext cx="3017520" cy="502920"/>
          </a:xfrm>
          <a:prstGeom prst="roundRect">
            <a:avLst/>
          </a:prstGeom>
          <a:solidFill>
            <a:srgbClr val="6E4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simulate_action(action)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397764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E4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6E44AA"/>
                </a:solidFill>
                <a:latin typeface="맑은 고딕"/>
                <a:ea typeface="맑은 고딕"/>
                <a:cs typeface="맑은 고딕"/>
              </a:rPr>
              <a:t>Action Simulation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069080"/>
            <a:ext cx="2103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hypothetical OK 면 state 에 commit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937760"/>
            <a:ext cx="111556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1F3A68"/>
                </a:solidFill>
                <a:latin typeface="맑은 고딕"/>
                <a:ea typeface="맑은 고딕"/>
                <a:cs typeface="맑은 고딕"/>
              </a:rPr>
              <a:t>→ 작은 클래스 1개로 4가지 능력 — 검색 KG 위에 «약 100줄 추가»만으로 월드 모델 구성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" y="5532120"/>
            <a:ext cx="9418320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💡 Plan-and-Act  —  LLM이 액션을 "계획" 하면</a:t>
            </a:r>
          </a:p>
          <a:p>
            <a:pPr algn="ctr"/>
            <a:r>
              <a:rPr sz="13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                      월드 모델이 "시뮬레이트" 한 뒤,  유효한 액션만 "실행"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데모 ① Entailment — IS_A 공리에서 새 사실이 도출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39496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BEFORE  —  명시된 사실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993392"/>
            <a:ext cx="146304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P001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993392"/>
            <a:ext cx="146304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고혈압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68880" y="2240280"/>
            <a:ext cx="1371600" cy="0"/>
          </a:xfrm>
          <a:prstGeom prst="bentConnector3">
            <a:avLst/>
          </a:prstGeom>
          <a:ln w="25400">
            <a:solidFill>
              <a:srgbClr val="E86A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468880" y="1965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DIAGNOSED_WITH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71800"/>
            <a:ext cx="4846320" cy="502920"/>
          </a:xfrm>
          <a:prstGeom prst="roundRect">
            <a:avLst/>
          </a:prstGeom>
          <a:solidFill>
            <a:srgbClr val="6E4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공리: 고혈압 IS_A 만성질환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11880"/>
            <a:ext cx="4846320" cy="502920"/>
          </a:xfrm>
          <a:prstGeom prst="roundRect">
            <a:avLst/>
          </a:prstGeom>
          <a:solidFill>
            <a:srgbClr val="6E4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공리: DIAGNOSED_WITH inverse HAS_PATIENT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4846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→ 명시 사실 18개 + 공리 3개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394960" cy="50292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AFTER  —  deduce() 결과 (자동 도출)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1993392"/>
            <a:ext cx="146304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P001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1993392"/>
            <a:ext cx="146304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고혈압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3044952"/>
            <a:ext cx="1645920" cy="502920"/>
          </a:xfrm>
          <a:prstGeom prst="roundRect">
            <a:avLst/>
          </a:prstGeom>
          <a:solidFill>
            <a:srgbClr val="14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만성질환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3044952"/>
            <a:ext cx="164592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P001 (역)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21040" y="2240280"/>
            <a:ext cx="1463040" cy="0"/>
          </a:xfrm>
          <a:prstGeom prst="bentConnector3">
            <a:avLst/>
          </a:prstGeom>
          <a:ln w="22860">
            <a:solidFill>
              <a:srgbClr val="E86A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321040" y="1965960"/>
            <a:ext cx="1463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DIAGNOSED_WITH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0" y="2514600"/>
            <a:ext cx="0" cy="502920"/>
          </a:xfrm>
          <a:prstGeom prst="bentConnector3">
            <a:avLst/>
          </a:prstGeom>
          <a:ln w="27940">
            <a:solidFill>
              <a:srgbClr val="2E7D4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0" y="269748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2E7D4F"/>
                </a:solidFill>
                <a:latin typeface="Consolas"/>
                <a:ea typeface="Consolas"/>
                <a:cs typeface="Consolas"/>
              </a:rPr>
              <a:t>DIAGNOSED_WITH  (derived)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515600" y="2514600"/>
            <a:ext cx="0" cy="502920"/>
          </a:xfrm>
          <a:prstGeom prst="bentConnector3">
            <a:avLst/>
          </a:prstGeom>
          <a:ln w="27940">
            <a:solidFill>
              <a:srgbClr val="2E7D4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652760" y="269748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2E7D4F"/>
                </a:solidFill>
                <a:latin typeface="Consolas"/>
                <a:ea typeface="Consolas"/>
                <a:cs typeface="Consolas"/>
              </a:rPr>
              <a:t>HAS_PATIENT  (derived)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937760"/>
            <a:ext cx="11155680" cy="1417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l"/>
            <a:r>
              <a:rPr sz="13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→ "P001 진단됨 만성질환" 은 명시한 적 없지만 IS_A 공리로 자동 도출</a:t>
            </a:r>
          </a:p>
          <a:p>
            <a:pPr algn="l"/>
            <a:r>
              <a:rPr sz="13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   "고혈압 HAS_PATIENT P001" 은 역관계 공리로 자동 도출</a:t>
            </a:r>
          </a:p>
          <a:p>
            <a:pPr algn="l"/>
            <a:r>
              <a:rPr sz="13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/>
            <a:r>
              <a:rPr sz="13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💡 적은 사실 + 적은 공리 = 많은 결론  («무료» 추론 = 연역적 closure)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데모 ② What-if  →  ③ Consistency  →  ④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1155680" cy="59436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현재 상태:  P001  ─ PRESCRIBED →  암로디핀   (고혈압 치료 중)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86000"/>
            <a:ext cx="5394960" cy="548640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시나리오 A — "메트포르민 추가?"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539496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hypothetical(add=[PRESCRIBED → 메트포르민])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703320"/>
            <a:ext cx="5394960" cy="777240"/>
          </a:xfrm>
          <a:prstGeom prst="roundRect">
            <a:avLst/>
          </a:prstGeom>
          <a:solidFill>
            <a:srgbClr val="C13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❌ 위반 발견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암로디핀 ↔ 메트포르민 = CONTRAINDICATED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617720"/>
            <a:ext cx="53949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13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C1393C"/>
                </a:solidFill>
                <a:latin typeface="맑은 고딕"/>
                <a:ea typeface="맑은 고딕"/>
                <a:cs typeface="맑은 고딕"/>
              </a:rPr>
              <a:t>simulate_action() → commit: False</a:t>
            </a:r>
          </a:p>
          <a:p>
            <a:pPr algn="ctr"/>
            <a:r>
              <a:rPr sz="1200" b="1">
                <a:solidFill>
                  <a:srgbClr val="C1393C"/>
                </a:solidFill>
                <a:latin typeface="맑은 고딕"/>
                <a:ea typeface="맑은 고딕"/>
                <a:cs typeface="맑은 고딕"/>
              </a:rPr>
              <a:t>→ 월드 상태 그대로 (안전 차단)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86000"/>
            <a:ext cx="5394960" cy="54864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시나리오 B — "아목시실린 추가?"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017520"/>
            <a:ext cx="539496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hypothetical(add=[PRESCRIBED → 아목시실린])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703320"/>
            <a:ext cx="5394960" cy="77724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✅ 위반 없음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암로디핀과 금기 관계 없음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4617720"/>
            <a:ext cx="53949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2E7D4F"/>
                </a:solidFill>
                <a:latin typeface="맑은 고딕"/>
                <a:ea typeface="맑은 고딕"/>
                <a:cs typeface="맑은 고딕"/>
              </a:rPr>
              <a:t>simulate_action() → commit: True</a:t>
            </a:r>
          </a:p>
          <a:p>
            <a:pPr algn="ctr"/>
            <a:r>
              <a:rPr sz="1200" b="1">
                <a:solidFill>
                  <a:srgbClr val="2E7D4F"/>
                </a:solidFill>
                <a:latin typeface="맑은 고딕"/>
                <a:ea typeface="맑은 고딕"/>
                <a:cs typeface="맑은 고딕"/>
              </a:rPr>
              <a:t>→ P001 처방: [암로디핀, 아목시실린]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532120"/>
            <a:ext cx="11155680" cy="914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✨ 핵심 — LLM 호출 없이 「제약 위반」을 결정적으로 차단    │    안전한 액션만 실제 상태에 반영</a:t>
            </a:r>
          </a:p>
          <a:p>
            <a:pPr algn="ctr"/>
            <a:r>
              <a:rPr sz="13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        →  LLM Agent 가 "실수"하지 못하도록 만드는 도메인 가드레일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정리 — 검색하는 KG  vs  행동하는 KG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394960" cy="64008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검색하는 KG  (OntologyRAG)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94560"/>
            <a:ext cx="5394960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• 질문 → 관련 트리플 + 스키마 검색</a:t>
            </a:r>
          </a:p>
          <a:p>
            <a:pPr algn="l"/>
            <a:r>
              <a:rPr sz="14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• LLM 에 컨텍스트로 전달</a:t>
            </a:r>
          </a:p>
          <a:p>
            <a:pPr algn="l"/>
            <a:r>
              <a:rPr sz="14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• 출력은 «자연어 답변»</a:t>
            </a:r>
          </a:p>
          <a:p>
            <a:pPr algn="l"/>
            <a:r>
              <a:rPr sz="14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• 정적 — 그래프는 읽기만</a:t>
            </a:r>
          </a:p>
          <a:p>
            <a:pPr algn="l"/>
            <a:r>
              <a:rPr sz="14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• 적용: Q&amp;A · 검색 · 보조 진단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394960" cy="640080"/>
          </a:xfrm>
          <a:prstGeom prst="roundRect">
            <a:avLst/>
          </a:prstGeom>
          <a:solidFill>
            <a:srgbClr val="6E4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행동하는 KG  (OntologyWorldModel)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194560"/>
            <a:ext cx="5394960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• 가설 → 시뮬레이션 → 검증 → 상태 변경</a:t>
            </a:r>
          </a:p>
          <a:p>
            <a:pPr algn="l"/>
            <a:r>
              <a:rPr sz="14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• LLM 의 액션 후보를 결정적으로 검증</a:t>
            </a:r>
          </a:p>
          <a:p>
            <a:pPr algn="l"/>
            <a:r>
              <a:rPr sz="14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• 출력은 «상태 전이 / 허용·거부 판정»</a:t>
            </a:r>
          </a:p>
          <a:p>
            <a:pPr algn="l"/>
            <a:r>
              <a:rPr sz="14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• 동적 — 그래프 자체가 진화</a:t>
            </a:r>
          </a:p>
          <a:p>
            <a:pPr algn="l"/>
            <a:r>
              <a:rPr sz="14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• 적용: Agent · 추천 · 자동 처방 · 계획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434840"/>
            <a:ext cx="274320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Entailment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983479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0">
                <a:solidFill>
                  <a:srgbClr val="1F3A68"/>
                </a:solidFill>
                <a:latin typeface="맑은 고딕"/>
                <a:ea typeface="맑은 고딕"/>
                <a:cs typeface="맑은 고딕"/>
              </a:rPr>
              <a:t>공리에서 함의 도출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39" y="4434840"/>
            <a:ext cx="2743200" cy="502920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What-if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39" y="4983479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0">
                <a:solidFill>
                  <a:srgbClr val="E86A33"/>
                </a:solidFill>
                <a:latin typeface="맑은 고딕"/>
                <a:ea typeface="맑은 고딕"/>
                <a:cs typeface="맑은 고딕"/>
              </a:rPr>
              <a:t>가상 시뮬레이션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4434840"/>
            <a:ext cx="2743200" cy="50292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Consistency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59" y="4983479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0">
                <a:solidFill>
                  <a:srgbClr val="2E7D4F"/>
                </a:solidFill>
                <a:latin typeface="맑은 고딕"/>
                <a:ea typeface="맑은 고딕"/>
                <a:cs typeface="맑은 고딕"/>
              </a:rPr>
              <a:t>제약 결정적 검증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4434840"/>
            <a:ext cx="2743200" cy="502920"/>
          </a:xfrm>
          <a:prstGeom prst="roundRect">
            <a:avLst/>
          </a:prstGeom>
          <a:solidFill>
            <a:srgbClr val="6E4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Simulation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4983479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E4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0">
                <a:solidFill>
                  <a:srgbClr val="6E44AA"/>
                </a:solidFill>
                <a:latin typeface="맑은 고딕"/>
                <a:ea typeface="맑은 고딕"/>
                <a:cs typeface="맑은 고딕"/>
              </a:rPr>
              <a:t>안전한 상태 전이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760720"/>
            <a:ext cx="11155680" cy="7315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🚀 LLM Agent 시대  —  «월드 모델»이 «검색»보다 더 중요한 인프라가 됩니다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활용 ① 의료 — 약물 상호작용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환자별 위험 약물 자동 탐지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5669280"/>
              </a:tblGrid>
              <a:tr h="587828"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요소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온톨로지로 표현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87828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Drug, Disease, Symptom, ContraindicatedDrug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Relation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TAKES, HAS, TREATS, INTERACTS_WITH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87828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공리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ContraindicatedDrug ≡ Drug ⊓ (∃INTERACTS_WITH.PatientDrug)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추론 질문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patient001이 새로 처방받을 때 위험한 약은?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87828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기존 사실로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복용약 + 상호작용 데이터 from 의약품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자동 결론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처방 후보 중 ContraindicatedDrug 클래스에 속하는 약물 리스트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4360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E64A19"/>
                </a:solidFill>
                <a:latin typeface="맑은 고딕"/>
              </a:rPr>
              <a:t>💡 사례: 미국 Mayo Clinic, 한국 서울대병원 등 EMR에 온톨로지 추론 도입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활용 ② 법률 — 컴플라이언스 자동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임원·거래·이해상충 규칙 추론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5669280"/>
              </a:tblGrid>
              <a:tr h="587828"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요소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온톨로지로 표현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87828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Person, Executive, Company, Transaction, Conflict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Relation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WORKS_AT, DEALT_WITH, COMPETES_WITH, OWNS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87828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공리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Conflict ≡ Executive ⊓ (∃DEALT_WITH.Company ⊓ COMPETES_WITH(own_company))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추론 질문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현재 임원 중 이해상충 가능성이 있는 인물은?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87828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기존 사실로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임원 명단, 거래 기록, 회사 간 경쟁관계 데이터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자동 결론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Conflict 클래스에 새로 분류된 인물 목록 → 컴플라이언스 팀 알림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4360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E64A19"/>
                </a:solidFill>
                <a:latin typeface="맑은 고딕"/>
              </a:rPr>
              <a:t>💡 Big 4 회계법인이 SOX·내부통제 검증에 그래프+온톨로지 도입 증가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활용 ③ 금융 — 규제 준수 추론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Basel III·자본적정성 등 자동 분류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5669280"/>
              </a:tblGrid>
              <a:tr h="587828"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요소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온톨로지로 표현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87828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Asset, RiskAsset, HighRiskAsset, Capital, RegulatoryCapital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Relation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OWNS, HAS_RISK, COUNTED_AS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87828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공리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HighRiskAsset ⊑ RiskAsset · RegulatoryCapital ≡ Capital ⊓ ¬HighRiskAsset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추론 질문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현재 자본 중 규제 자본 적격 비율은?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87828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기존 사실로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보유 자산 목록 + 자산별 위험 등급 + 자본 구성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자동 결론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RegulatoryCapital 클래스 합산 / 총 자본 = 규제 자본 비율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4360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E64A19"/>
                </a:solidFill>
                <a:latin typeface="맑은 고딕"/>
              </a:rPr>
              <a:t>💡 FIBO (Financial Industry Business Ontology) — 금융 표준 온톨로지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다른 도구들 — 정통 RDF/OWL 스택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AGE 외의 선택지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📦 rdflib + Owlready2 — 가장 흔한 Python 스택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48840"/>
            <a:ext cx="11338560" cy="256032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221992"/>
            <a:ext cx="11119104" cy="2414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from owlready2 import get_ontology, sync_reasoner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1) OWL 온톨로지 로드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onto = get_ontology("medical.owl").load()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2) 추론기 (HermiT) 실행 — 자동 분류·추론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with onto: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sync_reasoner()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# Type2Diabetes 환자가 ChronicDisease로 자동 분류됨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3) 결과 조회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chronic_patients = list(onto.ChronicDisease.instances())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print(f"만성질환자 {len(chronic_patients)}명")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📚 vs 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49240"/>
            <a:ext cx="11338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Owlready2: OWL 표준 풀 지원, HermiT 추론기 내장 — 학계·연구에 강함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AGE: PostgreSQL 인프라 활용, 대규모 데이터 운영에 강함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→ 둘 다 시도 후 팀 환경에 맞는 쪽 선택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Ontology RAG 도구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AGE · rdflib + Owlready2 · Stardog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68580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도구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기반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추론기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강점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약점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Apache 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PostgreSQL 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수동 (Cypher)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운영 친화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정통 OWL 부족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Owlready2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Python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HermiT 내장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OWL 표준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대규모 약함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Apache Jena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Java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RDFS/OWL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표준 풀 지원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Python 약함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Stardog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상용 + Knowledge Graph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OWL DL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엔터프라이즈 풀스택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C0392B"/>
                          </a:solidFill>
                          <a:latin typeface="맑은 고딕"/>
                        </a:rPr>
                        <a:t>비용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Neo4j + N-SHACL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Neo4j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외부 도구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그래프 강함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OWL은 약함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8932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맑은 고딕"/>
              </a:rPr>
              <a:t>🎯 본 세션의 선택: Apache AGE — PG 인프라 활용 + 한국 기업 지원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Ontology RAG의 한계와 주의사항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은총알은 아니다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2788920" cy="1828800"/>
          </a:xfrm>
          <a:prstGeom prst="roundRect">
            <a:avLst/>
          </a:prstGeom>
          <a:solidFill>
            <a:srgbClr val="F6F8FB"/>
          </a:solidFill>
          <a:ln w="254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788920" cy="5029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설계 비용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도메인 전문가 + 모델링 전문가가</a:t>
            </a:r>
          </a:p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수개월~수년 투자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737360"/>
            <a:ext cx="2788920" cy="1828800"/>
          </a:xfrm>
          <a:prstGeom prst="roundRect">
            <a:avLst/>
          </a:prstGeom>
          <a:solidFill>
            <a:srgbClr val="F6F8FB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737360"/>
            <a:ext cx="2788920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82880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유지 비용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46888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도메인 변화에 따라</a:t>
            </a:r>
          </a:p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공리·관계 지속 업데이트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2788920" cy="1828800"/>
          </a:xfrm>
          <a:prstGeom prst="roundRect">
            <a:avLst/>
          </a:prstGeom>
          <a:solidFill>
            <a:srgbClr val="F6F8FB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278892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2880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추론 성능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6888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복잡한 OWL DL 추론은</a:t>
            </a:r>
          </a:p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수십초~분 단위 가능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737360"/>
            <a:ext cx="2788920" cy="1828800"/>
          </a:xfrm>
          <a:prstGeom prst="roundRect">
            <a:avLst/>
          </a:prstGeom>
          <a:solidFill>
            <a:srgbClr val="F6F8F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1737360"/>
            <a:ext cx="278892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82880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스키마 진화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46888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기존 데이터 호환 위해</a:t>
            </a:r>
          </a:p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공리 변경이 까다로움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319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💡 적합한 도메인 판단 기준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43400"/>
            <a:ext cx="11338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분류 체계가 명확하고 안정적인가? (의료 ICD-10, 법률 조문 등)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추론 규칙이 자주 바뀌지 않는가?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사용자가 "왜 그런 결론?" 설명을 요구하는가? (설명 가능 AI)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→ Yes가 많으면 투자 가치 있음. Vector/Graph로 충분하면 그쪽 선택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Session 31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Ontology RAG = 검색 + 추론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2286000" cy="77724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Ontology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9202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Class + Property + Axiom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2286000" cy="7772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3가지 RAG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9202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Vector(의미) Graph(관계) Ontology(추론)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2286000" cy="7772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Apache 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8346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PG 확장 + openCypher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651760"/>
            <a:ext cx="2286000" cy="77724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3가지 추론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8346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Class상속 · Transitivity · Restriction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66160"/>
            <a:ext cx="2286000" cy="7772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도메인 활용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7490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의료 · 법률 · 금융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029200"/>
            <a:ext cx="11338560" cy="1463040"/>
          </a:xfrm>
          <a:prstGeom prst="roundRect">
            <a:avLst/>
          </a:prstGeom>
          <a:solidFill>
            <a:srgbClr val="FEF6E5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166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맑은 고딕"/>
              </a:rPr>
              <a:t>🛠️ 실습 체크 (31_ontology_rag.ipynb)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778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✅ Apache AGE 설치 + Class 계층 구축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✅ IS_A*1.. 패턴으로 transitive 추론 쿼리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✅ 본인 도메인 (예: 식품 알레르기) 미니 온톨로지 설계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오전 끝 — 오후는 RAG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"잘 만들었나" 를 측정해야 "개선" 할 수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0" i="0">
                <a:solidFill>
                  <a:srgbClr val="222222"/>
                </a:solidFill>
                <a:latin typeface="맑은 고딕"/>
              </a:rPr>
              <a:t>오전 (Ontology RAG) — 검색 + 추론까지 다 만들었습니다.</a:t>
            </a:r>
          </a:p>
          <a:p>
            <a:pPr algn="ctr">
              <a:lnSpc>
                <a:spcPct val="150000"/>
              </a:lnSpc>
            </a:pPr>
            <a:r>
              <a:rPr sz="1600" b="0" i="0">
                <a:solidFill>
                  <a:srgbClr val="222222"/>
                </a:solidFill>
                <a:latin typeface="맑은 고딕"/>
              </a:rPr>
              <a:t>이제 "만든 RAG가 얼마나 좋은가" 를 정량 측정할 차례.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5577840" cy="2286000"/>
          </a:xfrm>
          <a:prstGeom prst="roundRect">
            <a:avLst/>
          </a:prstGeom>
          <a:solidFill>
            <a:srgbClr val="F6F8FB"/>
          </a:solidFill>
          <a:ln w="254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4A90E2"/>
                </a:solidFill>
                <a:latin typeface="맑은 고딕"/>
              </a:rPr>
              <a:t>🌅 오전 (방금) — Ontology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Class · Property · Axiom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Apache AGE + Cypher 추론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의료·법률·금융 활용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00400"/>
            <a:ext cx="5577840" cy="2286000"/>
          </a:xfrm>
          <a:prstGeom prst="roundRect">
            <a:avLst/>
          </a:prstGeom>
          <a:solidFill>
            <a:srgbClr val="FEF6E5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38328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E64A19"/>
                </a:solidFill>
                <a:latin typeface="맑은 고딕"/>
              </a:rPr>
              <a:t>🌆 오후 — RAG 평가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9776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RAGAS 프레임워크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Faithfulness · Answer Relevancy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LLM-as-a-Judge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🔑 측정하지 않으면 개선할 수 없다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RDF — 트리플 데이터 모델 &amp; Turtle 표기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48640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트리플(Triple) = «주어 - 술어 - 목적어»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40280"/>
            <a:ext cx="1554480" cy="77724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Subject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(주어)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67128" y="2628900"/>
            <a:ext cx="393192" cy="0"/>
          </a:xfrm>
          <a:prstGeom prst="bentConnector3">
            <a:avLst/>
          </a:prstGeom>
          <a:ln w="31750">
            <a:solidFill>
              <a:srgbClr val="222A3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06040" y="2240280"/>
            <a:ext cx="1554480" cy="777240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Predicate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(술어)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90288" y="2628900"/>
            <a:ext cx="393192" cy="0"/>
          </a:xfrm>
          <a:prstGeom prst="bentConnector3">
            <a:avLst/>
          </a:prstGeom>
          <a:ln w="31750">
            <a:solidFill>
              <a:srgbClr val="222A3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0" y="2240280"/>
            <a:ext cx="1554480" cy="77724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Object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(목적어/값)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예) 〈ex:김의중〉 ─ ex:worksAt → 〈ex:AIDENTIFY〉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49039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• URI    — 전 세계 유일 식별자  (Subject·Predicate·Object)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114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• Literal — 문자·숫자·날짜 값  (Object 위치만)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8056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• Blank Node — 익명 노드 (그룹화·임시)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539496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Turtle  —  사람이 읽는 RDF 표기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103120"/>
            <a:ext cx="5394960" cy="31089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l"/>
            <a:r>
              <a:rPr sz="12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@prefix</a:t>
            </a:r>
            <a:r>
              <a:rPr sz="12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ex:   </a:t>
            </a:r>
            <a:r>
              <a:rPr sz="12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&lt;http://example.org/&gt;</a:t>
            </a:r>
            <a:r>
              <a:rPr sz="12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.</a:t>
            </a:r>
          </a:p>
          <a:p>
            <a:pPr algn="l"/>
            <a:r>
              <a:rPr sz="12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@prefix</a:t>
            </a:r>
            <a:r>
              <a:rPr sz="12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xsd:  </a:t>
            </a:r>
            <a:r>
              <a:rPr sz="12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&lt;http://www.w3.org/2001/XMLSchema#&gt;</a:t>
            </a:r>
            <a:r>
              <a:rPr sz="12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.</a:t>
            </a:r>
          </a:p>
          <a:p>
            <a:pPr algn="l"/>
            <a:r>
              <a:rPr sz="12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12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ex:김의중</a:t>
            </a:r>
            <a:r>
              <a:rPr sz="12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  ex:worksAt </a:t>
            </a:r>
            <a:r>
              <a:rPr sz="12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ex:AIDENTIFY</a:t>
            </a:r>
            <a:r>
              <a:rPr sz="12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;</a:t>
            </a:r>
          </a:p>
          <a:p>
            <a:pPr algn="l"/>
            <a:r>
              <a:rPr sz="12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           ex:author </a:t>
            </a:r>
            <a:r>
              <a:rPr sz="12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ex:한권_LLM</a:t>
            </a:r>
            <a:r>
              <a:rPr sz="12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;</a:t>
            </a:r>
          </a:p>
          <a:p>
            <a:pPr algn="l"/>
            <a:r>
              <a:rPr sz="12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           foaf:name </a:t>
            </a:r>
            <a:r>
              <a:rPr sz="12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"김의중"</a:t>
            </a:r>
            <a:r>
              <a:rPr sz="12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.</a:t>
            </a:r>
          </a:p>
          <a:p>
            <a:pPr algn="l"/>
            <a:r>
              <a:rPr sz="12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12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ex:AIDENTIFY</a:t>
            </a:r>
            <a:r>
              <a:rPr sz="12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  ex:locatedIn </a:t>
            </a:r>
            <a:r>
              <a:rPr sz="12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"Seoul"</a:t>
            </a:r>
            <a:r>
              <a:rPr sz="12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;</a:t>
            </a:r>
          </a:p>
          <a:p>
            <a:pPr algn="l"/>
            <a:r>
              <a:rPr sz="12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              ex:founded </a:t>
            </a:r>
            <a:r>
              <a:rPr sz="12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"2018"^^xsd:integer</a:t>
            </a:r>
            <a:r>
              <a:rPr sz="12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440680"/>
            <a:ext cx="11155680" cy="10058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l"/>
            <a:r>
              <a:rPr sz="13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✅ 트리플은 «기계가 처리하기 쉬운» 보편 표현  →  웹의 모든 지식을 같은 형식으로 합칠 수 있음 (Linked Data)</a:t>
            </a:r>
          </a:p>
          <a:p>
            <a:pPr algn="l"/>
            <a:r>
              <a:rPr sz="13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    Turtle 외에도  RDF/XML · JSON-LD · N-Triples  등 동일 트리플을 다른 문법으로 표현하는 직렬화 형식 존재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rdflib — Python 으로 RDF 그래프를 다루는 표준 라이브러리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48640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rdflib  ─  Python 의 «RDF + Turtle + SPARQL» 통합 라이브러리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1828800" cy="45720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Graph()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176272"/>
            <a:ext cx="3566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그래프 생성·트리플 추가/삭제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51760"/>
            <a:ext cx="1828800" cy="457200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.parse()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724912"/>
            <a:ext cx="3566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Turtle · RDF/XML · JSON-LD 로드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200400"/>
            <a:ext cx="1828800" cy="45720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.serialize()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273552"/>
            <a:ext cx="3566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원하는 형식으로 직렬화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49039"/>
            <a:ext cx="1828800" cy="457200"/>
          </a:xfrm>
          <a:prstGeom prst="roundRect">
            <a:avLst/>
          </a:prstGeom>
          <a:solidFill>
            <a:srgbClr val="6E4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.query() — SPARQL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822191"/>
            <a:ext cx="3566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SPARQL 1.1 실행 (다음 슬라이드)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34840"/>
            <a:ext cx="54864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pip install rdflib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539496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실전 코드 — 트리플 추가 후 Turtle 로 출력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103120"/>
            <a:ext cx="5394960" cy="42976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rdflib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Graph, Namespace, Literal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rdflib.namespace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RDF, FOAF, XSD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1100" b="0">
                <a:solidFill>
                  <a:srgbClr val="8B9CAD"/>
                </a:solidFill>
                <a:latin typeface="Consolas"/>
                <a:ea typeface="Consolas"/>
                <a:cs typeface="Consolas"/>
              </a:rPr>
              <a:t># 1) 그래프 + 네임스페이스</a:t>
            </a:r>
          </a:p>
          <a:p>
            <a:pPr algn="l"/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g  = Graph()</a:t>
            </a:r>
          </a:p>
          <a:p>
            <a:pPr algn="l"/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EX = </a:t>
            </a:r>
            <a:r>
              <a:rPr sz="11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Namespace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"http://example.org/"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1100" b="0">
                <a:solidFill>
                  <a:srgbClr val="8B9CAD"/>
                </a:solidFill>
                <a:latin typeface="Consolas"/>
                <a:ea typeface="Consolas"/>
                <a:cs typeface="Consolas"/>
              </a:rPr>
              <a:t># 2) 트리플 추가 — (S, P, O)</a:t>
            </a:r>
          </a:p>
          <a:p>
            <a:pPr algn="l"/>
            <a:r>
              <a:rPr sz="11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g.add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((EX.김의중, FOAF.name, </a:t>
            </a:r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Literal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"김의중"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))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/>
            <a:r>
              <a:rPr sz="11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g.add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((EX.김의중, EX.worksAt, EX.AIDENTIFY))</a:t>
            </a:r>
          </a:p>
          <a:p>
            <a:pPr algn="l"/>
            <a:r>
              <a:rPr sz="11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g.add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((EX.AIDENTIFY, EX.founded, </a:t>
            </a:r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Literal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(2018, datatype=XSD.integer)))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1100" b="0">
                <a:solidFill>
                  <a:srgbClr val="8B9CAD"/>
                </a:solidFill>
                <a:latin typeface="Consolas"/>
                <a:ea typeface="Consolas"/>
                <a:cs typeface="Consolas"/>
              </a:rPr>
              <a:t># 3) Turtle 로 직렬화</a:t>
            </a:r>
          </a:p>
          <a:p>
            <a:pPr algn="l"/>
            <a:r>
              <a:rPr sz="11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(g.</a:t>
            </a:r>
            <a:r>
              <a:rPr sz="11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serialize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format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"turtle"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))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1100" b="0">
                <a:solidFill>
                  <a:srgbClr val="8B9CAD"/>
                </a:solidFill>
                <a:latin typeface="Consolas"/>
                <a:ea typeface="Consolas"/>
                <a:cs typeface="Consolas"/>
              </a:rPr>
              <a:t># 4) 파일 로드 — 어떤 형식이든 자동 인식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g.</a:t>
            </a:r>
            <a:r>
              <a:rPr sz="11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parse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"medical.ttl"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, format=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"turtle"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SPARQL — RDF 그래프의 표준 질의 언어 («그래프용 SQL»)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48640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SQL vs SPARQL — 같은 "질의" 개념, 다른 모델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1645920" cy="411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2057400"/>
            <a:ext cx="1828800" cy="41148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2057400"/>
            <a:ext cx="1920240" cy="411480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SPARQL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14600"/>
            <a:ext cx="16459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F3A68"/>
                </a:solidFill>
                <a:latin typeface="맑은 고딕"/>
                <a:ea typeface="맑은 고딕"/>
                <a:cs typeface="맑은 고딕"/>
              </a:rPr>
              <a:t>데이터 모델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2606040"/>
            <a:ext cx="1783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테이블·행·열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606040"/>
            <a:ext cx="1874519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트리플·노드·엣지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017520"/>
            <a:ext cx="16459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F3A68"/>
                </a:solidFill>
                <a:latin typeface="맑은 고딕"/>
                <a:ea typeface="맑은 고딕"/>
                <a:cs typeface="맑은 고딕"/>
              </a:rPr>
              <a:t>JOIN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3108960"/>
            <a:ext cx="1783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FK 매핑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108960"/>
            <a:ext cx="1874519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트리플 패턴 매칭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520439"/>
            <a:ext cx="16459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F3A68"/>
                </a:solidFill>
                <a:latin typeface="맑은 고딕"/>
                <a:ea typeface="맑은 고딕"/>
                <a:cs typeface="맑은 고딕"/>
              </a:rPr>
              <a:t>기본 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611879"/>
            <a:ext cx="1783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SELECT FROM 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611879"/>
            <a:ext cx="1874519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SELECT WHERE { S P O . 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023359"/>
            <a:ext cx="16459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F3A68"/>
                </a:solidFill>
                <a:latin typeface="맑은 고딕"/>
                <a:ea typeface="맑은 고딕"/>
                <a:cs typeface="맑은 고딕"/>
              </a:rPr>
              <a:t>표준 기관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4114799"/>
            <a:ext cx="1783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ISO/ANSI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114799"/>
            <a:ext cx="1874519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W3C  (2008, 1.1 = 2013)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617720"/>
            <a:ext cx="5486400" cy="41148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절: SELECT · WHERE · FILTER · OPTIONAL · UNION · CONSTRUCT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166360"/>
            <a:ext cx="548640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주요 SPARQL endpoint:</a:t>
            </a:r>
          </a:p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  • DBpedia — 위키피디아 구조화 데이터</a:t>
            </a:r>
          </a:p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  • Wikidata — 1억+ 엔티티</a:t>
            </a:r>
          </a:p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  • UniProt · MeSH · 한국학중앙연구원 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417320"/>
            <a:ext cx="539496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예시 — "AIDENTIFY 에서 일하는 사람의 이름은?"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103120"/>
            <a:ext cx="5394960" cy="42976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l"/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query =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"""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PREFIX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ex:   </a:t>
            </a:r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&lt;http://example.org/&gt;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PREFIX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foaf: </a:t>
            </a:r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&lt;http://xmlns.com/foaf/0.1/&gt;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?person ?name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{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?person ex:worksAt ex:AIDENTIFY .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?person foaf:name  ?name           .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FILTER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LANG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(?name) =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"ko"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ORDER BY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?name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LIMIT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10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"""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1100" b="0">
                <a:solidFill>
                  <a:srgbClr val="8B9CAD"/>
                </a:solidFill>
                <a:latin typeface="Consolas"/>
                <a:ea typeface="Consolas"/>
                <a:cs typeface="Consolas"/>
              </a:rPr>
              <a:t># rdflib 로 바로 실행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row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g.</a:t>
            </a:r>
            <a:r>
              <a:rPr sz="11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query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(query):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(row.person, row.name)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1100" b="0">
                <a:solidFill>
                  <a:srgbClr val="8B9CAD"/>
                </a:solidFill>
                <a:latin typeface="Consolas"/>
                <a:ea typeface="Consolas"/>
                <a:cs typeface="Consolas"/>
              </a:rPr>
              <a:t># 출력 예</a:t>
            </a:r>
          </a:p>
          <a:p>
            <a:pPr algn="l"/>
            <a:r>
              <a:rPr sz="1100" b="0">
                <a:solidFill>
                  <a:srgbClr val="8B9CAD"/>
                </a:solidFill>
                <a:latin typeface="Consolas"/>
                <a:ea typeface="Consolas"/>
                <a:cs typeface="Consolas"/>
              </a:rPr>
              <a:t># → http://example.org/김의중   '김의중'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