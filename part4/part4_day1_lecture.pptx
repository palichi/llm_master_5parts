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828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Part 4 · 1일차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Noto Sans CJK KR"/>
              </a:rPr>
              <a:t>RAG 기초 &amp; 벡터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CFDAE8"/>
                </a:solidFill>
                <a:latin typeface="Noto Sans CJK KR"/>
              </a:rPr>
              <a:t>검색을 LLM에 붙이면 답변이 달라진다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📌 오전 (3h)  Session 26 — RAG 파이프라인 (ChromaDB &amp; 시맨틱 서치)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📌 오후 ①    Session 27 — 벡터 DB 심층 비교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📌 오후 ②    Session 28 — LangChain RAG 어플리케이션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FDAE8"/>
                </a:solidFill>
                <a:latin typeface="Noto Sans CJK KR"/>
              </a:rPr>
              <a:t>© AIDENTIFY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1일차 오전 · Session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Noto Sans CJK KR"/>
              </a:rPr>
              <a:t>RAG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CFDAE8"/>
                </a:solidFill>
                <a:latin typeface="Noto Sans CJK KR"/>
              </a:rPr>
              <a:t>ChromaDB &amp; 시맨틱 서치로 첫 RAG 시스템 만들기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왜 RAG가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LLM이 못 하는 것 vs RAG로 해결되는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C0392B"/>
                </a:solidFill>
                <a:latin typeface="Noto Sans CJK KR"/>
              </a:rPr>
              <a:t>🚫 LLM의 3가지 본질적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**학습 컷오프** — 학습 데이터 시점 이후의 정보는 모름 (예: 어제 뉴스)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**환각(Hallucination)** — 모르면 그럴듯하게 지어냄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**도메인 지식 부족** — 회사 내부 문서, 전문 분야 디테일은 학습 안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8B4E"/>
                </a:solidFill>
                <a:latin typeface="Noto Sans CJK KR"/>
              </a:rPr>
              <a:t>✅ RAG (Retrieval-Augmented Generation) 가 해결하는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**최신 정보** — 검색 시점의 문서를 가져와 답변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**근거 있는 답변** — 검색된 문서를 컨텍스트로 받아 환각 감소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**도메인 특화** — 회사 위키·매뉴얼·논문을 인덱싱해 답변에 활용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**모델 재학습 불필요** — 같은 LLM에 데이터만 바꿔 끼움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왜 RAG인가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RAG 파이프라인 —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5단계 흐름: 문서 → 청크 → 임베딩 → 저장 → 검색+생성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33856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1111910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[Index 단계 — 미리 한 번]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문서 → 청킹(Chunking) → 임베딩(Embedding) → Vector DB 저장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[Query 단계 — 매번 질문할 때]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사용자 질문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│ ① 임베딩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▼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질문 벡터 ──② 유사도 검색──▶  Vector DB ──③ Top-K 문서 반환──▶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                                                         │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┌───────────────────────────────────────────────────────────┘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▼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④ Prompt 구성: [컨텍스트(검색 문서) + 질문]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│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▼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⑤ LLM → 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338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CJK KR"/>
              </a:rPr>
              <a:t>🔑 핵심 인사이트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13385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Index 단계는 **무거움 (한 번)** / Query 단계는 **빠름 (매번)**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LLM은 학습 안 시킴 — **데이터만 인덱싱**하면 새 도메인 즉시 대응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RAG 품질 = **청킹 품질 × 임베딩 품질 × 검색 품질** (3가지 모두 중요)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Index 단계 ① 문서 로딩 (Document Loading)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다양한 포맷을 통일된 Document 객체로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67712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형식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417320"/>
            <a:ext cx="4535424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Loader 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0336" y="1417320"/>
            <a:ext cx="4535424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용도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17370"/>
            <a:ext cx="226771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8173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TextLoader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8173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일반 텍스트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7420"/>
            <a:ext cx="226771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2174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PyPDFLoader, PDFMinerLoader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22174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논문, 매뉴얼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17470"/>
            <a:ext cx="226771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Markdown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26174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UnstructuredMarkdownLoader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0336" y="26174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위키, 노션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226771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30175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BSHTMLLoader, WebBaseLoader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336" y="30175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웹 크롤링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17570"/>
            <a:ext cx="226771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CSV/Excel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912" y="34175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CSVLoader, UnstructuredExcelLoader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34175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표 데이터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17620"/>
            <a:ext cx="226771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38176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Docx2txtLoader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3817620"/>
            <a:ext cx="4535424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보고서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17670"/>
            <a:ext cx="226771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Notion/Slack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4912" y="42176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NotionDirectoryLoader, SlackDirectoryLoader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0336" y="4217670"/>
            <a:ext cx="4535424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사내 협업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1133856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873752"/>
            <a:ext cx="11119104" cy="1271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langchain_community.document_loaders import PyPDFLoader, TextLoader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docs = PyPDFLoader("manual.pdf").load()   # [Document(page_content=..., metadata=...), ...]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print(f"총 {len(docs)} 페이지 / 첫 페이지: {docs[0].page_content[:100]}")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문서 로딩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3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Index 단계 ② 청킹 (Text Chunking)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RAG 품질을 좌우하는 가장 중요한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**왜 청크로 자르나?** — 임베딩 모델 입력 길이 제한 + 검색 정확도 (작은 단위가 더 정확)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**문제** — 너무 작으면 컨텍스트 부족, 너무 크면 잡음 많음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**해결** — 적절한 크기 + 오버랩으로 경계 잘림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📊 청크 전략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2267712" cy="43891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전략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474720"/>
            <a:ext cx="3401568" cy="43891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동작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474720"/>
            <a:ext cx="2834640" cy="43891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장점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474720"/>
            <a:ext cx="2834640" cy="43891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단점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13632"/>
            <a:ext cx="22677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고정 크기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3913632"/>
            <a:ext cx="34015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N자/N토큰 단위로 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913632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단순, 빠름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913632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문장 중간 잘림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52544"/>
            <a:ext cx="2267712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RecursiveCharacter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4352544"/>
            <a:ext cx="3401568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단락→문장→단어 순으로 시도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352544"/>
            <a:ext cx="2834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의미 단위 보존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352544"/>
            <a:ext cx="2834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다소 느림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91456"/>
            <a:ext cx="22677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문서 구조 기반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4791456"/>
            <a:ext cx="34015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Markdown 헤더, PDF 페이지로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791456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논리적 구분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4791456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포맷 의존적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0368"/>
            <a:ext cx="2267712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Semantic Chunking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5230368"/>
            <a:ext cx="3401568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문장 임베딩 유사도로 분할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5230368"/>
            <a:ext cx="2834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의미 일관성 최고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5230368"/>
            <a:ext cx="2834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비용·시간 많음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52160"/>
            <a:ext cx="113385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925312"/>
            <a:ext cx="11119104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langchain.text_splitter import RecursiveCharacterTextSplitter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splitter = RecursiveCharacterTextSplitter(chunk_size=500, chunk_overlap=50)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chunks = splitter.split_documents(docs)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청킹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4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Index 단계 ③ 임베딩 (Embedding)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텍스트를 의미 벡터로 — RAG의 두뇌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**임베딩이란?** 텍스트 → 고차원 벡터(예: 384, 768, 1536차원)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의미가 비슷하면 벡터도 가까움(코사인 유사도 ↑)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검색 = 질문 벡터와 가장 가까운 문서 벡터 찾기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**핵심 선택지**: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오픈소스: sentence-transformers (한국어 지원 다국어 모델)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API: OpenAI text-embedding-3-small / large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한국어 특화: ko-sroberta-multitask, ko-sbert-nli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42062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1536192"/>
            <a:ext cx="398678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sentence_transformers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import SentenceTransformer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 = SentenceTransformer(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"jhgan/ko-sroberta-multitask"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v1 = m.encode("개가 짖는다")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v2 = m.encode("멍멍이가 짖다")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v1과 v2는 매우 가까움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print(v1.shape)  # (768,)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📊 한국어 임베딩 모델 추천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43400"/>
            <a:ext cx="4360984" cy="402336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8184" y="4343400"/>
            <a:ext cx="1221075" cy="402336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차원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9259" y="4343400"/>
            <a:ext cx="3139908" cy="402336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장점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9167" y="4343400"/>
            <a:ext cx="2616590" cy="402336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45736"/>
            <a:ext cx="4360984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jhgan/ko-sroberta-multitask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184" y="4745736"/>
            <a:ext cx="1221075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768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9259" y="4745736"/>
            <a:ext cx="31399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한국어 SOTA급, 무료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79167" y="4745736"/>
            <a:ext cx="261659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1순위 추천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48072"/>
            <a:ext cx="4360984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BM-K/KoSimCSE-roberta-multitask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8184" y="5148072"/>
            <a:ext cx="1221075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768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9259" y="5148072"/>
            <a:ext cx="3139908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유사 문장 매칭 강함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9167" y="5148072"/>
            <a:ext cx="2616590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대안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50408"/>
            <a:ext cx="4360984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intfloat/multilingual-e5-large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8184" y="5550408"/>
            <a:ext cx="1221075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1024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9259" y="5550408"/>
            <a:ext cx="31399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다국어, 한국어 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9167" y="5550408"/>
            <a:ext cx="261659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한+영 혼합 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52744"/>
            <a:ext cx="4360984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OpenAI text-embedding-3-small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18184" y="5952744"/>
            <a:ext cx="1221075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1536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9259" y="5952744"/>
            <a:ext cx="3139908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API 간편, 다국어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79167" y="5952744"/>
            <a:ext cx="2616590" cy="402336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유료, $0.02/1M 토큰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임베딩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5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Index 단계 ④ Vector DB 저장 (ChromaDB)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임베딩한 벡터를 검색 가능한 DB에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**ChromaDB** = 가장 쉬운 오픈소스 Vector DB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(1) 임베딩, (2) 원본 텍스트, (3) 메타데이터 함께 저장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Persistent 모드로 디스크에 영구 저장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내장 임베딩 함수 또는 직접 임베딩 후 add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**왜 ChromaDB로 시작하나?**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설치 한 줄, 로컬에서 즉시 동작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Python API 직관적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Session 27에서 다른 DB와 비교 예정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463040"/>
            <a:ext cx="5943600" cy="402336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536192"/>
            <a:ext cx="5724144" cy="387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import chromadb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chromadb.utils import embedding_functions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Persistent 클라이언트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client = chromadb.PersistentClient(path="./chroma_db")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임베딩 함수 (한국어 모델)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ef = embedding_functions.SentenceTransformerEmbeddingFunction(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model_name="jhgan/ko-sroberta-multitask"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Collection 생성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collection = client.get_or_create_collection(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name="my_docs",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embedding_function=ef,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문서 추가 (Chroma가 자동 임베딩)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collection.add(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documents=["RAG는 검색 증강 생성이다", ...],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metadatas=[{"source": "doc1.pdf"}, ...],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ids=["d1", "d2", ...],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저장된 것 확인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print(collection.count())  # 문서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ChromaDB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6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Query 단계 — 시맨틱 서치 (Semantic Search)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질문 → 임베딩 → 가장 유사한 문서 K개 찾기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질문으로 검색 (Chroma가 자동으로 임베딩 + 유사도 계산)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collection.query(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query_texts=["RAG에서 청킹이 왜 중요한가?"],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n_results=3,   # Top-3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반환 구조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{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"ids":       [["d12", "d7", "d23"]],         # 가장 유사한 문서 ID 3개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"documents": [["청크 크기가 너무 크면...", "검색 정확도는...", "RAG 품질의..."]],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"distances": [[0.18, 0.24, 0.31]],            # 거리 (낮을수록 유사)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"metadatas": [[{"source": "rag.pdf", ...}, ...]],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🎯 검색 결과를 어떻게 활용하나?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92040"/>
            <a:ext cx="11338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965192"/>
            <a:ext cx="11119104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Top-K 문서를 컨텍스트로 LLM에 전달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context = "\n\n".join(results["documents"][0])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prompt = f"""다음 문서를 참고하여 질문에 답하세요.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문서: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{context}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질문: RAG에서 청킹이 왜 중요한가?"""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answer = llm.invoke(prompt)  # ← 환각 줄어든 근거 있는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7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키워드 검색 vs 시맨틱 서치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왜 RAG는 시맨틱이 기본인가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16590" cy="3810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3790" y="1417320"/>
            <a:ext cx="4360984" cy="3810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키워드 검색 (BM25, 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774" y="1417320"/>
            <a:ext cx="4360984" cy="3810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시맨틱 서치 (Embedding)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98320"/>
            <a:ext cx="261659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매칭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3790" y="1798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단어가 정확히 일치해야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4774" y="1798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의미가 비슷하면 매칭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79320"/>
            <a:ext cx="2616590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동의어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3790" y="2179320"/>
            <a:ext cx="4360984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C0392B"/>
                </a:solidFill>
                <a:latin typeface="Noto Sans CJK KR"/>
              </a:rPr>
              <a:t>별도 사전 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774" y="2179320"/>
            <a:ext cx="4360984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자동 (강아지 ≈ 멍멍이)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261659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오타·변형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3790" y="2560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C0392B"/>
                </a:solidFill>
                <a:latin typeface="Noto Sans CJK KR"/>
              </a:rPr>
              <a:t>약함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4774" y="2560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견고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41320"/>
            <a:ext cx="2616590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속도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3790" y="2941320"/>
            <a:ext cx="4360984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매우 빠름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4774" y="2941320"/>
            <a:ext cx="4360984" cy="3810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E6A819"/>
                </a:solidFill>
                <a:latin typeface="Noto Sans CJK KR"/>
              </a:rPr>
              <a:t>중간 (임베딩 비용)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22320"/>
            <a:ext cx="261659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저장 부담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73790" y="3322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전통 인덱스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774" y="3322320"/>
            <a:ext cx="4360984" cy="38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E6A819"/>
                </a:solidFill>
                <a:latin typeface="Noto Sans CJK KR"/>
              </a:rPr>
              <a:t>벡터 (큰 차원)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4A19"/>
                </a:solidFill>
                <a:latin typeface="Noto Sans CJK KR"/>
              </a:rPr>
              <a:t>💡 실무 패턴: 둘 다 쓰는 Hybrid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11338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**키워드 점수 + 시맨틱 점수** 를 가중 평균 (Reciprocal Rank Fusion 등)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고유명사·코드명은 키워드가 더 정확 (예: "Qwen2.5-1.5B")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긴 자연어 질문·의미 매칭은 시맨틱이 강함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Session 29 (Advanced RAG)에서 **Ensemble Retriever**로 본격 다룸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키워드 vs 시맨틱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8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청킹 전략 실험 — 어떤 크기가 좋을까?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같은 문서, 같은 질문, 청크 크기만 바꿔보기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📊 RAG 품질 측정 — 청크 크기별 비교 (실습 결과 예시)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2230536" cy="36576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청크 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7736" y="1783080"/>
            <a:ext cx="1487024" cy="36576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오버랩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4760" y="1783080"/>
            <a:ext cx="2416414" cy="36576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검색 정확도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91174" y="1783080"/>
            <a:ext cx="2416414" cy="36576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응답 품질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7588" y="1783080"/>
            <a:ext cx="2788170" cy="36576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223053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128 토큰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7736" y="2148840"/>
            <a:ext cx="148702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4760" y="214884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낮음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1174" y="214884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컨텍스트 부족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7588" y="2148840"/>
            <a:ext cx="278817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너무 잘게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2230536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256 토큰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87736" y="2514600"/>
            <a:ext cx="148702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4760" y="2514600"/>
            <a:ext cx="241641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91174" y="2514600"/>
            <a:ext cx="241641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균형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7588" y="2514600"/>
            <a:ext cx="2788170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초보 권장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223053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512 토큰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87736" y="2880360"/>
            <a:ext cx="148702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4760" y="288036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91174" y="288036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7588" y="2880360"/>
            <a:ext cx="278817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**일반적 추천 시작점**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2230536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1024 토큰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7736" y="3246120"/>
            <a:ext cx="148702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4760" y="3246120"/>
            <a:ext cx="241641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잡음↑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1174" y="3246120"/>
            <a:ext cx="2416414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답변 길어짐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7588" y="3246120"/>
            <a:ext cx="2788170" cy="36576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긴 맥락 필요 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223053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2048+ 토큰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87736" y="3611880"/>
            <a:ext cx="148702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4760" y="361188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검색 무뎌짐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91174" y="3611880"/>
            <a:ext cx="2416414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환각 위험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7588" y="3611880"/>
            <a:ext cx="278817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비추천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519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64A19"/>
                </a:solidFill>
                <a:latin typeface="Noto Sans CJK KR"/>
              </a:rPr>
              <a:t>🔑 최적 청크 결정 원칙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**문서 특성 따라**: 짧은 답변 위주 (FAQ) = 256, 긴 설명 (논문) = 512~1024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**오버랩은 청크 크기의 10~20%** — 너무 크면 중복 ↑, 너무 작으면 경계 잘림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**무조건 정답 없음** — 평가셋으로 직접 측정 (Session 32 RAG 평가)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**시작 권장**: chunk_size=500, overlap=50 으로 시작 → 평가 후 조정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청킹 실험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9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Session 26 정리 &amp; 오전 실습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ChromaDB로 첫 RAG 파이프라인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RAG = **검색 + 생성** — LLM 한계 3가지(컷오프/환각/도메인) 해결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파이프라인 = **문서 → 청킹 → 임베딩 → Vector DB → 검색 → LLM**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ChromaDB는 시작용으로 가장 쉬움 (Persistent 모드, 한 줄 설치)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청크 크기 500 / 오버랩 50 / 한국어 임베딩 ko-sroberta 부터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키워드 검색의 한계 → 시맨틱 서치가 기본, 향후 Hybrid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🛠️ 노트북 실습 체크 (26_rag_fundamentals.ipynb)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3385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직접 만든 텍스트 파일을 ChromaDB에 인덱싱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Top-3 검색 결과를 LLM 프롬프트에 넣고 답변 받기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청크 크기를 256/512/1024로 바꿔가며 검색 결과 차이 관찰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같은 질문을 키워드(단순 substring)와 시맨틱 검색으로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26 ·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10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1일차 오후 ① · Session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Noto Sans CJK KR"/>
              </a:rPr>
              <a:t>Vector DB 심층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CFDAE8"/>
                </a:solidFill>
                <a:latin typeface="Noto Sans CJK KR"/>
              </a:rPr>
              <a:t>Chroma / FAISS / pgvector / Pinecone / Weaviate / Milvus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Vector DB란? — 전통 DB와의 본질적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행/열 매칭이 아닌 '벡터 거리'로 검색하는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67712" cy="50292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417320"/>
            <a:ext cx="4535424" cy="50292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전통 DB (RDB)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0336" y="1417320"/>
            <a:ext cx="4535424" cy="50292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Vector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2677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92024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행/열 (구조화)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92024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고차원 벡터 (수백~수천 차원)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2267712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423160"/>
            <a:ext cx="4535424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정확 매칭 (WHERE x = 'A')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2423160"/>
            <a:ext cx="4535424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유사도 검색 (가장 가까운 K개)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2677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인덱스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292608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B-tree, Hash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0336" y="292608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HNSW, IVF, LSH (ANN)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267712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속도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3429000"/>
            <a:ext cx="4535424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정확하지만 큰 데이터에 약함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336" y="3429000"/>
            <a:ext cx="4535424" cy="50292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근사 검색으로 수십억까지 빠름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22677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예시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912" y="393192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MySQL, 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3931920"/>
            <a:ext cx="453542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Chroma, FAISS, Pinecone, Weaviate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4A19"/>
                </a:solidFill>
                <a:latin typeface="Noto Sans CJK KR"/>
              </a:rPr>
              <a:t>🔑 핵심: ANN (Approximate Nearest Neighbor)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정확한 1위를 찾으면 너무 느림 → **"거의 정확한 Top-K"** 로 타협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주요 알고리즘: **HNSW** (Chroma, Weaviate), **IVF** (FAISS, Milvus), **LSH**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정확도 99% 유지하며 속도 100~1000배 향상 — 실용 가능한 핵심 기술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Vector DB 개념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11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주요 Vector DB 6종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Chroma · FAISS · Pinecone · Weaviate · Milvus · pgvector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52400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DB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9760" y="1371600"/>
            <a:ext cx="228600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5760" y="1371600"/>
            <a:ext cx="274320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강점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8960" y="1371600"/>
            <a:ext cx="228600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약점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4960" y="1371600"/>
            <a:ext cx="259080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추천 용도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4742"/>
            <a:ext cx="1524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Chroma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9760" y="2024742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2024742"/>
            <a:ext cx="27432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가장 쉬움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8960" y="2024742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대규모 약함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4960" y="2024742"/>
            <a:ext cx="25908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프로토타입, 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7884"/>
            <a:ext cx="1524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FAISS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89760" y="2677884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라이브러리 (Meta)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677884"/>
            <a:ext cx="27432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초고속, 메모리 효율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8960" y="2677884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DB 기능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4960" y="2677884"/>
            <a:ext cx="25908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임베디드, 단일 노드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1026"/>
            <a:ext cx="1524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Pinecone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89760" y="3331026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상용 SaaS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3331026"/>
            <a:ext cx="27432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운영 0, 멀티테넌트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8960" y="3331026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비용·락인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4960" y="3331026"/>
            <a:ext cx="25908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스타트업, MVP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84168"/>
            <a:ext cx="1524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Weaviate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89760" y="3984168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 + 클라우드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75760" y="3984168"/>
            <a:ext cx="27432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GraphQL, 멀티모달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8960" y="3984168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운영 복잡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4960" y="3984168"/>
            <a:ext cx="25908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복잡한 스키마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37310"/>
            <a:ext cx="1524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Milvus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89760" y="4637310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 (Zilliz)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760" y="4637310"/>
            <a:ext cx="27432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수십억 벡터, 분산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18960" y="4637310"/>
            <a:ext cx="22860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운영 무거움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4960" y="4637310"/>
            <a:ext cx="259080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대규모 production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90452"/>
            <a:ext cx="1524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pgvector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9760" y="5290452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PG 확장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5290452"/>
            <a:ext cx="27432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기존 RDB와 통합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18960" y="5290452"/>
            <a:ext cx="22860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전용 DB보다 느림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4960" y="5290452"/>
            <a:ext cx="259080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이미 PG 쓰는 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💡 "단 하나의 정답"은 없다 — 팀 인프라·규모·운영 비용에 맞춰 선택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6종 비교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12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ChromaDB 실습 — 가장 쉬운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한 파일로 임베딩·저장·검색 다 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38404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import chromadb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chromadb.utils import embedding_functions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1) 클라이언트 + 임베딩 함수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client = chromadb.PersistentClient(path="./chroma_db")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ef = embedding_functions.SentenceTransformerEmbeddingFunction(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model_name="jhgan/ko-sroberta-multitask"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2) Collection 생성/조회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col = client.get_or_create_collection("docs", embedding_function=ef)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3) 문서 추가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col.add(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documents=["문장1", "문장2", ...],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metadatas=[{"src": "a.pdf"}, ...],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ids=["1", "2", ...],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4) 검색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results = col.query(query_texts=["내 질문"], n_results=3)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for doc, dist in zip(results["documents"][0], results["distances"][0]):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print(f"[{dist:.3f}] {doc[:80]}")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✅ 장점: 설치 한 줄, Persistent로 영구 저장, 로컬에서 즉시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⚠️  한계: 단일 노드, 멀티 사용자 동시성·복제 약함 → 프로토타입용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ChromaDB 실습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13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FAISS 실습 — 초고속 ANN 라이브러리 (Meta)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DB가 아니라 라이브러리 — 직접 인덱스 빌드/검색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import faiss, numpy as np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sentence_transformers import SentenceTransformer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1) 임베딩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model = SentenceTransformer("jhgan/ko-sroberta-multitask")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docs = ["문장1", "문장2", ...]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embs = model.encode(docs, convert_to_numpy=True).astype("float32")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2) 인덱스 종류 선택 — 정확성 vs 속도 트레이드오프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index = faiss.IndexFlatL2(embs.shape[1])         # 정확 L2 (느림, 정확)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index = faiss.IndexIVFFlat(quantizer, dim, 100) # IVF (빠름, 약간 부정확)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index = faiss.IndexHNSWFlat(dim, 32)             # HNSW (빠름, 정확도↑)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3) 추가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index.add(embs)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4) 검색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q = model.encode(["내 질문"]).astype("float32")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D, I = index.search(q, k=3)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for dist, idx in zip(D[0], I[0]):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print(f"[{dist:.3f}] {docs[idx]}")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5) 저장/로드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faiss.write_index(index, "my.index")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index = faiss.read_index("my.index")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💡 FAISS는 메타데이터·필터링이 없어 → 별도 dict로 관리해야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FAISS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14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PostgreSQL + pgvector — 기존 PG에 벡터 검색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이미 PG 쓰는 팀에게 가장 자연스러운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38404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-- 1) 확장 설치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CREATE EXTENSION vector;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-- 2) 벡터 컬럼이 있는 테이블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CREATE TABLE documents 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id      SERIAL PRIMARY KEY,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content TEXT,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embedding vector(768)   -- ko-sroberta는 768차원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);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-- 3) 인덱스 (HNSW)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CREATE INDEX ON documents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USING hnsw (embedding vector_l2_ops);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-- 4) 삽입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INSERT INTO documents (content, embedding)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VALUES ('문장1', '[0.1, 0.2, ...]'::vector);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-- 5) 검색 (가장 가까운 3개)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SELECT id, content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documents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ORDER BY embedding &lt;-&gt; '[0.3, 0.4, ...]'::vector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LIMIT 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✅ 장점: ACID, JSON, 전문검색, 복제 등 PG의 모든 기능 + 벡터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⚠️  성능: 전용 DB 대비 2~3배 느림 (수억 벡터까지는 충분히 실용적)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15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Vector DB 선택 가이드 — 의사결정 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상황 → 추천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38404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[학습/프로토타입 — 1만 문서 이하]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Chroma     설치 한 줄, 즉시 동작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[단일 노드 production — 10만~100만 문서]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FAISS      메모리 효율, 빠름. DB 기능 필요하면 + SQLite/JSON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pgvector   이미 PG 있으면 1순위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[다중 사용자·SaaS — 빠른 출시]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Pinecone   운영 부담 0, but 비용/락인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[수억~수십억 벡터, 분산 필요]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Milvus     수평 확장, k8s 친화적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Weaviate   GraphQL 인터페이스, 멀티모달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[엔터프라이즈 — RDB 통합·ACID 필수]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pgvector   기존 PG에 그대로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─▶ Apache AGE 그래프+벡터까지 (Part 4 31번)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🔑 본 강의 권장: 학습 = **Chroma**, 실무 = **pgvector** (인프라 통합)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    수십억 벡터 단계가 되면 그때 Milvus/Weaviate로 마이그레이션 검토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선택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16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Session 27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벡터 DB 6종 비교의 핵심만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Vector DB = ANN(근사 최근접 이웃)로 **고차원 벡터 유사도 검색**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6종 분류: Chroma(쉬움) · FAISS(빠름) · Pinecone(SaaS) · Weaviate/Milvus(대규모) · pgvector(PG통합)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"정답 DB 하나"는 없고 **인프라·규모·팀 역량에 따라 선택**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본 강의 권장 시작: **Chroma → pgvector** 마이그레이션 패스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🛠️ 노트북 실습 체크 (27_vector_db_comparison.ipynb)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338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같은 임베딩 1000개를 Chroma vs FAISS 모두 넣고 검색 시간 비교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FAISS의 IndexFlatL2 vs IndexHNSWFlat 인덱스 차이 측정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pgvector 로컬 설치 → 같은 임베딩 넣고 SQL로 검색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내 도메인 가정 (예: 사내 위키 / 고객 문서 / 제품 카탈로그) 으로 DB 선택 표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27 ·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17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1일차 오후 ② · Session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Noto Sans CJK KR"/>
              </a:rPr>
              <a:t>LangChain RAG 어플리케이션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CFDAE8"/>
                </a:solidFill>
                <a:latin typeface="Noto Sans CJK KR"/>
              </a:rPr>
              <a:t>RetrievalQA · 대화형 RAG · LCEL로 실제 앱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LangChain RAG 아키텍처 — 전체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5개 구성요소가 LCEL로 묶임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[Index]                                  [Query]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┌─────────────────┐                       ┌─────────────────┐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│ Document Loader │  문서 → Document 객체 │      User Query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└────────┬────────┘                       └────────┬────────┘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│               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▼               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┌─────────────────┐                       ┌─────────────────┐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│ Text Splitter   │  적절한 크기로 청킹    │  Embedding 모델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└────────┬────────┘                       └────────┬────────┘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│                                         │ 질문 벡터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▼               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┌─────────────────┐  Embedding   ┌────────────────────────┐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│ Embedding 모델  │ ───────────▶ │  VectorStore Retriever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└─────────────────┘              │     (Top-K 검색)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└────────────┬───────────┘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    │ Top-K 문서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┌────────────────────────┐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│   Prompt Template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│  (context + question)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└────────────┬───────────┘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┌────────────────────────┐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│       LLM (ChatModel)  │ ─▶ 답변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└────────────────────────┘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💡 LangChain은 각 박스를 표준 인터페이스로 추상화 → 부품 교체가 쉬움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18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Document Loaders &amp; Text Splitters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다양한 형식 → 통일된 Document → 적절한 청크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52669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📥 Document Loaders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langchain_community.document_loaders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import 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PyPDFLoader,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TextLoader,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WebBaseLoader,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CSVLoader,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docs = PyPDFLoader("manual.pdf").load()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web = WebBaseLoader("https://...").load()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csv = CSVLoader("data.csv").load()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모두 Document 객체로 통일됨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print(docs[0].page_content)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print(docs[0].metadata)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57784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490472"/>
            <a:ext cx="535838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✂️ Text Splitters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langchain.text_splitter import 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RecursiveCharacterTextSplitter,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MarkdownHeaderTextSplitter,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TokenTextSplitter,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splitter = RecursiveCharacterTextSplitter(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chunk_size=500,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chunk_overlap=50,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separators=["\n\n", "\n", ". ", " "],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chunks = splitter.split_documents(docs)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print(f"{len(chunks)} 청크 생성")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📊 주요 Splitter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57800"/>
            <a:ext cx="4535424" cy="25603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Splitter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2624" y="5257800"/>
            <a:ext cx="3710801" cy="25603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3425" y="5257800"/>
            <a:ext cx="3092334" cy="25603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추천 용도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13832"/>
            <a:ext cx="45354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CharacterTextSplitter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5513832"/>
            <a:ext cx="3710801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지정 separator 한 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3425" y="5513832"/>
            <a:ext cx="3092334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단순 텍스트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69864"/>
            <a:ext cx="4535424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RecursiveCharacterTextSplitter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5769864"/>
            <a:ext cx="3710801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단락→문장→단어 순차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3425" y="5769864"/>
            <a:ext cx="3092334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**범용 1순위**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25896"/>
            <a:ext cx="45354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MarkdownHeaderTextSplitter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624" y="6025896"/>
            <a:ext cx="3710801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## 헤더 단위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3425" y="6025896"/>
            <a:ext cx="3092334" cy="25603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위키, README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81928"/>
            <a:ext cx="4535424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TokenTextSplitter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2624" y="6281928"/>
            <a:ext cx="3710801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토큰 단위 (정확한 길이)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03425" y="6281928"/>
            <a:ext cx="3092334" cy="25603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LLM 컨텍스트 한계 엄격 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Loaders &amp; Splitters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19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Embeddings + VectorStore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한 줄로 Vector DB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38404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1) Embedding 모델 선택 (3가지 옵션)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langchain_huggingface import HuggingFaceEmbeddings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langchain_openai import OpenAIEmbeddings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embeddings = HuggingFaceEmbeddings(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model_name="jhgan/ko-sroberta-multitask"      # 무료, 로컬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또는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embeddings = OpenAIEmbeddings(model="text-embedding-3-small")  # 유료, API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2) VectorStore 생성 (Chroma 예시)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langchain_chroma import Chroma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vectorstore = Chroma.from_documents(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documents=chunks,            # 청크 리스트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embedding=embeddings,        # 임베딩 함수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persist_directory="./db",    # 디스크 저장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3) Retriever로 변환 — LangChain의 통일 인터페이스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retriever = vectorstore.as_retriever(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search_type="similarity",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search_kwargs={"k": 3},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docs = retriever.invoke("내 질문")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→ 가장 유사한 3개 Document 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🔄 VectorStore 교체: Chroma → FAISS → pgvector → Pinecone 한 줄로 가능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    (LangChain이 통일 인터페이스 제공)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Embeddings &amp; VectorStore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20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RetrievalQA 체인 — 기본 RAG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검색 → 프롬프트 → LLM을 한 줄로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415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langchain.chains import RetrievalQA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langchain_openai import ChatOpenAI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llm = ChatOpenAI(model="gpt-4o-mini", temperature=0)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가장 단순한 RAG 체인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qa = RetrievalQA.from_chain_type(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llm=llm,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chain_type="stuff",          # "stuff", "map_reduce", "refine"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retriever=retriever,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return_source_documents=True,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질의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result = qa.invoke({"query": "RAG 청킹 전략은?"})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print(result["result"])            # 답변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print(result["source_documents"])  # 근거 문서들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CJK KR"/>
              </a:rPr>
              <a:t>📌 chain_type — 검색된 문서를 LLM에 어떻게 넘기나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stuff: 다 한 번에 (기본·간단) · map_reduce: 각각 요약 후 합침 (긴 문서) · refine: 순차 정제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RetrievalQA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21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대화형 RAG (Conversational 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이전 대화 맥락을 반영한 검색·답변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langchain.chains import ConversationalRetrievalChain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from langchain.memory import ConversationBufferMemory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memory = ConversationBufferMemory(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memory_key="chat_history",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return_messages=True,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conv_qa = ConversationalRetrievalChain.from_llm(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llm=llm,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retriever=retriever,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memory=memory,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1턴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r1 = conv_qa.invoke({"question": "RAG란 무엇인가?"})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print(r1["answer"])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2턴 — "그것"이 RAG를 가리킴을 알아서 이해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r2 = conv_qa.invoke({"question": "그것의 단점은?"})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print(r2["answer"])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# 3턴 — 누적된 대화 맥락을 검색 질의에도 반영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r3 = conv_qa.invoke({"question": "어떻게 해결할 수 있어?"})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🔑 핵심: 매 질문마다 "이전 대화 + 새 질문" → LLM이 **standalone question** 생성 → 그 질문으로 검색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    → 대명사·생략된 주어를 해석해서 정확한 검색이 가능해짐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Conversational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22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LCEL로 RAG 재구현 — 가장 모던한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체인을 | 연산자로 — Composable &amp; Streamable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33856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1119104" cy="415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langchain_core.prompts import ChatPromptTemplate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langchain_core.output_parsers import StrOutputParser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langchain_core.runnables import RunnablePassthrough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prompt = ChatPromptTemplate.from_template("""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다음 문서를 참고하여 질문에 답하세요. 모르는 내용은 모른다고 답하세요.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문서: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{context}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질문: {question}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답변: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""")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def format_docs(docs):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return "\n\n".join(d.page_content for d in docs)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LCEL 체인 — | 로 묶임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rag_chain = 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{"context": retriever | format_docs, "question": RunnablePassthrough()}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| prompt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| llm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| StrOutputParser()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사용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answer = rag_chain.invoke("RAG에서 청킹이 왜 중요한가?")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스트리밍도 자유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for chunk in rag_chain.stream("..."):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print(chunk, end="", flush=True)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✅ LCEL 강점: 스트리밍·배치·async 자동 / 각 단계 교체 자유 / 디버깅 용이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LCEL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23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Session 28 정리 &amp; 1일차 마무리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LangChain으로 실제 RAG 앱이 손에 잡혔다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**Document Loaders** — 어떤 형식이든 통일된 Document로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**Text Splitters** — RecursiveCharacterTextSplitter 1순위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**VectorStore** — Chroma/FAISS/pgvector 자유 교체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**RetrievalQA** — 가장 단순한 RAG 체인 (1줄)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**ConversationalRetrievalChain** — 멀티턴 대화 RAG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**LCEL** — 가장 모던, 스트리밍/배치 무료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🛠️ 노트북 실습 체크 (28_rag_practice.ipynb)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본인 도메인 PDF 1개 → Chroma에 인덱싱 → RetrievalQA로 질의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같은 데이터를 LCEL 체인으로 다시 구현, 두 방식 결과 비교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대화형 RAG로 3턴 이상 대화 — 대명사가 잘 풀리는지 확인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프롬프트 템플릿 바꿔서 답변 톤·형식 제어 실험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Session 28 ·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24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555555"/>
                </a:solidFill>
                <a:latin typeface="Noto Sans CJK KR"/>
              </a:rPr>
              <a:t>수고하셨습니다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F3A5F"/>
                </a:solidFill>
                <a:latin typeface="Noto Sans CJK KR"/>
              </a:rPr>
              <a:t>1일차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오늘 만든 첫 RAG 시스템 — Chroma·FAISS·pgvector 위에 LCEL로 묶은 — 은 여러분의 것입니다.</a:t>
            </a:r>
          </a:p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그 답변이 얼마나 정확한지는 여러분이 청크와 인덱스를 얼마나 잘 설계했느냐에 달려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32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2일차 오전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32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Advanced RAG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기본 RAG의 한계 → HyDE · Reranking · Ensemble · Parent Doc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2일차 오후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Graph RAG (Neo4j)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관계가 있는 도메인에서 그래프가 왜 강한가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다음 일정에 만나요~. 단순 벡터 검색을 넘어, '관계를 보는 RAG'로 들어갑니다.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1일차 · 1일차 마무리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25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