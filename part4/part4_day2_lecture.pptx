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8288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C88A"/>
                </a:solidFill>
                <a:latin typeface="Noto Sans CJK KR"/>
              </a:rPr>
              <a:t>Part 4 · 2일차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600" b="1">
                <a:solidFill>
                  <a:srgbClr val="FFFFFF"/>
                </a:solidFill>
                <a:latin typeface="Noto Sans CJK KR"/>
              </a:rPr>
              <a:t>Advanced RAG &amp; Graph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CFDAE8"/>
                </a:solidFill>
                <a:latin typeface="Noto Sans CJK KR"/>
              </a:rPr>
              <a:t>벡터 RAG의 한계를 넘어, 관계를 보는 RAG로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Noto Sans CJK KR"/>
              </a:rPr>
              <a:t>📌 오전 (3h)  Session 29 — Advanced RAG (HyDE · Reranking · Ensemble · Parent Doc)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FFFFF"/>
                </a:solidFill>
                <a:latin typeface="Noto Sans CJK KR"/>
              </a:rPr>
              <a:t>📌 오후 (3h)  Session 30 — Graph RAG (Knowledge Graph + Neo4j + Cypher)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1371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C88A"/>
                </a:solidFill>
                <a:latin typeface="Noto Sans CJK KR"/>
              </a:rPr>
              <a:t>2일차 오전 · Session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Noto Sans CJK KR"/>
              </a:rPr>
              <a:t>Advanced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CFDAE8"/>
                </a:solidFill>
                <a:latin typeface="Noto Sans CJK KR"/>
              </a:rPr>
              <a:t>기본 RAG가 70점이라면 — Advanced RAG는 90점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왜 Advanced RAG인가? — 기본 RAG의 4가지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Session 26·28에서 만든 RAG로 풀리지 않는 실패 케이스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00230" cy="9144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957430" y="1371600"/>
            <a:ext cx="2501152" cy="9144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한계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8582" y="1371600"/>
            <a:ext cx="5002305" cy="9144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증상 (실패 예시)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60887" y="1371600"/>
            <a:ext cx="3334870" cy="9144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Advanced RAG 해법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50023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7430" y="2286000"/>
            <a:ext cx="2501152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의미 갭(Semantic Gap)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8582" y="2286000"/>
            <a:ext cx="5002305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‘심장 질환 치료법’ 질문 → ‘심혈관계 약물요법’ 문서 못 찾음 (어휘가 달라 임베딩이 멀음)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60887" y="2286000"/>
            <a:ext cx="333487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**HyDE** — 가짜 답변 만들어 임베딩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500230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7430" y="3200400"/>
            <a:ext cx="2501152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유사도 ≠ 관련성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58582" y="3200400"/>
            <a:ext cx="5002305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Top-5가 모두 비슷 (다양성 부족), 진짜 정답은 6위에 묻힘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60887" y="3200400"/>
            <a:ext cx="3334870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**Reranking** — Cross-encoder 재순위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0023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430" y="4114800"/>
            <a:ext cx="2501152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키워드/시맨틱 단독 한계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8582" y="4114800"/>
            <a:ext cx="5002305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고유명사·코드명(예: Qwen2.5-1.5B)은 키워드가 강하고 자연어는 시맨틱이 강함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60887" y="4114800"/>
            <a:ext cx="333487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**Ensemble (Hybrid)** — BM25 + Semantic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500230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7430" y="5029200"/>
            <a:ext cx="2501152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검색 단위 vs 컨텍스트 단위 충돌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8582" y="5029200"/>
            <a:ext cx="5002305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작은 청크는 검색은 잘 되지만 답변에 필요한 맥락 부족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60887" y="5029200"/>
            <a:ext cx="3334870" cy="9144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**Parent Document** — 작게 검색, 크게 반환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기본 RAG 한계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기법 ① HyDE — Hypothetical Document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‘가짜 답변’ 을 만들어서 검색 — 의미 갭을 LLM으로 메움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310896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2962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[기본 RAG]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질문 임베딩 ──────────▶ 벡터 검색  ◀── 문제: 질문과 답변의 어휘가 다름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'심장 질환 치료법'           ↓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엉뚱한 문서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[HyDE]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질문 ──── LLM ──▶ '가짜 답변' (Hypothetical Document)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'심장 질환 치료법'   '심혈관계 약물요법으로는 ACE inhibitor와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베타 차단제가 표준 치료이며...'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↓ 임베딩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──────────▶ 벡터 검색  ◀── 가짜 답변은 진짜 답변과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↓                 어휘·문체가 비슷함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정확한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1133856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**핵심 통찰**: 질문보다 ‘가설적 답변’이 진짜 답변과 임베딩이 가깝다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**원본 논문**: Gao et al., 2022 — Precise Zero-Shot Dense Retrieval without Relevance Labels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**효과**: 도메인 특화 어휘가 많은 분야(의학/법률)에서 검색 정확도 크게 향상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**비용**: LLM 호출 1회 추가 → 지연·비용 ↑, 빠른 응답 시스템엔 부적합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HyDE 개념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HyDE — LangChain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HypotheticalDocumentEmbedder + base 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langchain.chains import HypotheticalDocumentEmbedder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langchain_openai import ChatOpenAI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langchain_huggingface import HuggingFaceEmbeddings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1) 기본 임베딩 + LLM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base_embeddings = HuggingFaceEmbeddings(model_name="jhgan/ko-sroberta-multitask")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llm = ChatOpenAI(model="gpt-4o-mini", temperature=0)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2) HyDE 임베더 — base_embeddings를 감싸서 '질문→가짜답변→임베딩' 수행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hyde_embeddings = HypotheticalDocumentEmbedder.from_llm(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llm=llm,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base_embeddings=base_embeddings,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prompt_key="web_search",          # 또는 sci_fact, arguana, trec_covid 등 도메인별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3) HyDE 임베딩으로 검색 (기존 vectorstore 그대로)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query = "심장 질환의 표준 치료법은?"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hyde_vec = hyde_embeddings.embed_query(query)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results = vectorstore.similarity_search_by_vector(hyde_vec, k=5)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비교: 일반 임베딩 vs HyDE 임베딩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normal_vec = base_embeddings.embed_query(query)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normal_results = vectorstore.similarity_search_by_vector(normal_vec, k=5)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→ HyDE 결과가 더 정확한 의학 문서를 가져옴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💡 prompt_key 옵션: web_search · sci_fact · arguana · trec_covid 등 — 도메인 맞춤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HyDE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기법 ② Reranking — 2단계 검색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빠른 검색 + 정확한 재순위 = 정확도와 속도의 최적 트레이드오프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[기존 RAG — 1단계]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질문 ──Bi-encoder 임베딩──▶  벡터 DB ──▶ Top-K 결과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(정확도 보통)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[Advanced — 2단계: Retrieve → Rerank]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1단계 (빠르게 많이 가져오기)              2단계 (정확하게 재순위)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질문 ──Bi-encoder──▶ Top-100         (질문, 문서) 쌍을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──Cross-encoder──▶ 점수 → Top-10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(느림, 매우 정확)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📊 Bi-encoder vs Cross-encoder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09160"/>
            <a:ext cx="2267712" cy="34747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24912" y="4709160"/>
            <a:ext cx="4535424" cy="34747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Bi-encoder (임베딩)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60336" y="4709160"/>
            <a:ext cx="4535424" cy="34747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Cross-encoder (재순위)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56632"/>
            <a:ext cx="22677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입력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24912" y="5056632"/>
            <a:ext cx="4535424" cy="3474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문서 따로 임베딩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0336" y="5056632"/>
            <a:ext cx="4535424" cy="3474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(질문, 문서) 쌍 동시 입력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04104"/>
            <a:ext cx="22677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속도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5404104"/>
            <a:ext cx="4535424" cy="34747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매우 빠름 (수억 비교 가능)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0336" y="5404104"/>
            <a:ext cx="4535424" cy="34747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느림 (한 쌍씩 추론)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51576"/>
            <a:ext cx="2267712" cy="3474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정확도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24912" y="5751576"/>
            <a:ext cx="4535424" cy="3474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보통 — 의미 압축 손실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0336" y="5751576"/>
            <a:ext cx="4535424" cy="34747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높음 — 상호작용 모델링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099048"/>
            <a:ext cx="2267712" cy="34747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용도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24912" y="6099048"/>
            <a:ext cx="4535424" cy="34747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1단계 후보 검색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0336" y="6099048"/>
            <a:ext cx="4535424" cy="34747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2단계 재순위 (Top-100→10)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Reranking 개념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Reranker 모델 &amp;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오픈소스 BGE-Reranker / 상용 Cohere Rerank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49485" cy="420624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6685" y="1371600"/>
            <a:ext cx="2429691" cy="420624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6376" y="1371600"/>
            <a:ext cx="1619794" cy="420624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한국어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8556170" y="1371600"/>
            <a:ext cx="3239588" cy="420624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비고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92224"/>
            <a:ext cx="4049485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BAAI/bge-reranker-base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6685" y="1792224"/>
            <a:ext cx="2429691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오픈소스 (다국어)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6376" y="1792224"/>
            <a:ext cx="1619794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양호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56170" y="1792224"/>
            <a:ext cx="323958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**1순위 추천** — 무료, 빠름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4049485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BAAI/bge-reranker-large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6685" y="2212848"/>
            <a:ext cx="2429691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오픈소스 (다국어)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6376" y="2212848"/>
            <a:ext cx="1619794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좋음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56170" y="2212848"/>
            <a:ext cx="3239588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정확도↑, GPU 권장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33472"/>
            <a:ext cx="4049485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Cohere Rerank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6685" y="2633472"/>
            <a:ext cx="2429691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상용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6376" y="2633472"/>
            <a:ext cx="1619794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좋음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56170" y="2633472"/>
            <a:ext cx="3239588" cy="420624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API 한 줄, $1/1k 쿼리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54096"/>
            <a:ext cx="4049485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cross-encoder/ms-marco-*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6685" y="3054096"/>
            <a:ext cx="2429691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오픈소스 (영어)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6376" y="3054096"/>
            <a:ext cx="1619794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C0392B"/>
                </a:solidFill>
                <a:latin typeface="Noto Sans CJK KR"/>
              </a:rPr>
              <a:t>약함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56170" y="3054096"/>
            <a:ext cx="3239588" cy="420624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영어 전용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03320"/>
            <a:ext cx="11338560" cy="2743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776472"/>
            <a:ext cx="11119104" cy="2596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sentence_transformers import CrossEncoder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1) Reranker 로드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reranker = CrossEncoder("BAAI/bge-reranker-base")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2) 1단계: 벡터 검색으로 Top-100 가져오기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top100 = retriever.invoke(query)   # k=100 설정 필요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3) 2단계: (질문, 문서) 쌍 → Cross-encoder 점수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pairs = [(query, doc.page_content) for doc in top100]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scores = reranker.predict(pairs)   # numpy array of scores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4) 점수 기준 재정렬 → Top-10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ranked = sorted(zip(top100, scores), key=lambda x: -x[1])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top10 = [doc for doc, _ in ranked[:10]]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5) LLM에 Top-10만 컨텍스트로 전달 — 토큰 절약 + 정확도 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Reranker 구현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기법 ③ Ensemble Retriever — Hybrid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BM25(키워드) + Semantic(벡터) — 둘의 강점 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**키워드(BM25)** 강점: 고유명사·코드명·정확 매칭 (Qwen2.5-1.5B 같은 토큰)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**시맨틱(벡터)** 강점: 의미 매칭·동의어·자연어 질문 (심장병 ≈ 심혈관 요법)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**두 결과를 어떻게 합치나?** → **Reciprocal Rank Fusion (RRF)**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📐 RRF 공식 — 각 검색기 순위만으로 점수 합산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11880"/>
            <a:ext cx="1133856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685032"/>
            <a:ext cx="11119104" cy="1682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RRF_score(d) = Σ  1 / (k + rank_i(d))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            i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d         = 문서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rank_i(d) = 검색기 i 에서 d 의 순위 (1, 2, 3, ...)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k         = 상수 (보통 60) — 낮은 순위에 너무 큰 가중치 주지 않도록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예: BM25에서 1위, 시맨틱에서 3위인 문서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    score = 1/(60+1) + 1/(60+3) = 0.0164 + 0.0159 = 0.0323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33856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●  **RRF의 장점**: 점수 정규화 불필요, 가중치 튜닝 거의 없음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●  **한계**: 두 검색기 모두 좋은 후보를 가져와야 함 (둘 다 누락 시 RRF도 못 살림)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Ensemble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Ensemble Retriever — LangChain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BM25Retriever + VectorStoreRetriever 결합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langchain_community.retrievers import BM25Retriever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langchain.retrievers import EnsembleRetriever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langchain_chroma import Chroma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1) 벡터 검색기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vector_retriever = Chroma(...).as_retriever(search_kwargs={"k": 10})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2) BM25 검색기 — 청크 리스트만 있으면 됨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bm25_retriever = BM25Retriever.from_documents(chunks)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bm25_retriever.k = 10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3) Ensemble — 가중치 조절 가능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ensemble = EnsembleRetriever(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retrievers=[bm25_retriever, vector_retriever],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weights=[0.4, 0.6],   # BM25 40% : Semantic 60%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# → 자연어 질문 많으면 시맨틱 ↑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# → 고유명사 많으면 BM25 ↑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4) 검색 — RRF로 자동 결합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results = ensemble.invoke("Qwen2.5-1.5B를 LoRA로 학습하는 방법")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→ BM25는 'Qwen2.5-1.5B' 정확 매칭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→ Semantic은 'LoRA 학습' 의미 매칭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→ RRF로 둘 다 상위에 있는 문서가 최종 1위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521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💡 가중치는 평가셋으로 결정 — 도메인마다 최적값 다름 (보통 0.5:0.5 ~ 0.3:0.7)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Ensemble 구현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기법 ④ Parent Document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작은 청크로 검색의 정확성 + 큰 청크로 답변의 풍부함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25603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2414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[딜레마] 청크 크기는 작을수록 검색 정확, 클수록 답변 컨텍스트 풍부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[해법] 두 종류 청크를 함께 저장 — 검색은 작게, 반환은 크게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원본 문서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├── 큰 청크 (Parent, ~2000자)   ── ID로 저장 (검색 안 됨)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│     └── 작은 청크 (Child, ~400자) 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│     └── 작은 청크                 │── 작은 청크만 벡터 DB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│     └── 작은 청크                 │     인덱싱 (검색됨)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└── 큰 청크                        ─┘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[검색 흐름]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질문 → 작은 청크로 검색 (정확) → 해당 청크의 Parent ID 조회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→ 큰 Parent 청크 반환 (LLM이 풍부한 컨텍스트로 답변)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11338560" cy="237744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142232"/>
            <a:ext cx="11119104" cy="2231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langchain.retrievers import ParentDocumentRetriever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langchain.storage import InMemoryStore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parent_splitter = RecursiveCharacterTextSplitter(chunk_size=2000)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child_splitter  = RecursiveCharacterTextSplitter(chunk_size=400)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retriever = ParentDocumentRetriever(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vectorstore=Chroma(embedding_function=embeddings),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docstore=InMemoryStore(),         # 또는 Redis/디스크 스토어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child_splitter=child_splitter,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parent_splitter=parent_splitter,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retriever.add_documents(docs)   # 한 번에 parent/child 모두 처리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results = retriever.invoke("RAG 청킹 전략은?")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→ 작은 청크로 검색 → 그 청크의 부모(긴) 문서 반환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Parent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(보너스 1) Multi-Query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LLM이 질문을 N가지로 재작성 → 각각 검색 → 합침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[원본 질문]  RAG에서 청킹이 왜 중요한가?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│ LLM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[재작성된 N개 질문 — 다른 시각]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- 텍스트 분할 전략이 RAG 성능에 미치는 영향은?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- 청크 크기가 검색 품질을 어떻게 결정하나?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- 문서 분할 방법론과 LLM 답변 품질의 관계는?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▼ 각 질문으로 검색 → 결과 합집합 (중복 제거)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더 다양한 후보 문서 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→ 단일 질문이 놓친 표현·관점을 N가지 재작성으로 보완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754880"/>
            <a:ext cx="11338560" cy="15544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4828032"/>
            <a:ext cx="11119104" cy="1408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langchain.retrievers.multi_query import MultiQueryRetriever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retriever = MultiQueryRetriever.from_llm(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retriever=vectorstore.as_retriever(),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llm=ChatOpenAI(model="gpt-4o-mini"),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results = retriever.invoke("RAG에서 청킹이 왜 중요한가?")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→ 내부적으로 3~5개 질문 재작성 → 각각 검색 → 합침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Multi-Query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(보너스 2) Self-Query Retriever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자연어 → 시맨틱 검색 + 메타데이터 필터를 LLM이 동시 추출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**문제**: ‘2024년 이후 발표된 RAG 논문에서 청킹 전략은?’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555555"/>
                </a:solidFill>
                <a:latin typeface="Noto Sans CJK KR"/>
              </a:rPr>
              <a:t>   –  시맨틱: ‘RAG 청킹 전략’ / 필터: year &gt;= 2024</a:t>
            </a:r>
          </a:p>
          <a:p>
            <a:pPr>
              <a:lnSpc>
                <a:spcPct val="135000"/>
              </a:lnSpc>
            </a:pPr>
            <a:r>
              <a:rPr sz="1500">
                <a:solidFill>
                  <a:srgbClr val="222222"/>
                </a:solidFill>
                <a:latin typeface="Noto Sans CJK KR"/>
              </a:rPr>
              <a:t>●  → LLM이 질문을 보고 **시맨틱 부분 + 구조화된 필터** 를 분리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11338560" cy="30175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456432"/>
            <a:ext cx="11119104" cy="287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langchain.retrievers.self_query.base import SelfQueryRetriever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langchain.chains.query_constructor.base import AttributeInfo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metadata_field_info = [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AttributeInfo(name="year",   description="발표 연도", type="integer"),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AttributeInfo(name="venue",  description="학회/저널", type="string"),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AttributeInfo(name="author", description="저자", type="string"),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retriever = SelfQueryRetriever.from_llm(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llm=ChatOpenAI(model="gpt-4o-mini"),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vectorstore=vectorstore,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document_contents="논문 본문",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metadata_field_info=metadata_field_info,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results = retriever.invoke("2024년 이후 발표된 RAG 논문에서 청킹 전략은?")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→ LLM이 자동 변환: query='청킹 전략', filter={'year': {'$gte': 2024}}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Self-Query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(보너스 3) Query Decomposition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복합 질문을 작은 sub-question 으로 분해해서 각각 검색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3511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[복합 질문]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'LLaMA 3.1 405B의 학습 데이터 양과 GPT-4의 학습 비용을 비교해줘'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▼ LLM이 분해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[Sub-questions]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Q1: LLaMA 3.1 405B의 학습 데이터 양은?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Q2: GPT-4의 학습 비용은?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▼ 각각 RAG로 검색·답변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[Sub-answers]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A1: 15T tokens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A2: ~$100M (추정)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▼ LLM 통합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[최종 답변]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'LLaMA 3.1 405B는 15조 토큰으로 학습되었고, GPT-4는 약 1억 달러의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비용으로 학습된 것으로 알려져 있어 ...'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3385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555555"/>
                </a:solidFill>
                <a:latin typeface="Noto Sans CJK KR"/>
              </a:rPr>
              <a:t>📌 사용 시점: 하나의 검색으로 답할 수 없는 복합 질문 (비교, 합산, 다단계 추론)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555555"/>
                </a:solidFill>
                <a:latin typeface="Noto Sans CJK KR"/>
              </a:rPr>
              <a:t>🔧 도구: LangChain LLMChainFilter, LangGraph 워크플로우, 또는 직접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Query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Advanced RAG 기법 종합 비교 (실험 결과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MS MARCO 유사 평가셋 가정 — 도메인마다 다를 수 있음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627586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기법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2993346" y="1371600"/>
            <a:ext cx="1970689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추가 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4964035" y="1371600"/>
            <a:ext cx="1970689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정확도 향상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724" y="1371600"/>
            <a:ext cx="1576551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구현 난이도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11275" y="1371600"/>
            <a:ext cx="3284482" cy="40005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적합한 상황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71650"/>
            <a:ext cx="2627586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Baseline (벡터만)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93346" y="17716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4035" y="17716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기준 (70점)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34724" y="1771650"/>
            <a:ext cx="1576551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11275" y="1771650"/>
            <a:ext cx="328448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프로토타입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71700"/>
            <a:ext cx="2627586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+ HyDE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93346" y="2171700"/>
            <a:ext cx="1970689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LLM 1회/쿼리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4035" y="2171700"/>
            <a:ext cx="1970689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+5~10점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724" y="2171700"/>
            <a:ext cx="1576551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낮음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1275" y="2171700"/>
            <a:ext cx="3284482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도메인 어휘 갭 큰 분야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71750"/>
            <a:ext cx="2627586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+ Reranking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93346" y="25717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GPU 추론/쿼리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64035" y="25717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+10~15점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4724" y="2571750"/>
            <a:ext cx="1576551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1275" y="2571750"/>
            <a:ext cx="328448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**가성비 최고** — 거의 항상 적용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71800"/>
            <a:ext cx="2627586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+ Ensemble (BM25+벡터)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93346" y="2971800"/>
            <a:ext cx="1970689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약간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4035" y="2971800"/>
            <a:ext cx="1970689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+5~10점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4724" y="2971800"/>
            <a:ext cx="1576551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낮음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11275" y="2971800"/>
            <a:ext cx="3284482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고유명사·코드명 많은 도메인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71850"/>
            <a:ext cx="2627586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+ Parent Document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93346" y="33718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저장 2배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64035" y="33718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+3~7점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34724" y="3371850"/>
            <a:ext cx="1576551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1275" y="3371850"/>
            <a:ext cx="328448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긴 답변·컨텍스트 풍부 필요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71900"/>
            <a:ext cx="2627586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+ Multi-Query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93346" y="3771900"/>
            <a:ext cx="1970689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LLM 1회/쿼리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4035" y="3771900"/>
            <a:ext cx="1970689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+3~5점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34724" y="3771900"/>
            <a:ext cx="1576551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낮음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11275" y="3771900"/>
            <a:ext cx="3284482" cy="40005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검색 다양성 부족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171950"/>
            <a:ext cx="2627586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+ Self-Query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93346" y="41719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LLM 1회/쿼리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64035" y="4171950"/>
            <a:ext cx="1970689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+5~10점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34724" y="4171950"/>
            <a:ext cx="1576551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11275" y="4171950"/>
            <a:ext cx="3284482" cy="40005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구조화 메타데이터 풍부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70916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64A19"/>
                </a:solidFill>
                <a:latin typeface="Noto Sans CJK KR"/>
              </a:rPr>
              <a:t>🎯 실무 권장 조합 (가성비 순)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20640"/>
            <a:ext cx="1133856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**1순위**: Baseline + **Reranking** (가장 ROI 큼)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**2순위**: + **Ensemble (BM25+Semantic)** — 도메인 어휘 다양 시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**3순위**: + **HyDE** 또는 **Multi-Query** — 시맨틱 갭이 큰 경우만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종합 비교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Session 29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기본 70점 RAG → Advanced 90점 RAG로 가는 5가지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**기본 RAG의 4가지 한계** — 의미 갭 / 다양성 / 키워드-시맨틱 / 청크-컨텍스트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**HyDE** — 가짜 답변 생성으로 의미 갭 해결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**Reranking** (가성비 1위) — Bi-encoder 검색 → Cross-encoder 재순위 2단계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**Ensemble (Hybrid)** — BM25 + Semantic을 RRF로 결합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**Parent Document** — 작은 청크로 정확 검색 + 큰 청크로 풍부한 컨텍스트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**보너스**: Multi-Query · Self-Query · Query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🛠️ 노트북 실습 체크 (29_advanced_rag_base.ipynb)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133856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Baseline RAG 측정 → Reranking 추가 → 정확도 변화 정량 비교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BM25 + Semantic Ensemble — 가중치 0.3/0.5/0.7 으로 변화 관찰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Parent Document 적용 — 같은 질문에 답변 풍부함 비교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본인 도메인에서 어떤 기법이 가장 효과적인지 평가셋으로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29 ·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13716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C88A"/>
                </a:solidFill>
                <a:latin typeface="Noto Sans CJK KR"/>
              </a:rPr>
              <a:t>2일차 오후 · Session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338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>
                <a:solidFill>
                  <a:srgbClr val="FFFFFF"/>
                </a:solidFill>
                <a:latin typeface="Noto Sans CJK KR"/>
              </a:rPr>
              <a:t>Graph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CFDAE8"/>
                </a:solidFill>
                <a:latin typeface="Noto Sans CJK KR"/>
              </a:rPr>
              <a:t>Neo4j 기반 지식 그래프 — 관계를 보는 RAG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벡터 RAG가 못 푸는 질문들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다중 홉 추론과 관계 추적이 필요한 경우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C0392B"/>
                </a:solidFill>
                <a:latin typeface="Noto Sans CJK KR"/>
              </a:rPr>
              <a:t>🚫 벡터 검색만으로는 답이 안 나오는 질문 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3385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❓ ‘메타가 인수한 회사들의 현재 CEO는 누구야?’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→ 인수 관계 + CEO 관계 2단계 traversal 필요. 벡터는 ‘인수한 회사들’을 못 모음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❓ ‘이 약을 복용 중인 환자가 다른 어떤 약을 같이 먹으면 위험해?’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→ 약물 상호작용 관계 그래프 탐색 필요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❓ ‘우리 회사 임원 중 경쟁사와 거래한 사람이 있나?’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→ 인물·회사·거래 관계망 패턴 매칭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8B4E"/>
                </a:solidFill>
                <a:latin typeface="Noto Sans CJK KR"/>
              </a:rPr>
              <a:t>✅ Graph RAG가 해결하는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33856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**다중 홉 추론** — A → B → C 같은 관계 체인 따라가기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**관계 패턴 매칭** — ‘X가 Y를 통해 Z와 연결’ 같은 구조 검색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**전체 컨텍스트 보기** — 한 엔티티의 모든 연관 정보 한꺼번에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**구조화 + 비구조화 결합** — KG의 사실 + 텍스트 청크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벡터 RAG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Knowledge Graph (지식 그래프) 기본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Node · Edge · Triple — 세상의 사실을 그래프로 표현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[기본 단위 — Triple (S-P-O)]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Subject  ─── Predicate ──▶  Object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(메타)        (인수)          (인스타그램)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[연결되면 그래프]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근무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┌────────────────────┐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▼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┌──────────┐            ┌──┴──────────┐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│  CEO     │◀─CEO 관계  │   메타       │──인수──▶ ┌──────────┐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│ 마크 저커 │            │ (Meta Inc.)  │           │ 인스타그램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└────┬─────┘            └──────┬──────┘           └──────────┘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│                         │ 인수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│ 설립             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│                  ┌──────────┐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└─────────────────▶│  왓츠앱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└──────────┘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113385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222222"/>
                </a:solidFill>
                <a:latin typeface="Noto Sans CJK KR"/>
              </a:rPr>
              <a:t>●  **Node (노드/엔티티)**: 사람, 회사, 장소, 개념 등 (메타, 인스타그램, 마크 저커버그)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222222"/>
                </a:solidFill>
                <a:latin typeface="Noto Sans CJK KR"/>
              </a:rPr>
              <a:t>●  **Edge (엣지/관계)**: 두 노드 간의 의미적 연결 (인수, CEO, 근무)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222222"/>
                </a:solidFill>
                <a:latin typeface="Noto Sans CJK KR"/>
              </a:rPr>
              <a:t>●  **Triple**: (Subject, Predicate, Object) — 그래프의 최소 단위 (메타-인수-인스타)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222222"/>
                </a:solidFill>
                <a:latin typeface="Noto Sans CJK KR"/>
              </a:rPr>
              <a:t>●  **속성(Properties)**: 노드·엣지에 추가 정보 (인수.연도=2012, 인스타.사용자수=2B)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KG 개념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두 가지 그래프 모델 — RDF vs Property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표준 vs 실용 — Neo4j는 Property Graph 진영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16590" cy="4572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073790" y="1371600"/>
            <a:ext cx="4360984" cy="4572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RDF (Semantic Web)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34774" y="1371600"/>
            <a:ext cx="4360984" cy="4572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Property Graph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61659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3790" y="18288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W3C 표준 (RDF/OWL/SPARQL)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34774" y="18288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사실상 표준 (Neo4j Cypher)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61659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기본 단위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3790" y="2286000"/>
            <a:ext cx="4360984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Triple만 (S-P-O)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34774" y="2286000"/>
            <a:ext cx="4360984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Node + Edge, 각각 속성 보유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261659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속성 표현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73790" y="27432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별도 Triple 추가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34774" y="27432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Node/Edge에 직접 key=value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261659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쿼리 언어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73790" y="3200400"/>
            <a:ext cx="4360984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SPARQL (선언적, 강력)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4774" y="3200400"/>
            <a:ext cx="4360984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Cypher (자연어 친화, 시각적)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261659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대표 DB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73790" y="36576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Apache Jena, Stardog, Virtuoso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34774" y="36576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Neo4j, ArangoDB, Apache 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114800"/>
            <a:ext cx="2616590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추론기 (Reasoner)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73790" y="4114800"/>
            <a:ext cx="4360984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강력 (RDFS/OWL DL)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34774" y="4114800"/>
            <a:ext cx="4360984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약함 (외부 도구)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261659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사용처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73790" y="45720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학계·의료·온톨로지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34774" y="4572000"/>
            <a:ext cx="4360984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산업·소셜·추천·사기탐지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11338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64A19"/>
                </a:solidFill>
                <a:latin typeface="Noto Sans CJK KR"/>
              </a:rPr>
              <a:t>💡 본 세션 선택: **Property Graph + Neo4j + Cypher**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64A19"/>
                </a:solidFill>
                <a:latin typeface="Noto Sans CJK KR"/>
              </a:rPr>
              <a:t>    이유: 산업 표준, LLM과 자연어 친화적, LangChain 통합 성숙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64A19"/>
                </a:solidFill>
                <a:latin typeface="Noto Sans CJK KR"/>
              </a:rPr>
              <a:t>    (RDF·OWL은 Session 31 Ontology RAG에서 추가 다룸)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RDF vs Property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Graph RAG 파이프라인 —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구축 → 질의 → 답변 3단계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[Phase 1: KG 구축 — 미리 한 번]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텍스트 문서 ──LLM (Entity/Relation 추출)──▶ Triples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 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                Neo4j (그래프 DB 적재)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[Phase 2: 질의 — 매번]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자연어 질문                Neo4j 그래프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'메타가 인수한 회사의 CEO는?'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│    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▼ LLM (NL→Cypher)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Cypher 쿼리  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MATCH (m:Company {name:'메타'})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-[:ACQUIRED]-&gt;(c:Company)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&lt;-[:CEO_OF]-(p:Person)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RETURN p.name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│    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└────── 실행 ────────────────┘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▼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결과 (행 리스트)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│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       ▼ LLM (NL 답변 생성)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'메타는 인스타그램(아담 모세리),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           왓츠앱(윌 캐스카트), Oculus를 인수했습니다.'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파이프라인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Phase 1 ① Entity &amp; Relation 추출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텍스트에서 KG 구축 — 전통 NER+RE vs LLM 직접 추출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99555" cy="5715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3956755" y="1371600"/>
            <a:ext cx="2519680" cy="5715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엔티티 추출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76435" y="1371600"/>
            <a:ext cx="2519680" cy="5715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관계 추출</a:t>
            </a:r>
          </a:p>
        </p:txBody>
      </p:sp>
      <p:sp>
        <p:nvSpPr>
          <p:cNvPr id="9" name="Rectangle 8"/>
          <p:cNvSpPr/>
          <p:nvPr/>
        </p:nvSpPr>
        <p:spPr>
          <a:xfrm>
            <a:off x="8996115" y="1371600"/>
            <a:ext cx="1399822" cy="5715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정확도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95937" y="1371600"/>
            <a:ext cx="1399822" cy="5715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비용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43100"/>
            <a:ext cx="3499555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전통 (spaCy + Classifier)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6755" y="1943100"/>
            <a:ext cx="2519680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spaCy 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6435" y="1943100"/>
            <a:ext cx="2519680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별도 분류 모델 학습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96115" y="1943100"/>
            <a:ext cx="1399822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보통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95937" y="1943100"/>
            <a:ext cx="1399822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저렴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3499555" cy="5715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LLM 직접 (gpt-4o-mini)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6755" y="2514600"/>
            <a:ext cx="2519680" cy="5715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LLM이 동시에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6435" y="2514600"/>
            <a:ext cx="2519680" cy="5715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LLM이 동시에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6115" y="2514600"/>
            <a:ext cx="1399822" cy="5715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좋음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95937" y="2514600"/>
            <a:ext cx="1399822" cy="5715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API 비용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86100"/>
            <a:ext cx="3499555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222222"/>
                </a:solidFill>
                <a:latin typeface="Noto Sans CJK KR"/>
              </a:rPr>
              <a:t>LangChain LLMGraphTransformer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56755" y="3086100"/>
            <a:ext cx="2519680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LLM 자동 + 표준화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6435" y="3086100"/>
            <a:ext cx="2519680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스키마 강제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6115" y="3086100"/>
            <a:ext cx="1399822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1E8B4E"/>
                </a:solidFill>
                <a:latin typeface="Noto Sans CJK KR"/>
              </a:rPr>
              <a:t>좋음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395937" y="3086100"/>
            <a:ext cx="1399822" cy="5715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E6A819"/>
                </a:solidFill>
                <a:latin typeface="Noto Sans CJK KR"/>
              </a:rPr>
              <a:t>API 비용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40480"/>
            <a:ext cx="11338560" cy="25603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913632"/>
            <a:ext cx="11119104" cy="2414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모던 방식 — LangChain LLMGraphTransformer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langchain_experimental.graph_transformers import LLMGraphTransformer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langchain_openai import ChatOpenAI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langchain_core.documents import Document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llm = ChatOpenAI(model="gpt-4o-mini")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transformer = LLMGraphTransformer(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llm=llm,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allowed_nodes=["Company", "Person", "Product"],   # 스키마 제약 (선택)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allowed_relationships=["ACQUIRED", "CEO_OF", "FOUNDED"],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docs = [Document(page_content="메타는 2012년 인스타그램을 10억 달러에 인수했다. 마크 저커버그가 CEO이다.")]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graph_docs = transformer.convert_to_graph_documents(docs)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graph_docs[0].nodes = [Node(id='메타', type='Company'), ...]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graph_docs[0].relationships = [Rel(source='메타', target='인스타그램', type='ACQUIRED'), ...]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Entity/Relation 추출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Neo4j — 가장 널리 쓰이는 Graph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2007년 시작, Property Graph 사실상의 표준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**Property Graph 모델 + Cypher 쿼리**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Node/Edge에 라벨 + 임의 속성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**ACID 트랜잭션** 지원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**Neo4j Browser** — 그래프 시각화 UI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**APOC** — 유틸리티 라이브러리 (대량 작업, 알고리즘)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**GDS** — Graph Data Science (커뮤니티·중심성 알고리즘)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Community Edition (GPL) 무료 / Enterprise 유료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Docker · Aura(클라우드) · Desktop 등 다양한 설치 옵션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577840" cy="3200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444752"/>
            <a:ext cx="5358384" cy="3054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Neo4j Docker로 한 줄 실행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docker run -d --name neo4j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-p 7474:7474 -p 7687:7687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-e NEO4J_AUTH=neo4j/password \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neo4j:5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UI: http://localhost:7474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Bolt: bolt://localhost:7687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Python 클라이언트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pip install neo4j langchain-neo4j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langchain_neo4j import Neo4jGraph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graph = Neo4jGraph(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url="bolt://localhost:7687",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username="neo4j",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password="password",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338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E64A19"/>
                </a:solidFill>
                <a:latin typeface="Noto Sans CJK KR"/>
              </a:rPr>
              <a:t>🌐 무료 클라우드 옵션: **Neo4j Aura Free** — DB 1개, 50K 노드, 175K 관계까지 무료</a:t>
            </a:r>
          </a:p>
          <a:p>
            <a:pPr algn="l">
              <a:lnSpc>
                <a:spcPct val="140000"/>
              </a:lnSpc>
            </a:pPr>
            <a:r>
              <a:rPr sz="1400" b="1">
                <a:solidFill>
                  <a:srgbClr val="E64A19"/>
                </a:solidFill>
                <a:latin typeface="Noto Sans CJK KR"/>
              </a:rPr>
              <a:t>    (실습용으로 충분, 가입만 하면 즉시 사용)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Neo4j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Cypher — Property Graph의 표준 쿼리 언어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MATCH 패턴 + RETURN — 시각적·직관적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// [기본 문법]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//   ()  = 노드, []  = 관계, -&gt;  = 방향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//   :Label = 노드 타입, :REL_TYPE = 관계 타입, {prop: 값} = 속성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// 패턴: (출발노드)-[관계]-&gt;(도착노드)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MATCH  (m:Company {name:'메타'})-[:ACQUIRED]-&gt;(c:Company)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RETURN c.name, c.acquired_year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222222"/>
                </a:solidFill>
                <a:latin typeface="DejaVu Sans Mono"/>
              </a:rPr>
              <a:t>ORDER BY c.acquired_year DESC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🔄 SQL JOIN vs Cypher MATCH — 같은 작업, 다른 표현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51960"/>
            <a:ext cx="548640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325112"/>
            <a:ext cx="5266944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-- SQL (3중 JOIN)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SELECT p.name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FROM   companies c1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JOIN   acquisitions a ON c1.id=a.acquirer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JOIN   companies c2  ON a.acquired=c2.id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JOIN   leadership l  ON l.company=c2.id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JOIN   people p      ON l.person=p.id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WHERE  c1.name='메타'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  AND  l.role='CEO';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51960"/>
            <a:ext cx="5577840" cy="201168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4325112"/>
            <a:ext cx="5358384" cy="18653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// Cypher (한 패턴)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MATCH (m:Company {name:'메타'})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      -[:ACQUIRED]-&gt;(c:Company)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      &lt;-[:CEO_OF]-(p:Person)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RETURN p.name</a:t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000">
                <a:solidFill>
                  <a:srgbClr val="222222"/>
                </a:solidFill>
                <a:latin typeface="DejaVu Sans Mono"/>
              </a:rPr>
              <a:t>// → 다중 홉이 시각적으로 보임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Cypher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Cypher — 자주 쓰는 패턴 5가지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단순 검색 · 다중 홉 · 집계 · 경로 · 조건 필터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4882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// 1) 단순 검색 — '메타와 직접 관계가 있는 모든 노드'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MATCH (m:Company {name:'메타'})-[r]-(n)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RETURN type(r) AS 관계, n.name AS 대상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// 2) 다중 홉 traversal — '메타가 인수한 회사의 CEO'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MATCH (m:Company {name:'메타'})-[:ACQUIRED]-&gt;(c:Company)&lt;-[:CEO_OF]-(p:Person)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RETURN c.name AS 회사, p.name AS CEO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// 3) 집계 — '각 회사가 인수한 자회사 수'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MATCH (parent:Company)-[:ACQUIRED]-&gt;(child:Company)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RETURN parent.name, count(child) AS 인수횟수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ORDER BY 인수횟수 DESC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// 4) 가변 길이 경로 — '메타에서 N홉 이내 모든 연결'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MATCH path = (m:Company {name:'메타'})-[*1..3]-(n)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RETURN nodes(path), length(path)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// 5) 조건 필터 + 정렬 — '2010년 이후 10억 달러 이상 인수 거래'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MATCH (a:Company)-[r:ACQUIRED]-&gt;(b:Company)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WHERE r.year &gt;= 2010 AND r.amount_usd &gt;= 1000000000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RETURN a.name, b.name, r.year, r.amount_usd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ORDER BY r.amount_usd DESC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Cypher 패턴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LangChain GraphCypherQAChain — 자연어 → Cypher → 답변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LLM이 자동으로 자연어를 Cypher로 변환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4425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langchain_neo4j import Neo4jGraph, GraphCypherQAChain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from langchain_openai import ChatOpenAI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1) Neo4j 연결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graph = Neo4jGraph(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url="bolt://localhost:7687",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username="neo4j",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password="password",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2) 스키마 자동 inspect — LLM이 그래프 구조를 알아야 정확한 Cypher 생성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print(graph.schema)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출력: Node properties / Relationships / 등 자동 추출됨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3) Chain 생성 — LLM이 NL→Cypher→실행→NL 답변까지 자동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chain = GraphCypherQAChain.from_llm(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llm=ChatOpenAI(model="gpt-4o", temperature=0),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graph=graph,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verbose=True,                   # Cypher 생성 과정 출력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allow_dangerous_requests=True,  # READ-only 보장 안 됨 (운영 시 주의)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4) 자연어 질의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 = chain.invoke({"query": "메타가 인수한 회사들의 CEO는 누구야?"})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print(result["result"])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verbose=True 면: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  Generated Cypher:  MATCH (m:Company {name:'메타'})-[:ACQUIRED]-&gt;(c)&lt;-[:CEO_OF]-(p) RETURN p.name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  Full Context:      [{'p.name': '아담 모세리'}, ...]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  Final Answer:      '메타는 인스타그램(아담 모세리), 왓츠앱(윌 캐스카트), ...'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LangChain Graph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LLM이 자연어를 어떻게 Cypher로 바꾸나?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스키마 + Few-shot + 프롬프트 엔지니어링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4242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[LLM에게 주어지는 프롬프트 — 단순화]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You are a Neo4j expert. Given the schema and question, generate a Cypher query.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Schema: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Node Company { name: STRING, founded: INTEGER, hq: STRING }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Node Person  { name: STRING, birth_year: INTEGER }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Relationship: (Company)-[:ACQUIRED { year: INT, amount_usd: INT }]-&gt;(Company)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Relationship: (Person)-[:CEO_OF]-&gt;(Company)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Relationship: (Person)-[:FOUNDED]-&gt;(Company)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Question: 메타가 인수한 회사들의 CEO는 누구야?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Generate ONLY the Cypher query, no explanation: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[LLM 출력]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MATCH (m:Company {name:'메타'})-[:ACQUIRED]-&gt;(c:Company)&lt;-[:CEO_OF]-(p:Person)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RETURN c.name AS company, p.name AS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97880"/>
            <a:ext cx="1133856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●  **핵심**: graph.schema를 자동 inspect → LLM 프롬프트에 주입 → 정확한 Cypher 생성률 ↑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●  **한계**: 복잡한 다중 홉·집계 쿼리는 LLM이 가끔 틀림 → Few-shot 예제로 보강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NL→Cypher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Microsoft GraphRAG — 2024년 가장 주목받은 진화형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LLM이 KG를 자동 구축 + 커뮤니티 감지로 글로벌 요약까지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**기존 Graph RAG 한계**: KG가 미리 구축돼 있어야 함, 글로벌 요약(‘전체 트렌드는?’) 약함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**MS GraphRAG의 해결**: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텍스트 → LLM으로 **KG 자동 구축** (entity/relation 자동 추출)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Louvain 알고리즘으로 **커뮤니티 감지** (서로 강하게 연결된 노드 그룹)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555555"/>
                </a:solidFill>
                <a:latin typeface="Noto Sans CJK KR"/>
              </a:rPr>
              <a:t>   –  각 커뮤니티마다 LLM이 **요약 생성** → 계층적 요약 트리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14800"/>
            <a:ext cx="113385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187952"/>
            <a:ext cx="11119104" cy="2139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[Local Query]  특정 엔티티 중심 질문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'메타가 인수한 회사는?' → 메타 노드 → 인접 노드 탐색 → 답변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[Global Query]  전체 트렌드/요약 질문 (벡터 RAG가 가장 약한 부분)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'이 문서들의 핵심 주제 5가지는?'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→ 모든 커뮤니티 요약 모음 → LLM에 통합 → 글로벌 답변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[성능] MS 발표: 기존 RAG 대비 정확성/포괄성 모두 우수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[비용] LLM 호출 매우 많음 (인덱싱 단계) — 작은 도메인부터 시작 권장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64A19"/>
                </a:solidFill>
                <a:latin typeface="Noto Sans CJK KR"/>
              </a:rPr>
              <a:t>🔗 github.com/microsoft/graphrag — Apache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MS GraphRAG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그래프 시각화 — networkx +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검색 결과를 그래프로 그려서 직관 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338560" cy="41148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44752"/>
            <a:ext cx="11119104" cy="3968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import networkx as nx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import matplotlib.pyplot as plt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1) Neo4j 쿼리 결과를 networkx 그래프로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G = nx.DiGraph()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result = graph.query('''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MATCH (m:Company {name:'메타'})-[r:ACQUIRED]-&gt;(c:Company)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RETURN m.name AS src, c.name AS dst, r.year AS year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''')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for row in result: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G.add_edge(row["src"], row["dst"], year=row["year"])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2) 시각화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pos = nx.spring_layout(G, k=2)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nx.draw(G, pos,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with_labels=True,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node_color="lightblue", node_size=2000,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font_family="DejaVu Sans",          # 한글 환경 대응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        arrows=True, arrowsize=20)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# 엣지 라벨 (인수 연도)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edge_labels = {(u, v): d["year"] for u, v, d in G.edges(data=True)}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nx.draw_networkx_edge_labels(G, pos, edge_labels=edge_labels)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/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plt.title("Meta Acquisitions Network")</a:t>
            </a:r>
          </a:p>
          <a:p>
            <a:pPr>
              <a:lnSpc>
                <a:spcPct val="110000"/>
              </a:lnSpc>
            </a:pPr>
            <a:r>
              <a:rPr sz="1100">
                <a:solidFill>
                  <a:srgbClr val="222222"/>
                </a:solidFill>
                <a:latin typeface="DejaVu Sans Mono"/>
              </a:rPr>
              <a:t>plt.savefig("meta_graph.png", dpi=150)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55555"/>
                </a:solidFill>
                <a:latin typeface="Noto Sans CJK KR"/>
              </a:rPr>
              <a:t>💡 시각화는 **디버깅과 검증** 에 매우 유용 — 의도한 그래프가 잘 만들어졌는지 즉시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시각화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Graph RAG 실무 활용 사례 — 도메인별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관계가 핵심인 산업에서 폭발적 효과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39715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도메인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6915" y="1371600"/>
            <a:ext cx="3499555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활용 사례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6470" y="1371600"/>
            <a:ext cx="3079608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주요 노드 / 관계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9276078" y="1371600"/>
            <a:ext cx="2519680" cy="653142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KR"/>
              </a:rPr>
              <a:t>기업·사례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4742"/>
            <a:ext cx="2239715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6A3D9A"/>
                </a:solidFill>
                <a:latin typeface="Noto Sans CJK KR"/>
              </a:rPr>
              <a:t>추천 시스템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6915" y="2024742"/>
            <a:ext cx="3499555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친구의 친구가 좋아한 콘텐츠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70" y="2024742"/>
            <a:ext cx="3079608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User · Item · LIKED · FRIEND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76078" y="2024742"/>
            <a:ext cx="251968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LinkedIn, Pinterest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77884"/>
            <a:ext cx="2239715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6A3D9A"/>
                </a:solidFill>
                <a:latin typeface="Noto Sans CJK KR"/>
              </a:rPr>
              <a:t>사기 탐지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6915" y="2677884"/>
            <a:ext cx="3499555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이상한 자금 흐름 패턴 발견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6470" y="2677884"/>
            <a:ext cx="3079608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Account · Transaction · TRANSFERRED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76078" y="2677884"/>
            <a:ext cx="251968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PayPal, 토스, 은행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31026"/>
            <a:ext cx="2239715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6A3D9A"/>
                </a:solidFill>
                <a:latin typeface="Noto Sans CJK KR"/>
              </a:rPr>
              <a:t>의약품 상호작용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6915" y="3331026"/>
            <a:ext cx="3499555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여러 약을 동시 복용 시 위험 판단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6470" y="3331026"/>
            <a:ext cx="3079608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Drug · Disease · INTERACTS_WITH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76078" y="3331026"/>
            <a:ext cx="251968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병원 EMR, 보험사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84168"/>
            <a:ext cx="2239715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6A3D9A"/>
                </a:solidFill>
                <a:latin typeface="Noto Sans CJK KR"/>
              </a:rPr>
              <a:t>법률·컴플라이언스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6915" y="3984168"/>
            <a:ext cx="3499555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임원-회사 거래 이해상충 자동 탐지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6470" y="3984168"/>
            <a:ext cx="3079608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Person · Company · DEALT_WITH · OWNS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6078" y="3984168"/>
            <a:ext cx="251968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Big4 회계법인, 컴플라이언스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37310"/>
            <a:ext cx="2239715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6A3D9A"/>
                </a:solidFill>
                <a:latin typeface="Noto Sans CJK KR"/>
              </a:rPr>
              <a:t>소셜 네트워크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6915" y="4637310"/>
            <a:ext cx="3499555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영향력 있는 인플루언서 식별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6470" y="4637310"/>
            <a:ext cx="3079608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User · POST · MENTIONED · FOLLOWS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76078" y="4637310"/>
            <a:ext cx="2519680" cy="653142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Twitter/X 분석 플랫폼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90452"/>
            <a:ext cx="2239715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100" b="1">
                <a:solidFill>
                  <a:srgbClr val="6A3D9A"/>
                </a:solidFill>
                <a:latin typeface="Noto Sans CJK KR"/>
              </a:rPr>
              <a:t>지식 기반 챗봇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6915" y="5290452"/>
            <a:ext cx="3499555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사내 위키 + 직원·부서·프로젝트 관계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6470" y="5290452"/>
            <a:ext cx="3079608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Doc · Person · Project · OWNS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76078" y="5290452"/>
            <a:ext cx="2519680" cy="653142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100" b="0">
                <a:solidFill>
                  <a:srgbClr val="222222"/>
                </a:solidFill>
                <a:latin typeface="Noto Sans CJK KR"/>
              </a:rPr>
              <a:t>Notion AI, Glean, 사내 GPT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활용 사례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Vector RAG vs Graph RAG — 언제 무엇을 쓰나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도메인에 따라 명확한 정답이 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4049485" cy="4572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상황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6685" y="1371600"/>
            <a:ext cx="2429691" cy="4572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벡터 RAG</a:t>
            </a:r>
          </a:p>
        </p:txBody>
      </p:sp>
      <p:sp>
        <p:nvSpPr>
          <p:cNvPr id="8" name="Rectangle 7"/>
          <p:cNvSpPr/>
          <p:nvPr/>
        </p:nvSpPr>
        <p:spPr>
          <a:xfrm>
            <a:off x="6936376" y="1371600"/>
            <a:ext cx="2429691" cy="4572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Graph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9366067" y="1371600"/>
            <a:ext cx="2429691" cy="457200"/>
          </a:xfrm>
          <a:prstGeom prst="rect">
            <a:avLst/>
          </a:prstGeom>
          <a:solidFill>
            <a:srgbClr val="1F3A5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"/>
              </a:rPr>
              <a:t>추천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4049485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FAQ, 매뉴얼 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06685" y="18288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6376" y="18288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오버스펙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66067" y="18288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**벡터 RAG**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4049485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긴 자연어 질문 → 의미 매칭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6685" y="22860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적합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36376" y="22860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약함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66067" y="22860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**벡터 RAG**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4049485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다중 홉 추론 (A→B→C)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06685" y="27432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C0392B"/>
                </a:solidFill>
                <a:latin typeface="Noto Sans CJK KR"/>
              </a:rPr>
              <a:t>어려움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36376" y="27432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최적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6067" y="27432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**Graph RAG**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00400"/>
            <a:ext cx="4049485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관계 패턴 매칭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6685" y="32004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C0392B"/>
                </a:solidFill>
                <a:latin typeface="Noto Sans CJK KR"/>
              </a:rPr>
              <a:t>불가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6376" y="32004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최적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66067" y="32004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**Graph RAG**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657600"/>
            <a:ext cx="4049485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전체 문서 트렌드/요약 (글로벌)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6685" y="36576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E6A819"/>
                </a:solidFill>
                <a:latin typeface="Noto Sans CJK KR"/>
              </a:rPr>
              <a:t>제한적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36376" y="36576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MS GraphRAG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66067" y="36576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**Graph RAG**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114800"/>
            <a:ext cx="4049485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고유명사 정확 매칭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6685" y="41148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E6A819"/>
                </a:solidFill>
                <a:latin typeface="Noto Sans CJK KR"/>
              </a:rPr>
              <a:t>Hybrid 필요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36376" y="41148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자연스러움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6067" y="41148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**Graph RAG**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572000"/>
            <a:ext cx="4049485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대량 비구조화 텍스트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06685" y="45720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최적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36376" y="45720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구축 부담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6067" y="4572000"/>
            <a:ext cx="2429691" cy="45720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**벡터 RAG**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29200"/>
            <a:ext cx="4049485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ctr"/>
            <a:r>
              <a:rPr sz="1200" b="1">
                <a:solidFill>
                  <a:srgbClr val="222222"/>
                </a:solidFill>
                <a:latin typeface="Noto Sans CJK KR"/>
              </a:rPr>
              <a:t>구조화된 메타데이터 풍부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06685" y="50292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E6A819"/>
                </a:solidFill>
                <a:latin typeface="Noto Sans CJK KR"/>
              </a:rPr>
              <a:t>필터 가능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6376" y="50292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1E8B4E"/>
                </a:solidFill>
                <a:latin typeface="Noto Sans CJK KR"/>
              </a:rPr>
              <a:t>자연스러움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6067" y="5029200"/>
            <a:ext cx="2429691" cy="457200"/>
          </a:xfrm>
          <a:prstGeom prst="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0000" rIns="60000" wrap="square"/>
          <a:lstStyle/>
          <a:p>
            <a:pPr algn="l"/>
            <a:r>
              <a:rPr sz="1200" b="0">
                <a:solidFill>
                  <a:srgbClr val="222222"/>
                </a:solidFill>
                <a:latin typeface="Noto Sans CJK KR"/>
              </a:rPr>
              <a:t>Graph 우위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6692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64A19"/>
                </a:solidFill>
                <a:latin typeface="Noto Sans CJK KR"/>
              </a:rPr>
              <a:t>💡 실무 베스트: **Hybrid** — 벡터 RAG로 기본 검색 + Graph RAG로 관계 질의 → 두 결과를 LLM에 함께 전달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결정 가이드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3A5F"/>
                </a:solidFill>
                <a:latin typeface="Noto Sans CJK KR"/>
              </a:rPr>
              <a:t>Session 30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Noto Sans CJK KR"/>
              </a:rPr>
              <a:t>벡터 RAG는 ‘의미를’, Graph RAG는 ‘관계를’ 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33856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**벡터 RAG의 한계** — 다중 홉 추론·관계 패턴 매칭 불가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**Knowledge Graph** = Node + Edge + Triple — 사실을 그래프로 표현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**Neo4j + Cypher** — 산업 표준 Property Graph DB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**LangChain GraphCypherQAChain** — 자연어 → Cypher 자동 변환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**MS GraphRAG** — LLM 자동 KG 구축 + 커뮤니티 글로벌 요약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✅ **실무 베스트**: Vector + Graph 하이브리드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3A5F"/>
                </a:solidFill>
                <a:latin typeface="Noto Sans CJK KR"/>
              </a:rPr>
              <a:t>🛠️ 노트북 실습 체크 (30_graph_rag.ipynb)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83480"/>
            <a:ext cx="1133856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Neo4j Docker 또는 Aura 무료 인스턴스 띄우기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회사·인물 텍스트 → LLMGraphTransformer로 KG 자동 구축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GraphCypherQAChain으로 다중 홉 자연어 질의 5개 이상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222222"/>
                </a:solidFill>
                <a:latin typeface="Noto Sans CJK KR"/>
              </a:rPr>
              <a:t>●  벡터 RAG와 Graph RAG에 같은 질문 → 답변 차이 정성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Session 30 ·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2011680" cy="54864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555555"/>
                </a:solidFill>
                <a:latin typeface="Noto Sans CJK KR"/>
              </a:rPr>
              <a:t>수고하셨습니다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F3A5F"/>
                </a:solidFill>
                <a:latin typeface="Noto Sans CJK KR"/>
              </a:rPr>
              <a:t>2일차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오늘 본 그래프 RAG는 RAG의 두 번째 차원을 열어줍니다 — 관계 기반 검색.</a:t>
            </a:r>
          </a:p>
          <a:p>
            <a:pPr algn="ctr">
              <a:lnSpc>
                <a:spcPct val="145000"/>
              </a:lnSpc>
            </a:pPr>
            <a:r>
              <a:rPr sz="1800" b="0">
                <a:solidFill>
                  <a:srgbClr val="222222"/>
                </a:solidFill>
                <a:latin typeface="Noto Sans CJK KR"/>
              </a:rPr>
              <a:t>내일은 그 위에 추론(Ontology)과 평가(RAGAS)까지 얹어 RAG의 마지막 그림을 완성합니다.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32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3일차 오전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32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Ontology RAG (Apache AGE)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사실 + 규칙 = 추론까지 가능한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4069080"/>
            <a:ext cx="5029200" cy="502920"/>
          </a:xfrm>
          <a:prstGeom prst="rect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KR"/>
              </a:rPr>
              <a:t>▶ 3일차 오후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0167" y="4572000"/>
            <a:ext cx="5029200" cy="1280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000" rIns="30000" tIns="40000" bIns="40000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CJK KR"/>
              </a:rPr>
              <a:t>RAG 평가</a:t>
            </a:r>
          </a:p>
          <a:p>
            <a:pPr algn="ctr">
              <a:spcBef>
                <a:spcPts val="800"/>
              </a:spcBef>
            </a:pPr>
            <a:r>
              <a:rPr sz="1300">
                <a:solidFill>
                  <a:srgbClr val="CFDAE8"/>
                </a:solidFill>
                <a:latin typeface="Noto Sans CJK KR"/>
              </a:rPr>
              <a:t>RAGAS · LLM-as-a-Judge로 ‘잘 만들었나’ 정량 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Noto Sans CJK KR"/>
              </a:rPr>
              <a:t>다음 일정에 만나요~. 검색 → 그래프 → 온톨로지로 깊어진 RAG를 어떻게 평가할지도 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Part 4 · 2일차 · 2일차 마무리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555555"/>
                </a:solidFill>
                <a:latin typeface="Noto Sans CJK KR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