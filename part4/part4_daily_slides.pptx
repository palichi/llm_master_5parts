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1371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FFC88A"/>
                </a:solidFill>
                <a:latin typeface="Noto Sans CJK KR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Noto Sans CJK KR"/>
              </a:rPr>
              <a:t>RAG · Graph · Ontology — 3일 커리큘럼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1280160" cy="9144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KR"/>
              </a:rPr>
              <a:t>1일차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28600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4A19"/>
                </a:solidFill>
                <a:latin typeface="Noto Sans CJK KR"/>
              </a:rPr>
              <a:t>▶ 오전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517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Session 26 RAG 기초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4A19"/>
                </a:solidFill>
                <a:latin typeface="Noto Sans CJK KR"/>
              </a:rPr>
              <a:t>▶ 오후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Session 27 Vector DB 비교 + 28 LangChain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15468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555"/>
                </a:solidFill>
                <a:latin typeface="Noto Sans CJK KR"/>
              </a:rPr>
              <a:t>💡 검색을 LLM에 붙이면 답변이 달라진다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66160"/>
            <a:ext cx="1280160" cy="9144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KR"/>
              </a:rPr>
              <a:t>2일차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56616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4A19"/>
                </a:solidFill>
                <a:latin typeface="Noto Sans CJK KR"/>
              </a:rPr>
              <a:t>▶ 오전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9319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Session 29 Advanced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661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4A19"/>
                </a:solidFill>
                <a:latin typeface="Noto Sans CJK KR"/>
              </a:rPr>
              <a:t>▶ 오후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931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Session 30 Graph RAG (Neo4j)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43484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555"/>
                </a:solidFill>
                <a:latin typeface="Noto Sans CJK KR"/>
              </a:rPr>
              <a:t>💡 벡터의 한계 → 관계 기반 검색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1280160" cy="91440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KR"/>
              </a:rPr>
              <a:t>3일차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84632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4A19"/>
                </a:solidFill>
                <a:latin typeface="Noto Sans CJK KR"/>
              </a:rPr>
              <a:t>▶ 오전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2120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Session 31 Ontology RAG (Apache AGE)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8463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4A19"/>
                </a:solidFill>
                <a:latin typeface="Noto Sans CJK KR"/>
              </a:rPr>
              <a:t>▶ 오후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212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Session 32 RAG 평가 (RAGAS + LLM-Judge)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71500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55555"/>
                </a:solidFill>
                <a:latin typeface="Noto Sans CJK KR"/>
              </a:rPr>
              <a:t>💡 추론까지 + 정량 측정으로 마무리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55555"/>
                </a:solidFill>
                <a:latin typeface="Noto Sans CJK KR"/>
              </a:rPr>
              <a:t>전체 호(arc): 단순 벡터 RAG → 관계를 보는 그래프 → 추론까지 + 정량 평가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463040" cy="4114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1일차 오전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41148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55555"/>
                </a:solidFill>
                <a:latin typeface="Noto Sans CJK KR"/>
              </a:rPr>
              <a:t>Session 26 · 24 cells · GPU 불필요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55555"/>
                </a:solidFill>
                <a:latin typeface="Noto Sans CJK KR"/>
              </a:rPr>
              <a:t>RAG 파이프라인의 첫 단추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F3A5F"/>
                </a:solidFill>
                <a:latin typeface="Noto Sans CJK KR"/>
              </a:rPr>
              <a:t>RAG 기초 — ChromaDB &amp; 시맨틱 서치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97480"/>
            <a:ext cx="5486400" cy="4114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tIns="20000" bIns="20000"/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📋 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5486400" cy="2606040"/>
          </a:xfrm>
          <a:prstGeom prst="rect">
            <a:avLst/>
          </a:prstGeom>
          <a:solidFill>
            <a:srgbClr val="F4F6F8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00000" tIns="120000" bIns="80000" wrap="square"/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1️⃣  RAG (Retrieval-Augmented Generation) 핵심 개념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2️⃣  문서를 적절한 크기로 청킹하는 방법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3️⃣  임베딩 생성 + ChromaDB에 저장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4️⃣  시맨틱 서치로 관련 문서 검색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5️⃣  키워드 검색 vs 시맨틱 서치 결과 비교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6️⃣  청킹 전략(크기·오버랩)에 따른 검색 품질 실험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697480"/>
            <a:ext cx="54864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tIns="20000" bIns="20000"/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🔧 실습 핵심 / 도구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108960"/>
            <a:ext cx="5486400" cy="2606040"/>
          </a:xfrm>
          <a:prstGeom prst="rect">
            <a:avLst/>
          </a:prstGeom>
          <a:solidFill>
            <a:srgbClr val="F4F6F8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00000" tIns="120000" bIns="80000" wrap="square"/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🛠️  chromadb, sentence-transformers, langchain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문서 로딩 → 텍스트 청킹 → 임베딩 → DB 저장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ChromaDB collection.query()로 유사도 검색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청크 크기 256 / 512 / 1024 비교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키워드 매칭과 의미 매칭의 결과 차이 정량 측정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💾 VRAM 불필요 — 모든 PC에서 실행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89320"/>
            <a:ext cx="11247120" cy="5943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KR"/>
              </a:rPr>
              <a:t>💡  "검색이 좋아야 답변이 좋다" — RAG의 모든 시작은 임베딩과 청킹 품질에 달려있다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463040" cy="4114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1일차 오후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41148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55555"/>
                </a:solidFill>
                <a:latin typeface="Noto Sans CJK KR"/>
              </a:rPr>
              <a:t>Session 27 · 19 cells · GPU 불필요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55555"/>
                </a:solidFill>
                <a:latin typeface="Noto Sans CJK KR"/>
              </a:rPr>
              <a:t>벡터 DB 6종 비교 +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F3A5F"/>
                </a:solidFill>
                <a:latin typeface="Noto Sans CJK KR"/>
              </a:rPr>
              <a:t>Vector DB 심층 비교 (Chroma / FAISS / pgvector …)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97480"/>
            <a:ext cx="5486400" cy="4114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tIns="20000" bIns="20000"/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📋 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5486400" cy="2606040"/>
          </a:xfrm>
          <a:prstGeom prst="rect">
            <a:avLst/>
          </a:prstGeom>
          <a:solidFill>
            <a:srgbClr val="F4F6F8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00000" tIns="120000" bIns="80000" wrap="square"/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1️⃣  벡터 DB의 핵심 개념과 전통 DB와의 차이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2️⃣  주요 6종 비교: Chroma · FAISS · Pinecone · Weaviate · Milvus · pgvector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3️⃣  ChromaDB·FAISS 직접 실습 (인덱스 생성 → 검색)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4️⃣  PostgreSQL + pgvector 간단 실습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5️⃣  용도별 벡터 DB 선택 기준 수립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697480"/>
            <a:ext cx="54864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tIns="20000" bIns="20000"/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🔧 실습 핵심 / 도구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108960"/>
            <a:ext cx="5486400" cy="2606040"/>
          </a:xfrm>
          <a:prstGeom prst="rect">
            <a:avLst/>
          </a:prstGeom>
          <a:solidFill>
            <a:srgbClr val="F4F6F8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00000" tIns="120000" bIns="80000" wrap="square"/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🛠️  chromadb, faiss-cpu, psycopg2-binary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같은 임베딩을 Chroma vs FAISS에서 검색 속도 비교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FAISS IndexFlatL2 / IndexIVFFlat 인덱스 차이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pgvector — 기존 PostgreSQL에 벡터 검색 끼워넣기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선택 가이드: 규모/지속성/팀 인프라 기준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📊 메모리·디스크·쿼리 속도 종합 매트릭스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89320"/>
            <a:ext cx="11247120" cy="5943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KR"/>
              </a:rPr>
              <a:t>💡  "하나의 정답은 없다" — 데이터 규모, 인프라, 운영 비용에 맞는 DB를 고르는 안목을 기른다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463040" cy="4114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1일차 오후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41148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55555"/>
                </a:solidFill>
                <a:latin typeface="Noto Sans CJK KR"/>
              </a:rPr>
              <a:t>Session 28 · 27 cells · API 기반 (GPU 불필요)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55555"/>
                </a:solidFill>
                <a:latin typeface="Noto Sans CJK KR"/>
              </a:rPr>
              <a:t>실제 RAG 어플리케이션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F3A5F"/>
                </a:solidFill>
                <a:latin typeface="Noto Sans CJK KR"/>
              </a:rPr>
              <a:t>LangChain RAG — RetrievalQA + 대화형 + LCEL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97480"/>
            <a:ext cx="5486400" cy="4114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tIns="20000" bIns="20000"/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📋 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5486400" cy="2606040"/>
          </a:xfrm>
          <a:prstGeom prst="rect">
            <a:avLst/>
          </a:prstGeom>
          <a:solidFill>
            <a:srgbClr val="F4F6F8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00000" tIns="120000" bIns="80000" wrap="square"/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1️⃣  LangChain Document Loaders로 다양한 형식 로딩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2️⃣  Text Splitters로 효과적인 문서 분할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3️⃣  Embeddings + VectorStore 자동 연동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4️⃣  RetrievalQA 체인으로 RAG 앱 구축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5️⃣  ConversationalRetrievalChain — 대화형 RAG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6️⃣  LCEL (LangChain Expression Language)로 RAG 재구현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697480"/>
            <a:ext cx="54864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tIns="20000" bIns="20000"/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🔧 실습 핵심 / 도구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108960"/>
            <a:ext cx="5486400" cy="2606040"/>
          </a:xfrm>
          <a:prstGeom prst="rect">
            <a:avLst/>
          </a:prstGeom>
          <a:solidFill>
            <a:srgbClr val="F4F6F8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00000" tIns="120000" bIns="80000" wrap="square"/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🛠️  langchain, langchain-openai, langchain-community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PDF/Markdown/HTML 모두 한 인터페이스로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RecursiveCharacterTextSplitter 등 분할 전략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retriever | prompt | llm | parser LCEL 체인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chat_history를 받는 대화형 RAG 패턴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💡 OpenAI API 또는 Ollama 로컬 모델 둘 다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89320"/>
            <a:ext cx="11247120" cy="5943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KR"/>
              </a:rPr>
              <a:t>💡  "세 줄로 RAG 앱이 된다" — LCEL의 강력함과 LangChain 추상화의 진가를 체감한다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555555"/>
                </a:solidFill>
                <a:latin typeface="Noto Sans CJK KR"/>
              </a:rPr>
              <a:t>수고하셨습니다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F3A5F"/>
                </a:solidFill>
                <a:latin typeface="Noto Sans CJK KR"/>
              </a:rPr>
              <a:t>1일차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47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800" b="0">
                <a:solidFill>
                  <a:srgbClr val="222222"/>
                </a:solidFill>
                <a:latin typeface="Noto Sans CJK KR"/>
              </a:rPr>
              <a:t>오늘 만든 첫 RAG 시스템 — Chroma·FAISS 위에 LCEL로 묶은 — 은 여러분의 것입니다.</a:t>
            </a:r>
          </a:p>
          <a:p>
            <a:pPr algn="ctr">
              <a:lnSpc>
                <a:spcPct val="145000"/>
              </a:lnSpc>
            </a:pPr>
            <a:r>
              <a:rPr sz="1800" b="0">
                <a:solidFill>
                  <a:srgbClr val="222222"/>
                </a:solidFill>
                <a:latin typeface="Noto Sans CJK KR"/>
              </a:rPr>
              <a:t>그 답변이 얼마나 정확한지는 여러분이 청크와 인덱스를 얼마나 잘 설계했느냐에 달려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327" y="4069080"/>
            <a:ext cx="5029200" cy="5029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▶ 2일차 오전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4572000"/>
            <a:ext cx="5029200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40000" bIns="4000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Advanced RAG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CFDAE8"/>
                </a:solidFill>
                <a:latin typeface="Noto Sans CJK KR"/>
              </a:rPr>
              <a:t>단순 벡터의 한계와 rerank · multi-query로 개선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0167" y="4069080"/>
            <a:ext cx="5029200" cy="5029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▶ 2일차 오후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4572000"/>
            <a:ext cx="5029200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40000" bIns="4000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Graph RAG (Neo4j)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CFDAE8"/>
                </a:solidFill>
                <a:latin typeface="Noto Sans CJK KR"/>
              </a:rPr>
              <a:t>관계가 있는 도메인에서 그래프가 왜 강한가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555555"/>
                </a:solidFill>
                <a:latin typeface="Noto Sans CJK KR"/>
              </a:rPr>
              <a:t>다음 일정에 만나요~. 단순 벡터 검색을 넘어, '관계를 보는 RAG'로 들어갑니다.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463040" cy="4114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2일차 오전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41148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55555"/>
                </a:solidFill>
                <a:latin typeface="Noto Sans CJK KR"/>
              </a:rPr>
              <a:t>Session 29 · 31 cells · GPU 선택 (Reranker 사용 시 권장)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55555"/>
                </a:solidFill>
                <a:latin typeface="Noto Sans CJK KR"/>
              </a:rPr>
              <a:t>기본 RAG의 한계를 뛰어넘기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F3A5F"/>
                </a:solidFill>
                <a:latin typeface="Noto Sans CJK KR"/>
              </a:rPr>
              <a:t>Advanced RAG — HyDE / Reranking / Ensemble / Parent Doc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97480"/>
            <a:ext cx="5486400" cy="4114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tIns="20000" bIns="20000"/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📋 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5486400" cy="2606040"/>
          </a:xfrm>
          <a:prstGeom prst="rect">
            <a:avLst/>
          </a:prstGeom>
          <a:solidFill>
            <a:srgbClr val="F4F6F8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00000" tIns="120000" bIns="80000" wrap="square"/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1️⃣  기본 RAG의 4가지 한계 진단 (semantic gap 등)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2️⃣  HyDE (Hypothetical Document Embeddings) 구현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3️⃣  Reranking으로 검색 결과 품질 향상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4️⃣  Ensemble Retriever (BM25 + 시맨틱) 결합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5️⃣  Parent Document Retriever 패턴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6️⃣  4가지 기법의 정량 성능 비교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697480"/>
            <a:ext cx="54864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tIns="20000" bIns="20000"/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🔧 실습 핵심 / 도구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108960"/>
            <a:ext cx="5486400" cy="2606040"/>
          </a:xfrm>
          <a:prstGeom prst="rect">
            <a:avLst/>
          </a:prstGeom>
          <a:solidFill>
            <a:srgbClr val="F4F6F8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00000" tIns="120000" bIns="80000" wrap="square"/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🛠️  langchain, sentence-transformers, rank_bm25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HyDE — "가상 답변 → 임베딩"으로 검색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Cross-encoder Reranker로 top-K 재정렬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BM25(키워드) + 시맨틱 hybrid 점수 결합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작은 청크 검색 → 큰 문서 반환 (Parent Doc)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📊 5개 기법 × 동일 평가셋 → 정량 비교 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89320"/>
            <a:ext cx="11247120" cy="5943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KR"/>
              </a:rPr>
              <a:t>💡  "기본 RAG가 70점이면 Advanced는 90점" — 각 기법이 어떤 약점을 메우는지 코드로 직접 본다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463040" cy="4114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2일차 오후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41148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55555"/>
                </a:solidFill>
                <a:latin typeface="Noto Sans CJK KR"/>
              </a:rPr>
              <a:t>Session 30 · 21 cells · Neo4j (Docker 또는 Aura)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55555"/>
                </a:solidFill>
                <a:latin typeface="Noto Sans CJK KR"/>
              </a:rPr>
              <a:t>관계를 보는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F3A5F"/>
                </a:solidFill>
                <a:latin typeface="Noto Sans CJK KR"/>
              </a:rPr>
              <a:t>Graph RAG — Neo4j 기반 지식 그래프 검색 증강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97480"/>
            <a:ext cx="5486400" cy="4114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tIns="20000" bIns="20000"/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📋 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5486400" cy="2606040"/>
          </a:xfrm>
          <a:prstGeom prst="rect">
            <a:avLst/>
          </a:prstGeom>
          <a:solidFill>
            <a:srgbClr val="F4F6F8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00000" tIns="120000" bIns="80000" wrap="square"/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1️⃣  벡터 RAG의 한계와 그래프 RAG의 필요성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2️⃣  지식 그래프의 기본 개념 (노드/엣지/트리플)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3️⃣  Graph RAG 파이프라인 전체 흐름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4️⃣  Neo4j를 활용한 그래프 RAG 구축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5️⃣  LangChain GraphCypherQAChain 연동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697480"/>
            <a:ext cx="54864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tIns="20000" bIns="20000"/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🔧 실습 핵심 / 도구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108960"/>
            <a:ext cx="5486400" cy="2606040"/>
          </a:xfrm>
          <a:prstGeom prst="rect">
            <a:avLst/>
          </a:prstGeom>
          <a:solidFill>
            <a:srgbClr val="F4F6F8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00000" tIns="120000" bIns="80000" wrap="square"/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🛠️  neo4j, langchain, networkx, openai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텍스트 → LLM으로 엔티티·관계 추출 → 그래프 적재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Cypher 쿼리로 그래프 탐색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자연어 질문 → LLM이 Cypher 생성 → 결과 답변화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시각화: networkx로 그래프 구조 확인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🐳 Neo4j Docker 컨테이너 또는 Neo4j Aura 무료 인스턴스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89320"/>
            <a:ext cx="11247120" cy="5943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KR"/>
              </a:rPr>
              <a:t>💡  "의미는 벡터로, 관계는 그래프로" — 어떤 도메인엔 의미 매칭보다 관계 추적이 결정적이다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555555"/>
                </a:solidFill>
                <a:latin typeface="Noto Sans CJK KR"/>
              </a:rPr>
              <a:t>수고하셨습니다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F3A5F"/>
                </a:solidFill>
                <a:latin typeface="Noto Sans CJK KR"/>
              </a:rPr>
              <a:t>2일차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47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800" b="0">
                <a:solidFill>
                  <a:srgbClr val="222222"/>
                </a:solidFill>
                <a:latin typeface="Noto Sans CJK KR"/>
              </a:rPr>
              <a:t>오늘 본 그래프 RAG는 RAG의 두 번째 차원을 열어줍니다 — 관계 기반 검색.</a:t>
            </a:r>
          </a:p>
          <a:p>
            <a:pPr algn="ctr">
              <a:lnSpc>
                <a:spcPct val="145000"/>
              </a:lnSpc>
            </a:pPr>
            <a:r>
              <a:rPr sz="1800" b="0">
                <a:solidFill>
                  <a:srgbClr val="222222"/>
                </a:solidFill>
                <a:latin typeface="Noto Sans CJK KR"/>
              </a:rPr>
              <a:t>내일은 그 위에 추론과 평가까지 얹어 RAG의 마지막 그림을 완성합니다.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327" y="4069080"/>
            <a:ext cx="5029200" cy="5029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▶ 3일차 오전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4572000"/>
            <a:ext cx="5029200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40000" bIns="4000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Ontology RAG (Apache AGE)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CFDAE8"/>
                </a:solidFill>
                <a:latin typeface="Noto Sans CJK KR"/>
              </a:rPr>
              <a:t>사실 + 규칙 = 추론까지 가능한 RAG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0167" y="4069080"/>
            <a:ext cx="5029200" cy="5029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▶ 3일차 오후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4572000"/>
            <a:ext cx="5029200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40000" bIns="4000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RAG 평가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CFDAE8"/>
                </a:solidFill>
                <a:latin typeface="Noto Sans CJK KR"/>
              </a:rPr>
              <a:t>RAGAS · LLM-as-a-Judge로 '잘 만들었나' 정량 측정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555555"/>
                </a:solidFill>
                <a:latin typeface="Noto Sans CJK KR"/>
              </a:rPr>
              <a:t>다음 일정에 만나요~. 검색 → 그래프 → 온톨로지로 깊어진 RAG를 어떻게 평가할지도 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463040" cy="4114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3일차 오전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41148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55555"/>
                </a:solidFill>
                <a:latin typeface="Noto Sans CJK KR"/>
              </a:rPr>
              <a:t>Session 31 · 23 cells · PostgreSQL + Apache 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55555"/>
                </a:solidFill>
                <a:latin typeface="Noto Sans CJK KR"/>
              </a:rPr>
              <a:t>추론까지 가능한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F3A5F"/>
                </a:solidFill>
                <a:latin typeface="Noto Sans CJK KR"/>
              </a:rPr>
              <a:t>Ontology RAG — Apache AGE 기반 지식 그래프 추론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97480"/>
            <a:ext cx="5486400" cy="4114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tIns="20000" bIns="20000"/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📋 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5486400" cy="2606040"/>
          </a:xfrm>
          <a:prstGeom prst="rect">
            <a:avLst/>
          </a:prstGeom>
          <a:solidFill>
            <a:srgbClr val="F4F6F8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00000" tIns="120000" bIns="80000" wrap="square"/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1️⃣  온톨로지의 개념과 구성 요소 (Class · Property · Axiom)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2️⃣  벡터 RAG / 그래프 RAG / 온톨로지 RAG 비교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3️⃣  Apache AGE 특징과 기본 사용법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4️⃣  도메인 온톨로지 설계 → AGE 그래프 구축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5️⃣  온톨로지 기반 추론 + LLM 연동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6️⃣  의료 / 법률 / 금융 도메인 활용 사례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697480"/>
            <a:ext cx="54864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tIns="20000" bIns="20000"/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🔧 실습 핵심 / 도구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108960"/>
            <a:ext cx="5486400" cy="2606040"/>
          </a:xfrm>
          <a:prstGeom prst="rect">
            <a:avLst/>
          </a:prstGeom>
          <a:solidFill>
            <a:srgbClr val="F4F6F8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00000" tIns="120000" bIns="80000" wrap="square"/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🛠️  psycopg2, networkx, openai, langchain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PostgreSQL 확장 Apache AGE 설치 / 기본 Cypher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Class 계층 (예: Disease → ChronicDisease → Diabetes)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규칙 기반 추론 (X가 A의 하위 클래스 → A의 속성 상속)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자연어 질의 → 그래프 + 추론 결과 → LLM 답변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🏥 의료 진단 / 법률 적용 / 금융 컴플라이언스 시나리오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89320"/>
            <a:ext cx="11247120" cy="5943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KR"/>
              </a:rPr>
              <a:t>💡  "사실 + 규칙 = 추론" — 온톨로지는 RAG가 단순 검색이 아닌 '논리적 추론'을 하게 만든다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463040" cy="4114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3일차 오후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41148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55555"/>
                </a:solidFill>
                <a:latin typeface="Noto Sans CJK KR"/>
              </a:rPr>
              <a:t>Session 32 · 26 cells · API 기반 (GPU 불필요)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55555"/>
                </a:solidFill>
                <a:latin typeface="Noto Sans CJK KR"/>
              </a:rPr>
              <a:t>RAG가 잘 만들어졌는가?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F3A5F"/>
                </a:solidFill>
                <a:latin typeface="Noto Sans CJK KR"/>
              </a:rPr>
              <a:t>RAG 평가 — RAGAS &amp; LLM-as-a-Judge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97480"/>
            <a:ext cx="5486400" cy="4114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tIns="20000" bIns="20000"/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📋 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5486400" cy="2606040"/>
          </a:xfrm>
          <a:prstGeom prst="rect">
            <a:avLst/>
          </a:prstGeom>
          <a:solidFill>
            <a:srgbClr val="F4F6F8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00000" tIns="120000" bIns="80000" wrap="square"/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1️⃣  RAG 평가가 중요한 이유 (검색·생성 두 단계 모두)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2️⃣  RAGAS 프레임워크로 자동 평가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3️⃣  Faithfulness · Answer Relevancy · Context Precision · Recall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4️⃣  LLM-as-a-Judge로 응답 품질 평가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5️⃣  평가 결과 분석 + 개선 방향 도출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697480"/>
            <a:ext cx="5486400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tIns="20000" bIns="20000"/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🔧 실습 핵심 / 도구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108960"/>
            <a:ext cx="5486400" cy="2606040"/>
          </a:xfrm>
          <a:prstGeom prst="rect">
            <a:avLst/>
          </a:prstGeom>
          <a:solidFill>
            <a:srgbClr val="F4F6F8"/>
          </a:solidFill>
          <a:ln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00000" tIns="120000" bIns="80000" wrap="square"/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🛠️  ragas, langchain, openai 또는 ollama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평가셋: (질문, 정답, 참조 문서) 트리플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임베딩 코사인으로 직접 평가 함수 구현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RAGAS 자동 평가 — 4가지 지표 한 번에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🔹 LLM Judge — Single Rating / Pairwise Comparison</a:t>
            </a: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sz="1400">
                <a:solidFill>
                  <a:srgbClr val="222222"/>
                </a:solidFill>
                <a:latin typeface="Noto Sans CJK KR"/>
              </a:rPr>
              <a:t>📈 평가 결과로 청킹·리트리버·LLM 어디를 손볼지 진단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89320"/>
            <a:ext cx="11247120" cy="5943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CJK KR"/>
              </a:rPr>
              <a:t>💡  "측정하지 않으면 개선할 수 없다" — RAG 운영의 마지막 퍼즐, 평가 파이프라인을 갖춘다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555555"/>
                </a:solidFill>
                <a:latin typeface="Noto Sans CJK KR"/>
              </a:rPr>
              <a:t>수고하셨습니다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F3A5F"/>
                </a:solidFill>
                <a:latin typeface="Noto Sans CJK KR"/>
              </a:rPr>
              <a:t>Part 4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47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800" b="0">
                <a:solidFill>
                  <a:srgbClr val="222222"/>
                </a:solidFill>
                <a:latin typeface="Noto Sans CJK KR"/>
              </a:rPr>
              <a:t>오늘까지 우리는 LLM에 '모르는 것을 알게 하는' 방법을 완성했습니다.</a:t>
            </a:r>
          </a:p>
          <a:p>
            <a:pPr algn="ctr">
              <a:lnSpc>
                <a:spcPct val="145000"/>
              </a:lnSpc>
            </a:pPr>
            <a:r>
              <a:rPr sz="1800" b="0">
                <a:solidFill>
                  <a:srgbClr val="222222"/>
                </a:solidFill>
                <a:latin typeface="Noto Sans CJK KR"/>
              </a:rPr>
              <a:t>이제 LLM이 그 지식을 도구처럼 능동적으로 활용하는 — 에이전트의 시대로 들어갑니다.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327" y="4069080"/>
            <a:ext cx="5029200" cy="5029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▶ Part 5 시작 오전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4572000"/>
            <a:ext cx="5029200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40000" bIns="4000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AI Agent &amp; Tool Calling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CFDAE8"/>
                </a:solidFill>
                <a:latin typeface="Noto Sans CJK KR"/>
              </a:rPr>
              <a:t>LLM이 직접 도구를 골라 쓰는 패러다임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0167" y="4069080"/>
            <a:ext cx="5029200" cy="5029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▶ Part 5 시작 오후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4572000"/>
            <a:ext cx="5029200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40000" bIns="4000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LangGraph 멀티에이전트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CFDAE8"/>
                </a:solidFill>
                <a:latin typeface="Noto Sans CJK KR"/>
              </a:rPr>
              <a:t>복잡한 워크플로우를 그래프로 표현·실행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555555"/>
                </a:solidFill>
                <a:latin typeface="Noto Sans CJK KR"/>
              </a:rPr>
              <a:t>다음주 만나요~. RAG가 '지식을 가져온다'면, 에이전트는 '지식을 도구처럼 쓴다' — 차이를 직접 체험합니다.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