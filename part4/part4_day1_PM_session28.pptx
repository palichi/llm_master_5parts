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1828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FC88A"/>
                </a:solidFill>
                <a:latin typeface="맑은 고딕"/>
              </a:rPr>
              <a:t>Part 4 · 1일차 · 오후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 i="0">
                <a:solidFill>
                  <a:srgbClr val="FFFFFF"/>
                </a:solidFill>
                <a:latin typeface="맑은 고딕"/>
              </a:rPr>
              <a:t>LangChain RAG +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CFDAE8"/>
                </a:solidFill>
                <a:latin typeface="맑은 고딕"/>
              </a:rPr>
              <a:t>노트북 코드를 실제 웹 서비스로 만든다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FFFFFF"/>
                </a:solidFill>
                <a:latin typeface="맑은 고딕"/>
              </a:rPr>
              <a:t>📌 전반부  LangChain RAG 어플리케이션 — RetrievalQA · LCEL · 대화형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FFFFFF"/>
                </a:solidFill>
                <a:latin typeface="맑은 고딕"/>
              </a:rPr>
              <a:t>📌 후반부  Streamlit으로 PDF Q&amp;A 챗봇 — 업로드부터 배포까지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본 세션의 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Session 26·27에서 만든 RAG 부품들을 묶어 실제 서비스로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F3A5F"/>
                </a:solidFill>
                <a:latin typeface="맑은 고딕"/>
              </a:rPr>
              <a:t>📋 학습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LangChain Document Loaders · Splitters · VectorStore 통합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RetrievalQA — 가장 단순한 RAG 체인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ConversationalRetrievalChain — 멀티턴 대화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LCEL — 가장 모던한 RAG 패턴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응답 스트리밍 + 출처(인용) 표시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Streamlit으로 챗 UI 구축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PDF 업로드 → 실시간 Q&amp;A 풀스택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배포 (로컬 / Streamlit Cloud)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F3A5F"/>
                </a:solidFill>
                <a:latin typeface="맑은 고딕"/>
              </a:rPr>
              <a:t>🛠️ 학습 흐름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1463040" cy="68580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Part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LangChain RAG (1.5h)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880360"/>
            <a:ext cx="1463040" cy="6858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Part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063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RetrievalQA + LCEL (1h)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749040"/>
            <a:ext cx="1463040" cy="6858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Part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Streamlit 챗봇 (1.5h)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617720"/>
            <a:ext cx="1463040" cy="6858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Part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800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배포 + 운영 (30분)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학습 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오전 복습 → 오후의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부품을 묶어 서비스로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577840" cy="41148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🌅 오전 — RAG 부품 만들기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Session 26 · 청킹 / 임베딩 / ChromaDB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Session 27 · Vector DB 비교 (Chroma·FAISS·pgvector)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부품은 갖춰졌으나 "사람이 쓸 서비스" 는 아직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577840" cy="411480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🌆 오후 — 부품 → 서비스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LangChain으로 부품 조립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체인 인터페이스 추상화 (RetrievalQA / LCEL)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사용자 인터페이스 (Streamlit)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"PDF 올리고 채팅으로 묻는 서비스" 완성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🎯 핵심: 노트북 코드가 → 실제 사람이 쓰는 웹 서비스가 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오전→오후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LangChain RAG 아키텍처 —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5개 구성요소가 LCEL로 묶임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📦 Index 파이프라인 (한 번)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65960"/>
            <a:ext cx="1828800" cy="7315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Document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Loader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194560"/>
            <a:ext cx="45720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49040" y="1965960"/>
            <a:ext cx="182880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Text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Splitter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23560" y="2194560"/>
            <a:ext cx="45720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1965960"/>
            <a:ext cx="182880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Embedding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Model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01000" y="2194560"/>
            <a:ext cx="45720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0" y="1965960"/>
            <a:ext cx="182880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Vector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🔍 Query 파이프라인 (매번)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1554480" cy="7315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User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Query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029968" y="3977639"/>
            <a:ext cx="18288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40280" y="3749039"/>
            <a:ext cx="164592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Retriever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904488" y="3977639"/>
            <a:ext cx="18288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0" y="3749039"/>
            <a:ext cx="155448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Top-K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Docs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687568" y="3977639"/>
            <a:ext cx="18288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897880" y="3749039"/>
            <a:ext cx="1645920" cy="73152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Prompt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Template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62088" y="3977639"/>
            <a:ext cx="18288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0" y="3749039"/>
            <a:ext cx="146304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LLM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253728" y="3977639"/>
            <a:ext cx="18288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64040" y="3749039"/>
            <a:ext cx="1645920" cy="7315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37760"/>
            <a:ext cx="11338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💡 LangChain의 강점: 각 박스가 표준 인터페이스 → 부품 교체 자유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    (예: Chroma → FAISS, OpenAI → Ollama, 한 줄만 바꾸면 됨)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LangChain RAG 아키텍처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Document Loaders — 다양한 형식을 통일된 Document로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PDF · TXT · 웹 · CSV · Notion 등 한 인터페이스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51435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형식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Loader 클래스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주 용도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TextLoader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일반 텍스트 파일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PDF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PyPDFLoader, PDFMinerLoader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논문, 매뉴얼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Markdown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UnstructuredMarkdownLoader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위키, Notion 내보내기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HTML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BSHTMLLoader, WebBaseLoader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웹 크롤링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CSV/Excel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CSVLoader, UnstructuredExcelLoader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표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Word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Docx2txtLoader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사내 보고서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Notion/Slack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NotionDirectoryLoader 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사내 협업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5216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E64A19"/>
                </a:solidFill>
                <a:latin typeface="맑은 고딕"/>
              </a:rPr>
              <a:t>🎯 모든 Loader는 List[Document] 반환 — Document(page_content, metadata)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Document Loaders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Document Loaders —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PDF 한 줄로 로딩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338560" cy="4572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1119104" cy="4425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langchain_community.document_loaders import 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PyPDFLoader,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TextLoader,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WebBaseLoader,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CSVLoader,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PDF — 페이지마다 Document 1개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docs = PyPDFLoader("manual.pdf").load()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print(f"총 {len(docs)} 페이지")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print(f"첫 페이지: {docs[0].page_content[:100]}")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print(f"메타데이터: {docs[0].metadata}")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{'source': 'manual.pdf', 'page': 0}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웹 — URL에서 직접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web = WebBaseLoader("https://example.com/article").load()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CSV — 행마다 Document 1개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csv = CSVLoader("data.csv").load()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디렉토리 전체 (재귀)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langchain_community.document_loaders import DirectoryLoader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all_docs = DirectoryLoader("./docs", glob="**/*.pdf",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                        loader_cls=PyPDFLoader).load()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Document Loaders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Text Splitters — 청크로 자르는 4가지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문서 특성에 맞는 splitter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64008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Splitter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분할 기준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추천 용도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CharacterTextSplitter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단일 separator (\n\n 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단순 텍스트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RecursiveCharacterTextSplitter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단락→문장→단어 순차 시도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범용 1순위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MarkdownHeaderTextSplitter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## 헤더 단위로 분할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위키, README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TokenTextSplitter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토큰 단위 (정확한 길이)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LLM 컨텍스트 한계 엄격 시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9377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🎯 시작 권장 설정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11338560" cy="109728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422392"/>
            <a:ext cx="11119104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splitter = RecursiveCharacterTextSplitter(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chunk_size=500, chunk_overlap=50,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separators=["\n\n", "\n", ". ", " "],  # 단락→줄→문장→단어 순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Text Splitters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Embeddings + VectorStore — 한 줄로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VectorStore 교체 자유 (Chroma → FAISS → pgvector)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338560" cy="475488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1119104" cy="4608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1) Embedding 모델 선택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langchain_huggingface import HuggingFaceEmbeddings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langchain_openai import OpenAIEmbeddings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embeddings = HuggingFaceEmbeddings(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model_name="jhgan/ko-sroberta-multitask"   # 무료, 한국어 양호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또는: OpenAIEmbeddings(model="text-embedding-3-small")  # 유료 API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2) VectorStore 생성 (Chroma 예시)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langchain_chroma import Chroma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vectorstore = Chroma.from_documents(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documents=chunks,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embedding=embeddings,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persist_directory="./db",       # 디스크 영구 저장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3) Retriever 변환 — LangChain의 통일 인터페이스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retriever = vectorstore.as_retriever(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search_type="similarity",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search_kwargs={"k": 3},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4) 검색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docs = retriever.invoke("내 질문")   # → Top-3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E64A19"/>
                </a:solidFill>
                <a:latin typeface="맑은 고딕"/>
              </a:rPr>
              <a:t>🔄 부품 교체 1줄: Chroma → FAISS → pgvector → Pinecone — 인터페이스 동일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Embeddings &amp; VectorStore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LLM 선택 — OpenAI API vs Ollama (로컬)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외부 API vs 로컬 모델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577840" cy="41148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🌐 OpenAI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40280"/>
            <a:ext cx="5212080" cy="18288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13432"/>
            <a:ext cx="4992624" cy="1682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langchain_openai import ChatOpenAI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llm = ChatOpenAI(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model="gpt-4o-mini",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temperature=0,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✅ 가장 똑똑, 빠른 시작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❌ 비용 발생, 외부 의존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💡 프로토타입·MVP에 적합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577840" cy="411480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🏠 Ollama (로컬)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40280"/>
            <a:ext cx="5212080" cy="18288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313432"/>
            <a:ext cx="4992624" cy="1682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langchain_ollama import ChatOllama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llm = ChatOllama(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model="qwen2.5:1.5b",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temperature=0,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✅ 무료, 데이터 외부 안 나감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❌ 품질·속도는 모델 크기 의존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💡 보안·비용 민감한 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🎯 본 세션은 OpenAI로 진행 (Ollama로 교체 시 import만 변경)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LLM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RetrievalQA — 가장 단순한 RAG 체인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한 함수로 retriever + LLM 묶기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338560" cy="41148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1119104" cy="3968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langchain.chains import RetrievalQA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가장 단순한 RAG 체인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qa = RetrievalQA.from_chain_type(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llm=llm,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chain_type="stuff",          # "stuff" / "map_reduce" / "refine"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retriever=retriever,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return_source_documents=True, # 출처 문서도 함께 반환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질의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result = qa.invoke({"query": "RAG의 청킹 전략은?"})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print(result["result"])              # 답변 텍스트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print(result["source_documents"])    # 참고한 문서 리스트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출처 표시 (사용자에게 보여주기 좋음)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for i, doc in enumerate(result["source_documents"], 1):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src = doc.metadata.get("source", "?")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page = doc.metadata.get("page", "?")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print(f"[{i}] {src} p.{page}")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🎯 RAG MVP 5줄 — 가장 빠르게 만드는 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RetrievalQA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RetrievalQA — chain_type 3가지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검색된 문서를 LLM에 어떻게 넘기느냐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📐 3가지 전략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3657600" cy="82296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stuff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기본 — 모두 한 프롬프트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✅ 빠름  ❌ 긴 문서 안됨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3657600" cy="8229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map_reduce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880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각각 요약 → 합침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461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✅ 긴 문서  ❌ LLM 호출 많음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365760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refine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80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순차 정제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2461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✅ 가장 정밀  ❌ 가장 느림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📊 어느 걸 언제 쓰나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4617720"/>
          <a:ext cx="11338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4572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chain_type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LLM 호출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처리 가능 문서량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추천 상황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stuff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1회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Top-K가 컨텍스트에 들어갈 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대부분 (기본)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map_reduce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K+1회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긴 문서, K가 클 때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긴 보고서 요약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refine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K회 (순차)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정확성이 최우선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법률, 의료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chain_type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ConversationalRetrievalChain — 멀티턴 대화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이전 대화 맥락을 반영한 검색·답변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338560" cy="41148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1119104" cy="3968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langchain.chains import ConversationalRetrievalChain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langchain.memory import ConversationBufferMemory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memory = ConversationBufferMemory(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memory_key="chat_history",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return_messages=True,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conv_qa = ConversationalRetrievalChain.from_llm(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llm=llm,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retriever=retriever,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memory=memory,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1턴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r1 = conv_qa.invoke({"question": "RAG란 무엇인가?"})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2턴 — "그것"이 RAG를 가리킴을 자동 이해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r2 = conv_qa.invoke({"question": "그것의 단점은?"})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3턴 — 누적된 맥락을 검색 질의에도 반영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r3 = conv_qa.invoke({"question": "어떻게 해결할 수 있어?"})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E64A19"/>
                </a:solidFill>
                <a:latin typeface="맑은 고딕"/>
              </a:rPr>
              <a:t>💡 핵심: "이전 대화 + 새 질문" → LLM이 standalone question 생성 → 그걸로 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Conversational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LCEL — 가장 모던한 RAG 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체인을 | 연산자로 — Composable &amp; Streamable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📐 LCEL 체인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2103120" cy="8229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Retriever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 i="0">
                <a:solidFill>
                  <a:srgbClr val="E64A19"/>
                </a:solidFill>
                <a:latin typeface="맑은 고딕"/>
              </a:rPr>
              <a:t>|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057400"/>
            <a:ext cx="1828800" cy="82296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 i="0">
                <a:solidFill>
                  <a:srgbClr val="E64A19"/>
                </a:solidFill>
                <a:latin typeface="맑은 고딕"/>
              </a:rPr>
              <a:t>|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057400"/>
            <a:ext cx="164592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 i="0">
                <a:solidFill>
                  <a:srgbClr val="E64A19"/>
                </a:solidFill>
                <a:latin typeface="맑은 고딕"/>
              </a:rPr>
              <a:t>|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057400"/>
            <a:ext cx="1828800" cy="82296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✨ LCEL의 4가지 강점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11338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**조립 가능 (Composable)** — | 로 작은 체인을 큰 체인으로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**자동 스트리밍** — `chain.stream()` 한 함수로 토큰 단위 출력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**자동 배치** — `chain.batch([...])` 로 N개 질문 병렬 처리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**자동 async** — `chain.ainvoke()` 로 비동기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LCEL 핵심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LCEL로 RAG 재구현 —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RetrievalQA보다 명시적이고 유연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338560" cy="475488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1119104" cy="4608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langchain_core.prompts import ChatPromptTemplate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langchain_core.output_parsers import StrOutputParser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langchain_core.runnables import RunnablePassthrough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prompt = ChatPromptTemplate.from_template("""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다음 문서를 참고하여 질문에 답하세요. 모르는 내용은 모른다고 답하세요.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문서: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{context}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질문: {question}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답변: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""")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def format_docs(docs):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return "\n\n".join(d.page_content for d in docs)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LCEL 체인 — | 로 묶임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rag_chain = 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{"context": retriever | format_docs, "question": RunnablePassthrough()}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| prompt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| llm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| StrOutputParser()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사용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answer = rag_chain.invoke("RAG에서 청킹이 왜 중요한가?")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스트리밍도 자유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for chunk in rag_chain.stream("..."):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print(chunk, end="", flush=True)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LCEL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출처 표시 — 사용자에게 근거 보이기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답변과 함께 "어디서 가져왔는지" 표시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📐 답변 + 출처 표시 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11338560" cy="21945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💬 답변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RAG에서 청킹은 검색 품질을 좌우하는 가장 중요한 단계입니다.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너무 작으면 컨텍스트 부족, 너무 크면 검색 잡음이 늘어나며, 보통 500자 ± 오버랩 50자로 시작합니다.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11338560" cy="1828800"/>
          </a:xfrm>
          <a:prstGeom prst="roundRect">
            <a:avLst/>
          </a:prstGeom>
          <a:solidFill>
            <a:srgbClr val="FEF6E5"/>
          </a:solidFill>
          <a:ln w="1905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64A19"/>
                </a:solidFill>
                <a:latin typeface="맑은 고딕"/>
              </a:rPr>
              <a:t>📚 출처 (Top-3 근거 문서)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Consolas"/>
              </a:rPr>
              <a:t>[1] rag_practice.pdf · p.12 — "청크 크기는 검색 정확도와 직결되며…"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Consolas"/>
              </a:rPr>
              <a:t>[2] rag_practice.pdf · p.14 — "오버랩 50자는 경계 잘림을 방지…"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Consolas"/>
              </a:rPr>
              <a:t>[3] notion://team-wiki — "실무 가이드: 500자로 시작 권장…"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출처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Streamlit — 노트북을 웹앱으로 한 시간 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Python만으로 풀스택 — Frontend·Backend 따로 안 만들어도 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🎯 왜 Streamlit인가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**Python만으로 UI** — HTML/CSS/JS 몰라도 됨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**핫리로드** — 코드 저장 즉시 브라우저 반영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**Streamlit Cloud** — GitHub 연동 한 클릭 무료 배포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**위젯 풍부** — chat / file_uploader / sidebar 다 내장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🔄 다른 옵션과 비교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663440"/>
          <a:ext cx="113385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42291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옵션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장점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단점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2291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**Streamlit**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가장 빠른 MVP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커스텀 UI 제한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프로토타입·내부도구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Gradio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ML 모델 데모 편함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복잡한 UI 약함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ML 데모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2291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FastAPI + 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프로덕션 풀스택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셋업 무거움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본격 서비스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Streamlit 소개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우리가 만들 Streamlit RAG 챗봇 —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PDF 업로드 → 인덱싱 → 채팅 (한 화면)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🎨 Streamlit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5486400" cy="41148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3A5F"/>
                </a:solidFill>
                <a:latin typeface="맑은 고딕"/>
              </a:rPr>
              <a:t>📋 사이드바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PDF 업로드 (file_uploader)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모델 선택 (selectbox)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초기화 버튼 (button)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3A5F"/>
                </a:solidFill>
                <a:latin typeface="맑은 고딕"/>
              </a:rPr>
              <a:t>💬 메인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대화 이력 (st.chat_message)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스트리밍 응답 (st.write_stream)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출처 박스 (st.expander)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질문 입력 (st.chat_input)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⚙️ Backend (Python)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65960"/>
            <a:ext cx="5486400" cy="4114800"/>
          </a:xfrm>
          <a:prstGeom prst="roundRect">
            <a:avLst/>
          </a:prstGeom>
          <a:solidFill>
            <a:srgbClr val="FEF6E5"/>
          </a:solidFill>
          <a:ln w="1905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64A19"/>
                </a:solidFill>
                <a:latin typeface="맑은 고딕"/>
              </a:rPr>
              <a:t>📦 인덱싱 (PDF 업로드 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PyPDFLoader → Document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RecursiveCharacterTextSplitter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Chroma.from_documents(persist)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794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64A19"/>
                </a:solidFill>
                <a:latin typeface="맑은 고딕"/>
              </a:rPr>
              <a:t>🔍 질의 (채팅 입력 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605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retriever.invoke(question)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LCEL 체인 + 대화이력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llm.stream() → 토큰 단위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RAG 앱 아키텍처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PDF 업로드 → 자동 인덱싱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Streamlit file_uploader + LangChain 통합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338560" cy="4572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1119104" cy="4425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import streamlit as st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import tempfile, os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langchain_community.document_loaders import PyPDFLoader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langchain.text_splitter import RecursiveCharacterTextSplitter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langchain_chroma import Chroma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langchain_openai import OpenAIEmbeddings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1) 사이드바에 PDF 업로드 위젯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with st.sidebar: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uploaded_files = st.file_uploader(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"PDF 업로드", type=["pdf"], accept_multiple_files=True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2) 업로드되면 인덱싱 — @st.cache_resource로 한 번만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@st.cache_resource(show_spinner="📚 PDF 인덱싱 중...")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def build_vectorstore(files):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docs = []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for f in files: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# 임시 파일로 저장 (PyPDFLoader는 경로 필요)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with tempfile.NamedTemporaryFile(delete=False, suffix=".pdf") as tmp: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tmp.write(f.read())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tmp_path = tmp.name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docs.extend(PyPDFLoader(tmp_path).load())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os.unlink(tmp_path)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chunks = RecursiveCharacterTextSplitter(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chunk_size=500, chunk_overlap=50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).split_documents(docs)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return Chroma.from_documents(chunks, OpenAIEmbeddings())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vectorstore = build_vectorstore(uploaded_files) if uploaded_files else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PDF 업로드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Chat UI + 대화 이력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st.chat_message + st.session_state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338560" cy="4572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1119104" cy="4425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import streamlit as st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1) 세션 상태 초기화 (앱 새로고침해도 유지)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if "messages" not in st.session_state: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st.session_state.messages = []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2) 기존 대화 이력 표시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for msg in st.session_state.messages: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with st.chat_message(msg["role"]):     # "user" or "assistant"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st.markdown(msg["content"])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# 출처가 있으면 expander로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if msg.get("sources"):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with st.expander("📚 출처 보기"):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    for src in msg["sources"]: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        st.markdown(f"- {src}")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3) 사용자 입력 받기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if user_q := st.chat_input("PDF에 대해 물어보세요"):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# 유저 메시지 저장 + 표시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st.session_state.messages.append(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{"role": "user", "content": user_q}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with st.chat_message("user"):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st.markdown(user_q)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# 어시스턴트 답변 — 다음 슬라이드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Chat UI + 이력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스트리밍 응답 + 출처 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LCEL chain.stream() + st.write_stream()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338560" cy="4572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1119104" cy="4425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(이어서) 어시스턴트 답변 생성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with st.chat_message("assistant"):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# 1) Retrieve — 검색해서 컨텍스트 확보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retrieved = vectorstore.as_retriever(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search_kwargs={"k": 3}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).invoke(user_q)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# 2) LCEL 체인 (이전 슬라이드 참고)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chain = build_lcel_chain(vectorstore, llm)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# 3) 스트리밍 출력 — st.write_stream이 generator를 받아 토큰 단위 렌더링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answer = st.write_stream(chain.stream(user_q))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# 4) 출처 표시 (expander로 접어둠)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sources = []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with st.expander("📚 출처 보기 (Top-3)"):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for i, doc in enumerate(retrieved, 1):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src = doc.metadata.get("source", "?")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page = doc.metadata.get("page", "?")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preview = doc.page_content[:200] + "..."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st.markdown(f"**[{i}]** `{src}` p.{page}")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st.caption(preview)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sources.append(f"{src} p.{page}")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# 5) 어시스턴트 메시지 저장 (출처 포함)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st.session_state.messages.append({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"role": "assistant",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"content": answer,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"sources": sources,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스트리밍 + 출처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전체 app.py — 한 파일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100줄 안에 완전한 RAG 챗봇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338560" cy="4572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1119104" cy="4425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app.py (100줄 미만)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import streamlit as st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langchain_community.document_loaders import PyPDFLoader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langchain.text_splitter import RecursiveCharacterTextSplitter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langchain_chroma import Chroma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langchain_openai import ChatOpenAI, OpenAIEmbeddings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langchain_core.prompts import ChatPromptTemplate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langchain_core.output_parsers import StrOutputParser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=== 1. 페이지 설정 ===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st.set_page_config(page_title="PDF RAG 챗봇", page_icon="📚", layout="wide")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st.title("📚 PDF RAG 챗봇")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=== 2. 사이드바: 업로드·설정 ===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with st.sidebar: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uploaded = st.file_uploader("PDF 업로드", type=["pdf"], accept_multiple_files=True)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model = st.selectbox("모델", ["gpt-4o-mini", "gpt-4o"])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if st.button("🗑️ 대화 초기화"):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st.session_state.messages = []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st.rerun()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=== 3. 인덱싱 (캐시) ===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vectorstore = build_vectorstore(uploaded) if uploaded else None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=== 4. LCEL 체인 ===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chain = build_chain(vectorstore, model) if vectorstore else None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=== 5. 대화 이력 + 채팅 UI ===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if "messages" not in st.session_state: st.session_state.messages = []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for msg in st.session_state.messages: render(msg)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if user_q := st.chat_input("PDF에 대해 물어보세요"):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handle_user_query(user_q, chain, vectorstore)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전체 app.py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requirements.txt + 로컬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streamlit run 한 줄로 시작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📦 requirements.txt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5486400" cy="32004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039112"/>
            <a:ext cx="5266944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DCDCDC"/>
                </a:solidFill>
                <a:latin typeface="Consolas"/>
              </a:rPr>
              <a:t>streamlit&gt;=1.30.0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DCDCDC"/>
                </a:solidFill>
                <a:latin typeface="Consolas"/>
              </a:rPr>
              <a:t>langchain&gt;=0.2.0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DCDCDC"/>
                </a:solidFill>
                <a:latin typeface="Consolas"/>
              </a:rPr>
              <a:t>langchain-openai&gt;=0.1.0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DCDCDC"/>
                </a:solidFill>
                <a:latin typeface="Consolas"/>
              </a:rPr>
              <a:t>langchain-chroma&gt;=0.1.0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DCDCDC"/>
                </a:solidFill>
                <a:latin typeface="Consolas"/>
              </a:rPr>
              <a:t>langchain-community&gt;=0.2.0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DCDCDC"/>
                </a:solidFill>
                <a:latin typeface="Consolas"/>
              </a:rPr>
              <a:t>chromadb&gt;=0.4.0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DCDCDC"/>
                </a:solidFill>
                <a:latin typeface="Consolas"/>
              </a:rPr>
              <a:t>pypdf&gt;=4.0.0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DCDCDC"/>
                </a:solidFill>
                <a:latin typeface="Consolas"/>
              </a:rPr>
              <a:t>sentence-transformers&gt;=2.7.0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DCDCDC"/>
                </a:solidFill>
                <a:latin typeface="Consolas"/>
              </a:rPr>
              <a:t>python-dotenv&gt;=1.0.0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🚀 로컬 실행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965960"/>
            <a:ext cx="5486400" cy="2286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039112"/>
            <a:ext cx="5266944" cy="2139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1) 가상환경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python -m venv venv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source venv/bin/activate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2) 설치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pip install -r requirements.txt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3) API 키 (.env)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echo "OPENAI_API_KEY=sk-..." &gt; .env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4) 실행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streamlit run app.py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34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7AE60"/>
                </a:solidFill>
                <a:latin typeface="맑은 고딕"/>
              </a:rPr>
              <a:t>✅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브라우저 자동 열림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http://localhost:8501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Streamlit Cloud — 한 클릭 무료 배포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GitHub 연동 → 즉시 공개 URL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📐 배포 4단계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260604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1. GitHub 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코드를 public/private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레포지토리에 push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057400"/>
            <a:ext cx="260604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2. share.streamlit.io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7889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Streamlit Cloud 가입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(GitHub OAuth)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057400"/>
            <a:ext cx="260604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3. New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7889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레포 선택 + app.py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경로 지정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2057400"/>
            <a:ext cx="260604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4. Secrets 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7889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OPENAI_API_KEY 등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web UI에서 입력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🌐 결과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26280"/>
            <a:ext cx="11338560" cy="9144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599432"/>
            <a:ext cx="1111910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DCDCDC"/>
                </a:solidFill>
                <a:latin typeface="Consolas"/>
              </a:rPr>
              <a:t>https://&lt;your-app-name&gt;.streamlit.app  (공개 URL, 무료)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💡 무료 한도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공개 앱 무제한 · Private 앱 1개 · 1GB RAM · 1 CPU — 학습·MVP용으로 충분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배포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API Key 안전 관리 — 절대 코드에 박지 말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로컬은 .env / Streamlit Cloud는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🏠 로컬 (.env 파일)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5486400" cy="21945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039112"/>
            <a:ext cx="5266944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.env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OPENAI_API_KEY=sk-proj-...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HUGGINGFACEHUB_API_TOKEN=hf_...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app.py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dotenv import load_dotenv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load_dotenv()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.gitignore에 .env 추가 필수!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☁️ Streamlit Cloud (Secrets)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965960"/>
            <a:ext cx="5486400" cy="21945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039112"/>
            <a:ext cx="5266944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.streamlit/secrets.toml (Cloud UI에서 입력)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OPENAI_API_KEY = "sk-proj-..."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app.py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import streamlit as st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api_key = st.secrets["OPENAI_API_KEY"]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또는 환경변수처럼 자동 주입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맑은 고딕"/>
              </a:rPr>
              <a:t>⚠️ 안전 체크리스트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338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.env가 .gitignore에 포함됐는지 확인 (git push 전!)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Public 레포면 절대 .env commit 금지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키 노출 의심 시 즉시 OpenAI 대시보드에서 revoke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사용량 알람 설정 (월 한도 $10 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API Key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운영 팁 — 캐싱 · 비용 ·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MVP에서 실서비스로 가는 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338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5080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구체 팁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효과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080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캐싱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@st.cache_resource로 vectorstore·llm 1회만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앱 응답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캐싱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@st.cache_data로 비싼 함수 결과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비용 ↓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080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스트리밍으로 사용자 체감 빠르게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UX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기본 gpt-4o-mini, 어려운 질문만 gpt-4o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비용 ↓ 90%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080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max_tokens 설정 (예: 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예측 가능 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UX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스피너 (st.spinner) 로 진행 상황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대기 체감 ↓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080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에러 처리 (try/except + st.error)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사용자 친화적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UX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사이드바 "대화 초기화" 버튼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긴 대화 후 리셋 편의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운영 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확장 아이디어 — 본 RAG 챗봇 + 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이 위에 무엇을 더 얹을 수 있나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286000" cy="77724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멀티 파일·폴더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7373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현재는 PDF 1개 → 여러 PDF·디렉토리 통째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2286000" cy="7772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도메인별 컬렉션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7373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Chroma collection 분리 — 사이드바에서 선택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2286000" cy="7772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Advanced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6517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Reranking, Ensemble 추가 (다음주 Day 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468880"/>
            <a:ext cx="2286000" cy="7772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RAG 평가 메트릭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6517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답변 품질 자동 평가 (다음주 Day 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83280"/>
            <a:ext cx="2286000" cy="7772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인증/사용자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5661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Streamlit-Authenticator로 로그인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383280"/>
            <a:ext cx="2286000" cy="77724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API화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5661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FastAPI 뒤에 두고 React 프론트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350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E64A19"/>
                </a:solidFill>
                <a:latin typeface="맑은 고딕"/>
              </a:rPr>
              <a:t>🎯 본 app.py를 기반으로 도메인·기능을 점진적으로 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확장 아이디어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흔한 문제 &amp; 해결 —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수업 중 자주 나오는 에러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338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5715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증상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원인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해결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715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맑은 고딕"/>
                        </a:rPr>
                        <a:t>API key 401 에러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.env 미로드 또는 placeholder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load_dotenv() + .env 실제 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맑은 고딕"/>
                        </a:rPr>
                        <a:t>Quota exceeded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OpenAI 크레딧 소진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Billing 충전 또는 Ollama 전환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715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E64A19"/>
                          </a:solidFill>
                          <a:latin typeface="맑은 고딕"/>
                        </a:rPr>
                        <a:t>답변이 엉뚱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검색 품질 낮음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청크 크기 / 임베딩 모델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E64A19"/>
                          </a:solidFill>
                          <a:latin typeface="맑은 고딕"/>
                        </a:rPr>
                        <a:t>답변이 짧음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max_tokens 너무 작음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max_tokens 500~1000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715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E64A19"/>
                          </a:solidFill>
                          <a:latin typeface="맑은 고딕"/>
                        </a:rPr>
                        <a:t>앱이 느림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인덱싱 매번 재실행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@st.cache_resource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E64A19"/>
                          </a:solidFill>
                          <a:latin typeface="맑은 고딕"/>
                        </a:rPr>
                        <a:t>한글 깨짐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Streamlit 폰트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st.markdown 그대로 사용 OK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715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맑은 고딕"/>
                        </a:rPr>
                        <a:t>Chroma 충돌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디스크 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persist_directory 분리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Troubleshooting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Session 28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노트북 → 웹 서비스까지 끝까지 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011680" cy="54864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Document Loaders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6459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PDF·웹·CSV 통일된 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2011680" cy="5486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Text Splitters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459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RecursiveCharacterTextSplitter 1순위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12848"/>
            <a:ext cx="201168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VectorStore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30428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Chroma·FAISS·pgvector 자유 교체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212848"/>
            <a:ext cx="2011680" cy="5486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RetrievalQA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30428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가장 단순한 RAG 체인 (1줄)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71216"/>
            <a:ext cx="20116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Conversational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962656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멀티턴 대화 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71216"/>
            <a:ext cx="2011680" cy="54864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LCEL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962656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모던 패턴, 스트리밍/배치 무료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29584"/>
            <a:ext cx="2011680" cy="54864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Streamlit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62102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Python만으로 챗봇 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529584"/>
            <a:ext cx="2011680" cy="5486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배포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62102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Streamlit Cloud 무료 한 클릭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37760"/>
            <a:ext cx="11338560" cy="146304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🛠️ 실습 체크 (28_rag_practice.ipynb + Streamlit 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✅ RetrievalQA → LCEL 두 방식으로 같은 RAG 구현 비교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✅ Streamlit 앱 로컬 실행 → 본인 PDF 업로드 → 질문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✅ (선택) GitHub push → Streamlit Cloud 배포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정리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1일차 끝 — 2일차는 Advanced RAG + Graph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기본 RAG를 한 단계 끌어올린다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i="0">
                <a:solidFill>
                  <a:srgbClr val="222222"/>
                </a:solidFill>
                <a:latin typeface="맑은 고딕"/>
              </a:rPr>
              <a:t>오늘 만든 PDF RAG 챗봇은 "기본 RAG" 입니다.</a:t>
            </a:r>
          </a:p>
          <a:p>
            <a:pPr algn="ctr">
              <a:lnSpc>
                <a:spcPct val="150000"/>
              </a:lnSpc>
            </a:pPr>
            <a:r>
              <a:rPr sz="1600" b="0" i="0">
                <a:solidFill>
                  <a:srgbClr val="222222"/>
                </a:solidFill>
                <a:latin typeface="맑은 고딕"/>
              </a:rPr>
              <a:t>내일은 그 위에 정밀도(Advanced)와 관계 추론(Graph)을 얹습니다.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5577840" cy="237744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4A90E2"/>
                </a:solidFill>
                <a:latin typeface="맑은 고딕"/>
              </a:rPr>
              <a:t>🌅 2일차 오전 — Advanced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HyDE (의미 갭 해결)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Reranking (가성비 1위)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Ensemble (BM25 + Semantic)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Parent Document (맥락 풍부)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17520"/>
            <a:ext cx="5577840" cy="237744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🌆 2일차 오후 — Graph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947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Knowledge Graph 개념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Neo4j + Cypher 쿼리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GraphCypherQAChain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다중 홉 추론 (벡터가 못 푸는 질문)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🔑 핵심: "검색의 정밀도"(오전) 와 "검색의 차원"(오후) 모두 확장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1일차 오후 · Session 28 · 2일차 예고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i="0">
                <a:solidFill>
                  <a:srgbClr val="666666"/>
                </a:solidFill>
                <a:latin typeface="맑은 고딕"/>
              </a:rPr>
              <a:t>수고하셨습니다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 i="0">
                <a:solidFill>
                  <a:srgbClr val="1F3A5F"/>
                </a:solidFill>
                <a:latin typeface="맑은 고딕"/>
              </a:rPr>
              <a:t>1일차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47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>오늘 만든 PDF RAG 챗봇은 여러분의 것입니다.</a:t>
            </a:r>
          </a:p>
          <a:p>
            <a:pPr algn="ctr">
              <a:lnSpc>
                <a:spcPct val="155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>그 답변이 얼마나 정확한지는 여러분이 청크와 인덱스를</a:t>
            </a:r>
          </a:p>
          <a:p>
            <a:pPr algn="ctr">
              <a:lnSpc>
                <a:spcPct val="155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>얼마나 잘 설계했느냐에 달려 있습니다.</a:t>
            </a:r>
          </a:p>
          <a:p>
            <a:pPr algn="ctr">
              <a:lnSpc>
                <a:spcPct val="155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ctr">
              <a:lnSpc>
                <a:spcPct val="155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>내일은 그 위에 "더 똑똑한 검색" 을 올립니다.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5303520"/>
            <a:ext cx="5760720" cy="1097280"/>
          </a:xfrm>
          <a:prstGeom prst="round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📅 다음주</a:t>
            </a:r>
          </a:p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Advanced RAG + Graph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666666"/>
                </a:solidFill>
                <a:latin typeface="맑은 고딕"/>
              </a:rPr>
              <a:t>Streamlit 앱은 본인 도메인 PDF로 계속 키워보세요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