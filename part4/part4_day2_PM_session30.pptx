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828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C88A"/>
                </a:solidFill>
                <a:latin typeface="맑은 고딕"/>
              </a:rPr>
              <a:t>Part 4 · 2일차 · 오후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FFFFFF"/>
                </a:solidFill>
                <a:latin typeface="맑은 고딕"/>
              </a:rPr>
              <a:t>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CFDAE8"/>
                </a:solidFill>
                <a:latin typeface="맑은 고딕"/>
              </a:rPr>
              <a:t>Knowledge Graph + Neo4j + Cypher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FFFFF"/>
                </a:solidFill>
                <a:latin typeface="맑은 고딕"/>
              </a:rPr>
              <a:t>벡터 RAG는 "의미" 를 본다. Graph RAG는 "관계" 를 본다.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FFFFF"/>
                </a:solidFill>
                <a:latin typeface="맑은 고딕"/>
              </a:rPr>
              <a:t>다중 홉 추론과 관계 패턴 매칭으로 벡터가 못 푸는 질문에 답한다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본 세션의 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Knowledge Graph 개념 → Neo4j 실습 → LangChain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📋 학습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벡터 RAG의 또 다른 한계 진단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Knowledge Graph 개념 (Node/Edge/Triple)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RDF vs Property Graph 모델 비교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Neo4j + Cypher 쿼리 언어 기초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LangChain GraphCypherQAChain — 자연어→Cypher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MS GraphRAG — LLM 기반 자동 KG 구축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Vector vs Graph 선택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🛠️ 학습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146304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벡터 RAG가 못 푸는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146304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개념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53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Knowledge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146304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30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Neo4j + Cypher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146304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5079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LangChain Graph 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120640"/>
            <a:ext cx="146304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285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MS GraphRAG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학습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오전 복습 → 오후의 새 출발점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벡터 RAG의 한계는 정밀도 문제만이 아니다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🌅 오전: 정밀도 차원의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어휘 갭 → HyDE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유사도≠관련성 → Reranking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키워드+시맨틱 → Ensemble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청크-컨텍스트 → Parent Doc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모두 "한 번의 검색 정확도" 를 끌어올림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77840" cy="4114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오후: 추론 차원의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다중 홉 추론 (A→B→C)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관계 패턴 매칭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전체 그래프 구조 활용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사실 + 관계의 결합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Knowledge Graph가 필요한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핵심: "검색 더 잘하기" 가 아니라 "검색의 정의를 바꾸기"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오전→오후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벡터 RAG가 못 푸는 질문 3가지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다중 홉 추론과 관계 추적이 필요한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338560" cy="13716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C0392B"/>
                </a:solidFill>
                <a:latin typeface="맑은 고딕"/>
              </a:rPr>
              <a:t>Q1.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❓ 메타가 인수한 회사들의 현재 CEO는 누구야?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🔍 필요한 추론: 회사 → 인수 → 자회사 → CEO (2-hop)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11338560" cy="13716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C0392B"/>
                </a:solidFill>
                <a:latin typeface="맑은 고딕"/>
              </a:rPr>
              <a:t>Q2.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❓ 이 약 복용 중 환자가 다른 어떤 약과 위험한가?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🔍 필요한 추론: 환자 → 복용약 → 상호작용 → 위험약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338560" cy="13716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C0392B"/>
                </a:solidFill>
                <a:latin typeface="맑은 고딕"/>
              </a:rPr>
              <a:t>Q3.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❓ 우리 회사 임원 중 경쟁사와 거래한 사람 있나?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035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🔍 필요한 추론: 임원 → 거래내역 → 회사 → 경쟁사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공통점: 모두 "한 사실 → 다음 사실 → 또 다음 사실" 의 관계 체인이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벡터 못 푸는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다중 홉(Multi-hop) 추론이란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관계를 따라가는 N단계 추론 — 벡터 검색의 본질적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1-hop (벡터 RAG 가능) vs 2-hop (벡터 RAG 불가)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1-hop: "메타의 CEO는?"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228600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질문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"메타 CEO"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2743200"/>
            <a:ext cx="32004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514600"/>
            <a:ext cx="22860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벡터 검색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206240" y="329184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611880"/>
            <a:ext cx="22860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정답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2-hop: "메타가 인수한 회사들의 CEO는?"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14600"/>
            <a:ext cx="246888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질문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"인수→CEO"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15400" y="2743200"/>
            <a:ext cx="32004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2514600"/>
            <a:ext cx="246888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벡터 검색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424160" y="329184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3611880"/>
            <a:ext cx="2468880" cy="64008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749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❌ 누락 또는 부정확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7AE60"/>
                </a:solidFill>
                <a:latin typeface="맑은 고딕"/>
              </a:rPr>
              <a:t>✅ Graph RAG 해법 — 관계를 따라간다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201168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메타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971800" y="5257800"/>
            <a:ext cx="4114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846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5074920"/>
            <a:ext cx="22860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인스타그램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852160" y="5257800"/>
            <a:ext cx="4114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4846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E64A19"/>
                </a:solidFill>
                <a:latin typeface="맑은 고딕"/>
              </a:rPr>
              <a:t>CEO_OF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074920"/>
            <a:ext cx="22860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아담 모세리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212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맑은 고딕"/>
              </a:rPr>
              <a:t>→ 정답!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다중 홉 추론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Knowledge Graph — Node, Edge, Triple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세상의 사실을 그래프 구조로 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기본 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645920" cy="8229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Subject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(메타)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2377440"/>
            <a:ext cx="91440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874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E64A19"/>
                </a:solidFill>
                <a:latin typeface="맑은 고딕"/>
              </a:rPr>
              <a:t>Predicate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E64A19"/>
                </a:solidFill>
                <a:latin typeface="맑은 고딕"/>
              </a:rPr>
              <a:t>(인수)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2194560" cy="8229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Object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(인스타그램)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Node = 엔티티 (사람·회사·개념)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Edge = 관계 (인수·CEO·근무)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Triple = (S, P, O) 그래프의 최소 단위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Property = 노드·엣지의 속성 (연도·금액)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🌐 미니 KG 예시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228600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메타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114800"/>
            <a:ext cx="22860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인스타그램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4114800"/>
            <a:ext cx="22860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마크 저커버그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772400" y="2331720"/>
            <a:ext cx="457200" cy="178308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515600" y="2331720"/>
            <a:ext cx="182880" cy="178308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32720" y="3017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E64A19"/>
                </a:solidFill>
                <a:latin typeface="맑은 고딕"/>
              </a:rPr>
              <a:t>CEO_OF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9680" y="4434840"/>
            <a:ext cx="7315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💡 노드 3개·엣지 3개로 "메타가 인스타 인수했고 마크가 메타 CEO" 까지 표현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KG 개념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메타 인수 KG — 실제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여러 관계가 얽히면 추론이 가능해진다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3017520"/>
            <a:ext cx="1828800" cy="8229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메타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(Meta Inc.)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8288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인스타그램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(2012)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28800"/>
            <a:ext cx="18288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왓츠앱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(2014)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5029200"/>
            <a:ext cx="18288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Oculus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(2014)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18288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아담 모세리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4114800"/>
            <a:ext cx="18288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윌 캐스카트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029200"/>
            <a:ext cx="18288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마크 저커버그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148840"/>
            <a:ext cx="2468880" cy="11430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040880" y="2148840"/>
            <a:ext cx="2377440" cy="11430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3840480"/>
            <a:ext cx="0" cy="11887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28800" y="2514600"/>
            <a:ext cx="0" cy="16002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20240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E64A19"/>
                </a:solidFill>
                <a:latin typeface="맑은 고딕"/>
              </a:rPr>
              <a:t>CEO_OF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32720" y="2514600"/>
            <a:ext cx="0" cy="16002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24160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E64A19"/>
                </a:solidFill>
                <a:latin typeface="맑은 고딕"/>
              </a:rPr>
              <a:t>CEO_OF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114800" y="3749039"/>
            <a:ext cx="1097280" cy="1280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31920" y="4206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E64A19"/>
                </a:solidFill>
                <a:latin typeface="맑은 고딕"/>
              </a:rPr>
              <a:t>CEO_OF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💡 이 그래프 위에서 "메타가 인수한 회사의 CEO는?" → 메타→ACQUIRED→[3개]→CEO_OF 한 번에 풀림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메타 KG 예시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KG vs 일반 RDB — 왜 그래프인가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JOIN으로도 되지만 효율과 표현력이 다르다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1435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전통 RDB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Knowledge Graph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데이터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테이블 (행/열)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노드 + 엣지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관계 표현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Foreign Key + JOIN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Edge로 직접 (1급 시민)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관계 깊이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JOIN N번 = N-hop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MATCH 한 패턴으로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스키마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사전 정의 엄격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유연 (스키마-라이트)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대규모 traversal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C0392B"/>
                          </a:solidFill>
                          <a:latin typeface="맑은 고딕"/>
                        </a:rPr>
                        <a:t>JOIN 폭발 (느려짐)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네이티브 그래프 알고리즘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복잡한 관계 분석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C0392B"/>
                          </a:solidFill>
                          <a:latin typeface="맑은 고딕"/>
                        </a:rPr>
                        <a:t>어려움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자연스러움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단순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RDB만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"관계가 데이터의 핵심" 인 도메인 → KG 압도적 (소셜·추천·사기탐지·의약)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KG vs RDB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두 가지 KG 모델 — RDF vs Property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Neo4j는 Property Graph 진영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1435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RDF (Semantic Web)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Property Graph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표준화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W3C 표준 (RDF/OWL)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사실상 표준 (Cypher)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기본 단위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Triple만 (S-P-O)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Node + Edge + 속성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속성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C0392B"/>
                          </a:solidFill>
                          <a:latin typeface="맑은 고딕"/>
                        </a:rPr>
                        <a:t>별도 Triple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Node/Edge에 직접 key=val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쿼리 언어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SPARQL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Cypher (시각적·직관적)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대표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Apache Jena, Stardog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Neo4j,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추론기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강력 (RDFS/OWL)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약함 (외부 도구)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주 사용처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학계·의료·온톨로지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산업·추천·사기탐지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본 세션: Property Graph + Neo4j + Cypher  (RDF는 Session 31에서)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RDF vs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Graph RAG 파이프라인 —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Phase 1 (구축) + Phase 2 (질의)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Phase 1 — KG 구축 (미리 한 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10312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텍스트 문서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219456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965960"/>
            <a:ext cx="27432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(Entity/Relation 추출)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219456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210312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Triples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66760" y="219456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1965960"/>
            <a:ext cx="30175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Neo4j (그래프 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🔍 Phase 2 — 질의 (매번)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210312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자연어 질문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06040" y="3977639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3749039"/>
            <a:ext cx="246888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(NL → Cypher)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32120" y="3977639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0" y="3749039"/>
            <a:ext cx="22860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Neo4j 실행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275320" y="3977639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0" y="3749039"/>
            <a:ext cx="310896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결과 → LLM 답변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🔑 핵심 인사이트: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    • 1단계는 "한 번" 무겁게 — 텍스트를 LLM이 구조화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    • 2단계는 "매번" 가볍게 — LLM이 Cypher 만들면 Neo4j가 정확히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전체 파이프라인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Phase 1 ① Entity 추출 — 텍스트에서 노드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전통 NER → LLM 직접 추출로 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📄 입력 텍스트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486400" cy="2194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"메타는 2012년 인스타그램을</a:t>
            </a:r>
          </a:p>
          <a:p>
            <a:pPr algn="l">
              <a:lnSpc>
                <a:spcPct val="160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10억 달러에 인수했다.</a:t>
            </a:r>
          </a:p>
          <a:p>
            <a:pPr algn="l">
              <a:lnSpc>
                <a:spcPct val="160000"/>
              </a:lnSpc>
            </a:pPr>
            <a:r>
              <a:rPr sz="1400" b="0" i="1">
                <a:solidFill>
                  <a:srgbClr val="222222"/>
                </a:solidFill>
                <a:latin typeface="맑은 고딕"/>
              </a:rPr>
              <a:t>마크 저커버그가 CEO이다."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5040" y="2834640"/>
            <a:ext cx="457200" cy="36576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추출된 Entities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965960"/>
            <a:ext cx="24688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메타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075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:Company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560320"/>
            <a:ext cx="246888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인스타그램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70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:Company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154680"/>
            <a:ext cx="2468880" cy="5029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마크 저커버그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644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:Person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749040"/>
            <a:ext cx="2468880" cy="5029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10억 달러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858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:Money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343400"/>
            <a:ext cx="2468880" cy="5029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2012년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4531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:Year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📊 추출 방식 비교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5029200"/>
          <a:ext cx="11338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572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spaCy 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빠름, 무료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일반 명사만, 도메인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LLM (gpt-4o-mini)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유연, 정확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E64A19"/>
                          </a:solidFill>
                          <a:latin typeface="맑은 고딕"/>
                        </a:rPr>
                        <a:t>API 비용, 느림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Entity 추출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Phase 1 ② Relation 추출 — 엣지(관계)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엔티티 사이의 관계를 자동 식별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같은 문장에서 추출된 Triples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92608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메타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29000" y="228600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2128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29400" y="228600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2103120"/>
            <a:ext cx="32004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인스타그램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292608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메타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306324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9900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ACQUIRED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29400" y="306324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2880360"/>
            <a:ext cx="32004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왓츠앱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292608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마크 저커버그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29000" y="38404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37673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CEO_OF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29400" y="38404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40880" y="3657600"/>
            <a:ext cx="320040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메타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292608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인스타그램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29000" y="46177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5445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ACQUISITION_YEAR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29400" y="46177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4434840"/>
            <a:ext cx="3200400" cy="64008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2012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💡 관계의 종류 (스키마 제약)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864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사전 정의 (allowed_relationships) — 정확도↑, 누락 가능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자유 (LLM 알아서) — 누락↓, 일관성↓ (같은 관계가 다른 이름)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Best Practice: 도메인 핵심 관계 ~10개 사전 정의 + 나머지는 자유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Relation 추출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LLM으로 KG 구축 — LangChain LLMGraphTransformer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한 줄로 텍스트 →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langchain_experimental.graph_transformers import LLMGraphTransformer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langchain_openai import ChatOpenAI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langchain_core.documents import Document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llm = ChatOpenAI(model="gpt-4o-mini")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스키마 제약 (선택)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transformer = LLMGraphTransformer(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llm=llm,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allowed_nodes=["Company", "Person", "Product"],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allowed_relationships=["ACQUIRED", "CEO_OF", "FOUNDED"],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문서 입력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docs = [Document(page_content=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"메타는 2012년 인스타그램을 10억 달러에 인수했다. 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"마크 저커버그가 CEO이다."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변환 — Nodes + Relationships 자동 추출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graph_docs = transformer.convert_to_graph_documents(docs)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print(graph_docs[0].nodes)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[Node(id='메타', type='Company'),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 Node(id='인스타그램', type='Company'),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 Node(id='마크 저커버그', type='Person')]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print(graph_docs[0].relationships)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[Rel(source='메타', target='인스타그램', type='ACQUIRED'),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 Rel(source='마크 저커버그', target='메타', type='CEO_OF')]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다음 단계: graph.add_graph_documents(graph_docs) 한 줄로 Neo4j에 적재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LLMGraphTransformer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Neo4j — Property Graph DB의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2007년 시작, Cypher 쿼리 언어, 산업 표준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Property Graph 모델 + Cypher 쿼리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Node/Edge에 라벨 + 임의 속성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ACID 트랜잭션 지원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Neo4j Browser — 그래프 시각화 UI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APOC — 유틸리티 라이브러리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GDS — Graph Data Science (커뮤니티·중심성)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Community Edition 무료 (GPL)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Aura — 클라우드 무료 인스턴스 제공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🐳 Docker로 한 줄 설치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486400" cy="1828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39112"/>
            <a:ext cx="5266944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docker run -d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--name neo4j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-p 7474:7474 -p 7687:7687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-e NEO4J_AUTH=neo4j/password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neo4j:5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🌐 접속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343400"/>
            <a:ext cx="5486400" cy="13716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4416552"/>
            <a:ext cx="5266944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Browser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http://localhost:7474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Bolt (코드에서 연결)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bolt://localhost:7687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💡 무료 클라우드: Neo4j Aura Free (DB 1개, 가입만)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Neo4j 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Cypher 문법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MATCH 패턴으로 그래프를 "그림처럼" 쿼리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Cypher 표기법 — 그래프 그림을 그대로 ASCII로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286000" cy="9144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(m:Company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{name:'메타'})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노드 = 괄호 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31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Consolas"/>
              </a:rPr>
              <a:t>-[:ACQUIRED]-&gt;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관계 = 대괄호 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194560"/>
            <a:ext cx="228600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(c:Company)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📋 주요 키워드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617720"/>
          <a:ext cx="11338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347472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키워드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예시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패턴 매칭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MATCH (n:Person) RETURN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WHERE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필터 조건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WHERE n.age &gt; 30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34747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반환할 컬럼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RETURN n.name, n.age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CREATE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노드/관계 생성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CREATE (p:Person {name:'홍길동'})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Cypher 기초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Cypher 패턴 ① 단순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특정 노드 찾기 / 인접 노드 찾기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Q1. 모든 회사 이름 (단순 노드 검색)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338560" cy="914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1111910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(c:Company)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c.name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Q2. "메타" 와 직접 연결된 모든 노드 (1-hop)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11338560" cy="13716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93592"/>
            <a:ext cx="11119104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(m:Company {name:'메타'})-[r]-(n)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type(r) AS 관계, n.name AS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Q3. "메타가 인수한" 회사들만 (관계 방향 지정)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86400"/>
            <a:ext cx="11338560" cy="914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559552"/>
            <a:ext cx="1111910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(m:Company {name:'메타'})-[:ACQUIRED]-&gt;(c:Company)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c.name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Cypher 단순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Cypher 패턴 ② 다중 홉 traversal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Graph RAG의 진짜 힘 — N-hop을 한 패턴으로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Q1. 메타가 인수한 회사의 CEO (2-hop)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338560" cy="12801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11119104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(m:Company {name:'메타'})-[:ACQUIRED]-&gt;(c:Company)&lt;-[:CEO_OF]-(p:Person)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c.name AS 회사, p.name AS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Q2. 메타에서 1~3홉 떨어진 모든 노드 (가변 길이)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11338560" cy="12801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959352"/>
            <a:ext cx="11119104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path = (m:Company {name:'메타'})-[*1..3]-(n)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n.name, length(path) AS hops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🔄 SQL이면 어땠을까? (5-way JOIN 필요)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06440"/>
            <a:ext cx="11338560" cy="7772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119104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SELECT p.name FROM companies c1 JOIN acquisitions a ON c1.id=a.acquirer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JOIN companies c2 ON a.acquired=c2.id JOIN leadership l ON l.company=c2.id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JOIN people p ON l.person=p.id WHERE c1.name='메타';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Cypher 다중 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Cypher 패턴 ③ 집계 + 필터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WHERE · count · ORDER BY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Q1. 각 회사가 인수한 자회사 수 (집계)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338560" cy="12801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11119104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(parent:Company)-[:ACQUIRED]-&gt;(child:Company)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parent.name, count(child) AS 인수횟수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ORDER BY 인수횟수 DESC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Q2. 2010년 이후 10억 달러 이상 인수 (WHERE 필터)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11338560" cy="14630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959352"/>
            <a:ext cx="11119104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(a:Company)-[r:ACQUIRED]-&gt;(b:Company)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WHERE r.year &gt;= 2010 AND r.amount_usd &gt;= 1000000000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a.name AS 인수자, b.name AS 피인수, r.year, r.amount_usd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ORDER BY r.amount_usd DESC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Q3. "메타" 인수 횟수만 (조건부 집계)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89320"/>
            <a:ext cx="11338560" cy="6400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062472"/>
            <a:ext cx="11119104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(m:Company {name:'메타'})-[:ACQUIRED]-&gt;(c) RETURN count(c)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Cypher 집계·필터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Cypher vs SQL — 같은 작업, 다른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2-hop 추론을 어떻게 표현하는가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❓ 문제: "메타가 인수한 회사들의 CEO 이름은?"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🔴 SQL (5-way JOIN)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486400" cy="3200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679192"/>
            <a:ext cx="52669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SELECT p.name AS ceo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  companies c1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JOIN   acquisitions a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ON c1.id = a.acquirer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JOIN   companies c2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ON a.acquired = c2.id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JOIN   leadership l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ON l.company = c2.id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JOIN   people p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ON l.person = p.id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WHERE  c1.name = '메타'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AND  l.role = 'CEO';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맑은 고딕"/>
              </a:rPr>
              <a:t>🟢 Cypher (한 패턴)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06040"/>
            <a:ext cx="5486400" cy="3200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679192"/>
            <a:ext cx="52669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(m:Company {name:'메타'})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-[:ACQUIRED]-&gt;(c:Company)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&lt;-[:CEO_OF]-(p:Person)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p.name AS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Cypher는 그래프를 "그림으로" 표현 — 5-way JOIN의 복잡성이 사라짐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Cypher vs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LangChain GraphCypherQAChain —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LLM이 자연어를 Cypher로 자동 번역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338560" cy="7315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1">
                <a:solidFill>
                  <a:srgbClr val="E64A19"/>
                </a:solidFill>
                <a:latin typeface="맑은 고딕"/>
              </a:rPr>
              <a:t>"Cypher를 몰라도 됨 — LLM이 스키마 보고 알아서 만들어줌"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동작 흐름 4단계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2560320" cy="10972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자연어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2560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"메타가 인수한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회사 CEO는?"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35808" y="3611880"/>
            <a:ext cx="329184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3200400"/>
            <a:ext cx="256032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+ 스키마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2560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→ MATCH ...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   RETURN p.name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3611880"/>
            <a:ext cx="329184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200400"/>
            <a:ext cx="256032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Neo4j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2560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[{'p.name':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  '아담 모세리'},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 ...]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87968" y="3611880"/>
            <a:ext cx="329184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3200400"/>
            <a:ext cx="2560320" cy="10972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답변 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389120"/>
            <a:ext cx="2560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"메타는 인스타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(아담), 왓츠앱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(윌) 인수"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GraphCypherQAChain 개념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GraphCypherQAChain —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한 화면 안에 다 들어가는 RAG with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7548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langchain_neo4j import Neo4jGraph, GraphCypherQAChain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langchain_openai import ChatOpenAI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Neo4j 연결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graph = Neo4jGraph(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url="bolt://localhost:7687",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username="neo4j",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password="password",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스키마 자동 inspect — LLM이 그래프 구조를 알아야 정확한 Cypher 생성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print(graph.schema)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Node properties / Relationships 등 자동 추출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Chain 생성 — LLM이 NL → Cypher → 실행 → NL 답변까지 자동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chain = GraphCypherQAChain.from_llm(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llm=ChatOpenAI(model="gpt-4o", temperature=0),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graph=graph,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verbose=True,                  # Cypher 생성 과정 출력 (디버깅용)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allow_dangerous_requests=True, # READ-only 보장 안 됨 — 운영 시 주의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4) 자연어 질의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 = chain.invoke({"query": "메타가 인수한 회사들의 CEO는 누구야?"})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print(result["result"])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GraphCypherQAChain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LLM이 자연어를 어떻게 Cypher로 바꾸나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스키마 + 프롬프트 + (Few-shot) — 3가지로 정확도 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📥 LLM 입력 —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0" cy="36576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5266944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You are a Neo4j expert.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Schema: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Node Company { name, founded, hq 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Node Person  { name, birth_year 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Relationship: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(Company)-[:ACQUIRED]-&gt;(Company)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(Person)-[:CEO_OF]-&gt;(Company)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Question: 메타가 인수한 회사들의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CEO는 누구야?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Generate ONLY the Cypher,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no explanation: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📤 LLM 출력 — Cypher 쿼리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65960"/>
            <a:ext cx="5486400" cy="2286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039112"/>
            <a:ext cx="526694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MATCH (m:Company {name:'메타'})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-[:ACQUIRED]-&gt;(c:Company)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&lt;-[:CEO_OF]-(p:Person)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RETURN c.name AS company,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p.name AS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정확도 향상 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006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스키마 자동 inspect 활성화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Few-shot 예제 추가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temperature=0 (결정적 출력)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복잡 쿼리는 더 큰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NL→Cypher 변환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Microsoft GraphRAG — 2024년 진화형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LLM이 KG를 자동 구축 + 글로벌 요약까지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🔵 기존 Graph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사람이 KG 미리 구축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Local query만 잘함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글로벌 요약("전체 트렌드는?") 약함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🟠 MS GraphRAG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LLM이 텍스트 → KG 자동 구축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커뮤니티 감지 (Louvain)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계층적 LLM 요약 → 글로벌 질문에 강함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MS GraphRAG 파이프라인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6280"/>
            <a:ext cx="210312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텍스트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원본 문서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78608" y="4709160"/>
            <a:ext cx="10972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80" y="4526280"/>
            <a:ext cx="21031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자동 KG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5257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LLM이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Entity/Rel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추출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18888" y="4709160"/>
            <a:ext cx="10972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4526280"/>
            <a:ext cx="21031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커뮤니티 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57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Louvain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알고리즘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9168" y="4709160"/>
            <a:ext cx="10972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78040" y="4526280"/>
            <a:ext cx="210312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계층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5257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각 커뮤니티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→ LLM 요약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99448" y="4709160"/>
            <a:ext cx="10972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4526280"/>
            <a:ext cx="210312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Local + Global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질의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257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두 유형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질문 모두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E64A19"/>
                </a:solidFill>
                <a:latin typeface="맑은 고딕"/>
              </a:rPr>
              <a:t>🔗 github.com/microsoft/graphrag — Apache 2.0, 빠른 진화 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MS GraphRAG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MS GraphRAG의 두 질문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Local Query vs Global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41148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4A90E2"/>
                </a:solidFill>
                <a:latin typeface="맑은 고딕"/>
              </a:rPr>
              <a:t>📍 Local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특정 엔티티 중심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"메타가 인수한 회사는?"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특정 노드 → 인접 노드 탐색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기존 Graph RAG로도 가능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Cypher MATCH 패턴 한 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✅ 정확하고 빠름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577840" cy="4114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64A19"/>
                </a:solidFill>
                <a:latin typeface="맑은 고딕"/>
              </a:rPr>
              <a:t>🌐 Global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전체 트렌드·요약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"이 문서들의 핵심 주제 5가지?"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전체 KG의 커뮤니티 요약 활용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기존 Graph RAG로는 못함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MS GraphRAG의 핵심 차별점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12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✅ 벡터 RAG가 못 푸는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💡 핵심: "커뮤니티 요약" 이 글로벌 질문의 답변 재료가 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Local vs 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그래프 시각화 — networkx +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검증과 디버깅의 강력한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import networkx as nx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import matplotlib.pyplot as plt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Neo4j 쿼리 결과를 networkx 그래프로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G = nx.DiGraph()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 = graph.query('''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MATCH (m:Company {name:'메타'})-[r:ACQUIRED]-&gt;(c:Company)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RETURN m.name AS src, c.name AS dst, r.year AS year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''')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for row in result: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G.add_edge(row["src"], row["dst"], year=row["year"])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시각화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pos = nx.spring_layout(G, k=2)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nx.draw(G, pos,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with_labels=True,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node_color="lightblue", node_size=2000,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font_family="DejaVu Sans",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arrows=True, arrowsize=20)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엣지 라벨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edge_labels = {(u, v): d["year"] for u, v, d in G.edges(data=True)}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nx.draw_networkx_edge_labels(G, pos, edge_labels=edge_labels)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plt.savefig("graph.png", dpi=150)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💡 "의도한 그래프가 잘 만들어졌는지" 즉시 확인 — 디버깅 필수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Graph RAG 실무 활용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관계가 핵심인 도메인에서 폭발적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53142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도메인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활용 사례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노드/관계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5314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추천 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친구의 친구가 좋아한 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User · Item · LIKED · FRIEND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사기 탐지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이상한 자금 흐름 패턴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Account · Transaction · TRANSFERRED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314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의약품 상호작용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여러 약 동시 복용 시 위험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Drug · Disease · INTERACTS_WITH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법률·컴플라이언스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임원-회사 거래 이해상충 탐지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Person · Company · DEALT_WITH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314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소셜 네트워크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영향력 있는 인플루언서 식별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User · POST · MENTIONED · FOLLOWS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지식 기반 챗봇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사내 위키 + 직원·부서 관계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Doc · Person · Project · OWNS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공통점: 모두 "관계가 의미를 만드는" 도메인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활용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Vector RAG vs Graph RAG — 언제 무엇을 쓰나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도메인 특성에 따라 명확한 정답이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7752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Vector RAG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Graph RAG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추천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FAQ, 매뉴얼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오버스펙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긴 자연어 → 의미 매칭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적합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약함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Vector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다중 홉 추론 (A→B→C)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어려움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**Graph**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관계 패턴 매칭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최적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**Graph**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전체 문서 글로벌 요약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E64A19"/>
                          </a:solidFill>
                          <a:latin typeface="맑은 고딕"/>
                        </a:rPr>
                        <a:t>제한적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MS GraphRAG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**Graph**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고유명사 정확 매칭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E64A19"/>
                          </a:solidFill>
                          <a:latin typeface="맑은 고딕"/>
                        </a:rPr>
                        <a:t>Hybrid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자연스러움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Graph 우위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대량 비구조화 텍스트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구축 부담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구조화된 메타데이터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E64A19"/>
                          </a:solidFill>
                          <a:latin typeface="맑은 고딕"/>
                        </a:rPr>
                        <a:t>필터 가능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자연스러움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Graph 우위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실무 베스트: Vector + Graph 하이브리드 — 두 결과를 모두 LLM에 전달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Vector vs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Session 30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벡터 RAG는 "의미", Graph RAG는 "관계"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286000" cy="8686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벡터 RAG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다중 홉 추론·관계 패턴 매칭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286000" cy="868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83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Node + Edge + Triple로 사실 표현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2286000" cy="868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Neo4j + Cypher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산업 표준, MATCH 패턴으로 직관적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560320"/>
            <a:ext cx="2286000" cy="8686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GraphCypherQAChain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자연어 → Cypher → 답변 자동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2286000" cy="868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MS GraphRAG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94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자동 KG + 글로벌 요약 (2024)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11338560" cy="16459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🛠️ 실습 체크 (30_graph_rag.ipynb)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Neo4j Docker 또는 Aura Free 인스턴스 띄우기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회사·인물 텍스트 → LLMGraphTransformer로 KG 자동 구축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GraphCypherQAChain으로 다중 홉 질의 5개 이상 실험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벡터 RAG와 Graph RAG에 같은 질문 → 답변 차이 정성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2일차 끝 — 3일차는 Ontology RAG +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추론까지 + 정량 평가로 RAG의 마지막 그림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2일차에 본 Graph RAG는 "관계" 를 다뤘습니다.</a:t>
            </a:r>
          </a:p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3일차에는 그 위에 "규칙" 과 "평가" 까지 얹습니다.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5577840" cy="22860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90E2"/>
                </a:solidFill>
                <a:latin typeface="맑은 고딕"/>
              </a:rPr>
              <a:t>🌅 3일차 오전 — Ontology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Apache AGE (PG + 그래프)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사실 + 규칙 = 추론 가능 RAG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의료·법률·금융 도메인 활용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577840" cy="22860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3일차 오후 — RAG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RAGAS (자동 평가 프레임워크)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Faithfulness · Answer Relevancy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LLM-as-a-Judge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🔑 핵심: "잘 만들었나" 를 측정해야 "잘 만들고 있다" 고 말할 수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오후 · Session 30 · 3일차 예고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666666"/>
                </a:solidFill>
                <a:latin typeface="맑은 고딕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1F3A5F"/>
                </a:solidFill>
                <a:latin typeface="맑은 고딕"/>
              </a:rPr>
              <a:t>2일차 완료 — Graph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오전 Advanced RAG — 벡터 검색의 정밀도를 끌어올렸고</a:t>
            </a:r>
          </a:p>
          <a:p>
            <a:pPr algn="ctr">
              <a:lnSpc>
                <a:spcPct val="16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오후 Graph RAG — 관계와 다중 홉 추론까지 확장했습니다.</a:t>
            </a:r>
          </a:p>
          <a:p>
            <a:pPr algn="ctr">
              <a:lnSpc>
                <a:spcPct val="16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ctr">
              <a:lnSpc>
                <a:spcPct val="16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이제 RAG의 두 차원 — 의미와 관계 — 모두 손에 들어왔습니다.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120640"/>
            <a:ext cx="5760720" cy="109728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📅 3일차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Ontology RAG + RAG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다음 일정에 만나요~. 추론과 평가로 RAG의 마지막 그림을 완성합니다.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