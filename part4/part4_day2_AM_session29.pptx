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1828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FC88A"/>
                </a:solidFill>
                <a:latin typeface="맑은 고딕"/>
              </a:rPr>
              <a:t>Part 4 · 2일차 · 오전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 i="0">
                <a:solidFill>
                  <a:srgbClr val="FFFFFF"/>
                </a:solidFill>
                <a:latin typeface="맑은 고딕"/>
              </a:rPr>
              <a:t>Advanced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CFDAE8"/>
                </a:solidFill>
                <a:latin typeface="맑은 고딕"/>
              </a:rPr>
              <a:t>HyDE · Reranking · Ensemble · Parent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FFFFFF"/>
                </a:solidFill>
                <a:latin typeface="맑은 고딕"/>
              </a:rPr>
              <a:t>기본 RAG가 70점이라면 — Advanced RAG는 90점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FFFFFF"/>
                </a:solidFill>
                <a:latin typeface="맑은 고딕"/>
              </a:rPr>
              <a:t>5가지 기법 + 보너스 3가지로 검색 품질을 한 단계 끌어올린다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본 세션의 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기본 RAG의 한계 → Advanced RAG 5가지 기법 + 보너스 3가지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3A5F"/>
                </a:solidFill>
                <a:latin typeface="맑은 고딕"/>
              </a:rPr>
              <a:t>📋 학습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기본 RAG의 4가지 실패 패턴 진단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HyDE — 가짜 답변으로 의미 갭 해결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Reranking — 2단계 정밀 검색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Ensemble — 키워드 + 시맨틱 결합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Parent Document — 검색·컨텍스트 분리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보너스: Multi-Query · Self-Query · Decomposition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기법 선택 의사결정 + 실무 권장 조합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3A5F"/>
                </a:solidFill>
                <a:latin typeface="맑은 고딕"/>
              </a:rPr>
              <a:t>🛠️ 5가지 기법 매핑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27432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HyDE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1762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의미 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27432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Reranking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9535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가성비 1위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566160"/>
            <a:ext cx="27432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Ensemble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730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Hybrid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43400"/>
            <a:ext cx="274320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Parent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507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맥락 풍부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120640"/>
            <a:ext cx="274320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Multi/Self-Query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528523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보너스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학습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기본 RAG 파이프라인 — 복습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Session 26·28에서 만든 RAG의 5단계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1280160" cy="91440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2377440"/>
            <a:ext cx="137160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임베딩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encoder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377440"/>
            <a:ext cx="146304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Vector DB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(검색)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377440"/>
            <a:ext cx="1371600" cy="9144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Top-K 문서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377440"/>
            <a:ext cx="137160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Prompt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+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377440"/>
            <a:ext cx="1188720" cy="91440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답변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755648" y="2697480"/>
            <a:ext cx="201168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3355848" y="2697480"/>
            <a:ext cx="201168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047488" y="2697480"/>
            <a:ext cx="201168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647688" y="2697480"/>
            <a:ext cx="201168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247888" y="2697480"/>
            <a:ext cx="201168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💡 각 단계가 "좋아야" 다음 단계가 좋아진다 — 한 단계만 부실해도 답변 품질이 떨어진다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E64A19"/>
                </a:solidFill>
                <a:latin typeface="맑은 고딕"/>
              </a:rPr>
              <a:t>🎯 본 세션은 이 파이프라인의 "검색" 부분을 강화하는 5가지 기법을 다룬다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기본 RAG 복습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기본 RAG의 4가지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어떤 질문에서 RAG가 무너지는가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577840" cy="219456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C0392B"/>
                </a:solidFill>
                <a:latin typeface="맑은 고딕"/>
              </a:rPr>
              <a:t>① 의미 갭(Semantic Gap)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질문과 답변이 같은 의미여도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어휘가 다르면 검색 못 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📌 예: '심장 질환 치료법' →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'심혈관계 약물요법' 못 찾음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577840" cy="219456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C0392B"/>
                </a:solidFill>
                <a:latin typeface="맑은 고딕"/>
              </a:rPr>
              <a:t>② 유사도 ≠ 관련성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Top-K가 다 비슷비슷,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진짜 정답은 6~10위에 묻힘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6324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📌 다양성 부족으로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LLM이 핵심을 놓침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5577840" cy="219456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C0392B"/>
                </a:solidFill>
                <a:latin typeface="맑은 고딕"/>
              </a:rPr>
              <a:t>③ 단일 검색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고유명사·코드명은 키워드가 강하고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자연어는 시맨틱이 강함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📌 둘 중 하나만 쓰면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한쪽 케이스를 항상 놓침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577840" cy="219456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C0392B"/>
                </a:solidFill>
                <a:latin typeface="맑은 고딕"/>
              </a:rPr>
              <a:t>④ 청크 vs 컨텍스트 충돌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7200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작은 청크 = 검색 정확하지만 맥락↓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큰 청크 = 맥락↑이지만 검색 잡음↑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4068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📌 어느 쪽을 선택해도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반대편 손해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한계 진단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한계 ①: 의미 갭(Semantic Gap) —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같은 뜻이라도 어휘가 다르면 임베딩이 멀어진다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0392B"/>
                </a:solidFill>
                <a:latin typeface="맑은 고딕"/>
              </a:rPr>
              <a:t>🚫 문제 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548640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질문: 심장 질환의 치료법은?</a:t>
            </a:r>
          </a:p>
        </p:txBody>
      </p:sp>
      <p:sp>
        <p:nvSpPr>
          <p:cNvPr id="9" name="Down Arrow 8"/>
          <p:cNvSpPr/>
          <p:nvPr/>
        </p:nvSpPr>
        <p:spPr>
          <a:xfrm>
            <a:off x="3017520" y="2651760"/>
            <a:ext cx="320040" cy="36576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54864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임베딩 검색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17520" y="3840480"/>
            <a:ext cx="320040" cy="36576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5486400" cy="146304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0392B"/>
                </a:solidFill>
                <a:latin typeface="맑은 고딕"/>
              </a:rPr>
              <a:t>❌ 검색 결과 (Top-3)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1. "심장 박동의 원리"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2. "심장 모양과 구조"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3. "심장 건강 관리법"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🎯 정작 답이 있는 문서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20240"/>
            <a:ext cx="5486400" cy="1828800"/>
          </a:xfrm>
          <a:prstGeom prst="roundRect">
            <a:avLst/>
          </a:prstGeom>
          <a:solidFill>
            <a:srgbClr val="E8F7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7AE60"/>
                </a:solidFill>
                <a:latin typeface="맑은 고딕"/>
              </a:rPr>
              <a:t>📄 의학 백과사전 47쪽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"심혈관계 약물요법으로는 ACE inhibitor,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베타 차단제, 칼슘 채널 차단제가 표준 1차 치료이며,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중증의 경우 PCI 또는 CABG와 같은 외과적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중재가 고려된다."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🔍 왜 못 찾았나?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"심장 질환" ↔ "심혈관계" — 동의어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"치료법" ↔ "약물요법" — 다른 어휘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임베딩 거리가 멀어 Top-K 밖으로 밀려남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답이 DB에 있는데도 찾지 못함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한계 ① 의미 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한계 ②: 유사도 ≠ 관련성 —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벡터가 가깝다고 답변이 좋은 건 아니다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657600" cy="7315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질문: "LoRA 학습 시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VRAM 절약 방법?"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60520" y="178308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256032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벡터 검색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78040" y="178308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0" y="1554480"/>
            <a:ext cx="4114800" cy="7315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Top-5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맑은 고딕"/>
              </a:rPr>
              <a:t>🚫 Top-5 결과 — 모두 "LoRA 메모리" 키워드만 다른 표현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80"/>
            <a:ext cx="11338560" cy="50292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3A5F"/>
                </a:solidFill>
                <a:latin typeface="맑은 고딕"/>
              </a:rPr>
              <a:t>1위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461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64A19"/>
                </a:solidFill>
                <a:latin typeface="맑은 고딕"/>
              </a:rPr>
              <a:t>유사도 0.92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24612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LoRA를 사용할 때 메모리를 줄이는 방법은…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03320"/>
            <a:ext cx="11338560" cy="50292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3A5F"/>
                </a:solidFill>
                <a:latin typeface="맑은 고딕"/>
              </a:rPr>
              <a:t>2위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947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64A19"/>
                </a:solidFill>
                <a:latin typeface="맑은 고딕"/>
              </a:rPr>
              <a:t>유사도 0.90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79476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LoRA 학습 시 메모리 사용량을 감소시키려면…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51960"/>
            <a:ext cx="11338560" cy="50292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3A5F"/>
                </a:solidFill>
                <a:latin typeface="맑은 고딕"/>
              </a:rPr>
              <a:t>3위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43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64A19"/>
                </a:solidFill>
                <a:latin typeface="맑은 고딕"/>
              </a:rPr>
              <a:t>유사도 0.89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3434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LoRA의 메모리 효율을 높이는 기법으로…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00600"/>
            <a:ext cx="11338560" cy="50292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3A5F"/>
                </a:solidFill>
                <a:latin typeface="맑은 고딕"/>
              </a:rPr>
              <a:t>4위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892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64A19"/>
                </a:solidFill>
                <a:latin typeface="맑은 고딕"/>
              </a:rPr>
              <a:t>유사도 0.87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LoRA 사용 시 GPU 메모리 절약 방법은…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49240"/>
            <a:ext cx="11338560" cy="502920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F3A5F"/>
                </a:solidFill>
                <a:latin typeface="맑은 고딕"/>
              </a:rPr>
              <a:t>5위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406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64A19"/>
                </a:solidFill>
                <a:latin typeface="맑은 고딕"/>
              </a:rPr>
              <a:t>유사도 0.86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440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LoRA 학습에서 메모리 줄이는 팁…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C0392B"/>
                </a:solidFill>
                <a:latin typeface="맑은 고딕"/>
              </a:rPr>
              <a:t>❗ 다섯 개가 사실상 같은 문서 — 다양한 관점이 없고, 6위에 있는 "QLoRA 4bit 양자화" 정답을 놓침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한계 ② 유사도≠관련성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한계 ③: 단일 검색의 한계 — 키워드 vs 시맨틱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어느 하나만 쓰면 반대편 케이스를 놓친다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Case A: 고유명사·코드명 ("Qwen2.5-1.5B")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2651760" cy="1371600"/>
          </a:xfrm>
          <a:prstGeom prst="roundRect">
            <a:avLst/>
          </a:prstGeom>
          <a:solidFill>
            <a:srgbClr val="E8F7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7AE60"/>
                </a:solidFill>
                <a:latin typeface="맑은 고딕"/>
              </a:rPr>
              <a:t>✅ 키워드(BM25)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"Qwen2.5-1.5B" 정확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매칭으로 즉시 찾음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920240"/>
            <a:ext cx="2651760" cy="137160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0392B"/>
                </a:solidFill>
                <a:latin typeface="맑은 고딕"/>
              </a:rPr>
              <a:t>❌ 시맨틱(임베딩)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"1.5B", "Qwen" 등을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부정확하게 매칭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Case B: 자연어 질문 ("심장병 치료법")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920240"/>
            <a:ext cx="2651760" cy="1371600"/>
          </a:xfrm>
          <a:prstGeom prst="roundRect">
            <a:avLst/>
          </a:prstGeom>
          <a:solidFill>
            <a:srgbClr val="E8F7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7AE60"/>
                </a:solidFill>
                <a:latin typeface="맑은 고딕"/>
              </a:rPr>
              <a:t>✅ 시맨틱(임베딩)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23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"심혈관 요법" 등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의미 유사어 자동 매칭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920240"/>
            <a:ext cx="2651760" cy="137160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0392B"/>
                </a:solidFill>
                <a:latin typeface="맑은 고딕"/>
              </a:rPr>
              <a:t>❌ 키워드(BM25)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423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"심장병"이 문서에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없으면 못 찾음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11338560" cy="18288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E64A19"/>
                </a:solidFill>
                <a:latin typeface="맑은 고딕"/>
              </a:rPr>
              <a:t>💡 해법: 두 검색을 함께 쓰는 Ensemble (Hybrid) Retriever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키워드 검색 + 시맨틱 검색을 동시에 실행</a:t>
            </a:r>
          </a:p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두 결과를 Reciprocal Rank Fusion (RRF)으로 결합</a:t>
            </a:r>
          </a:p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• Case A·B 모두 안전하게 커버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한계 ③ 단일 검색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한계 ④: 청크 vs 컨텍스트 충돌 —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검색 정확성과 답변 풍부함의 트레이드오프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🔬 작은 청크 (예: 200자)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5486400" cy="4114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7AE60"/>
                </a:solidFill>
                <a:latin typeface="맑은 고딕"/>
              </a:rPr>
              <a:t>✅ 장점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검색 정확도 높음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관련 부분만 정확히 매칭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검색 노이즈 적음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0392B"/>
                </a:solidFill>
                <a:latin typeface="맑은 고딕"/>
              </a:rPr>
              <a:t>❌ 단점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주변 맥락 부족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LLM이 답변하기에 정보 부족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여러 청크 합쳐도 단편적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📚 큰 청크 (예: 2000자)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74519"/>
            <a:ext cx="5486400" cy="4114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7AE60"/>
                </a:solidFill>
                <a:latin typeface="맑은 고딕"/>
              </a:rPr>
              <a:t>✅ 장점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맥락 풍부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LLM이 충분한 정보로 답변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단일 청크로도 종합적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4903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0392B"/>
                </a:solidFill>
                <a:latin typeface="맑은 고딕"/>
              </a:rPr>
              <a:t>❌ 단점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148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임베딩이 흐려짐 (평균 효과)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검색 정확도 ↓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관련 부분 + 무관 부분 섞임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💡 해법: Parent Document — 작은 청크로 검색 + 큰 청크 부모를 반환 (둘 다 취함)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한계 ④ 청크-컨텍스트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Advanced RAG 해법 매트릭스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어느 한계를 어느 기법이 푸는가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51435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해법 기법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원리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① 의미 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HyDE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LLM이 가짜 답변 생성 → 임베딩이 진짜 답변과 가까워짐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E64A19"/>
                          </a:solidFill>
                          <a:latin typeface="맑은 고딕"/>
                        </a:rPr>
                        <a:t>LLM 1회/쿼리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② 유사도≠관련성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Reranking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Top-100을 Cross-encoder로 다시 매김 → 진짜 정답을 상위로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E64A19"/>
                          </a:solidFill>
                          <a:latin typeface="맑은 고딕"/>
                        </a:rPr>
                        <a:t>GPU 추론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③ 단일 검색 한계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BM25 + Semantic을 RRF로 결합 → 양쪽 케이스 모두 커버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약간 (BM25 인덱스)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④ 청크-컨텍스트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Parent Doc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작은 청크로 검색 + 큰 부모를 반환 → 정확성과 풍부함 동시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저장 ~2배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보너스: 검색 다양성↓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Multi-Query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LLM이 질문을 N가지로 재작성 → 다양한 후보 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E64A19"/>
                          </a:solidFill>
                          <a:latin typeface="맑은 고딕"/>
                        </a:rPr>
                        <a:t>LLM 1회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보너스: 메타데이터 활용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Self-Query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LLM이 시맨틱 + 필터를 동시 생성 (year&gt;=2024 등)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E64A19"/>
                          </a:solidFill>
                          <a:latin typeface="맑은 고딕"/>
                        </a:rPr>
                        <a:t>LLM 1회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보너스: 복합 질문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Query Decomposition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복합 질문을 sub-Q로 쪼개고 각각 검색·답변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E64A19"/>
                          </a:solidFill>
                          <a:latin typeface="맑은 고딕"/>
                        </a:rPr>
                        <a:t>LLM N회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43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🎯 본 세션은 위에서 아래 순서대로 깊이 다룬다 (4가지 핵심 + 보너스 3가지)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해법 매트릭스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기법 ① HyDE — 핵심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Hypothetical Document Embeddings (Gao et al. 2022)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338560" cy="73152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1">
                <a:solidFill>
                  <a:srgbClr val="E64A19"/>
                </a:solidFill>
                <a:latin typeface="맑은 고딕"/>
              </a:rPr>
              <a:t>"질문을 임베딩하지 말고, 가설적인 답변(hypothetical document)을 만들어서 임베딩하자"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임베딩 공간에서의 관계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3108960" cy="146304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"심장 질환의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치료법은?"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(질문)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200400"/>
            <a:ext cx="3108960" cy="1463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"심혈관계 약물요법은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ACE inhibitor와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베타 차단제…"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(LLM이 만든 가짜 답변)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200400"/>
            <a:ext cx="3108960" cy="14630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"심혈관 약물요법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(ACE inhibitor 등)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표준 1차 치료…"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(DB의 진짜 답변)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94760" y="3840480"/>
            <a:ext cx="6400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4160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LLM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80960" y="3840480"/>
            <a:ext cx="640080" cy="27432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4160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1">
                <a:solidFill>
                  <a:srgbClr val="27AE60"/>
                </a:solidFill>
                <a:latin typeface="맑은 고딕"/>
              </a:rPr>
              <a:t>거리 가까움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1338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💡 핵심: 질문과 진짜 답변은 어휘가 달라서 멀지만,</a:t>
            </a:r>
          </a:p>
          <a:p>
            <a:pPr algn="ctr">
              <a:lnSpc>
                <a:spcPct val="155000"/>
              </a:lnSpc>
            </a:pPr>
            <a:r>
              <a:rPr sz="1400" b="0" i="0">
                <a:solidFill>
                  <a:srgbClr val="222222"/>
                </a:solidFill>
                <a:latin typeface="맑은 고딕"/>
              </a:rPr>
              <a:t>    가짜 답변과 진짜 답변은 같은 도메인 어휘를 쓰니까 임베딩이 가까움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HyDE 핵심 아이디어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HyDE — 일반 RAG vs HyDE 동작 흐름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한 단계 추가로 의미 갭을 메운다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0392B"/>
                </a:solidFill>
                <a:latin typeface="맑은 고딕"/>
              </a:rPr>
              <a:t>🔴 일반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011680"/>
            <a:ext cx="3657600" cy="59436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질문</a:t>
            </a:r>
          </a:p>
        </p:txBody>
      </p:sp>
      <p:sp>
        <p:nvSpPr>
          <p:cNvPr id="9" name="Down Arrow 8"/>
          <p:cNvSpPr/>
          <p:nvPr/>
        </p:nvSpPr>
        <p:spPr>
          <a:xfrm>
            <a:off x="3017520" y="2697480"/>
            <a:ext cx="32004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971800"/>
            <a:ext cx="3657600" cy="5943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임베딩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17520" y="3657600"/>
            <a:ext cx="32004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3931920"/>
            <a:ext cx="3657600" cy="5943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벡터 검색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017520" y="4617720"/>
            <a:ext cx="32004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4892040"/>
            <a:ext cx="3657600" cy="594360"/>
          </a:xfrm>
          <a:prstGeom prst="roundRect">
            <a:avLst/>
          </a:prstGeom>
          <a:solidFill>
            <a:srgbClr val="FDEDED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C0392B"/>
                </a:solidFill>
                <a:latin typeface="맑은 고딕"/>
              </a:rPr>
              <a:t>❌ 부정확한 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27AE60"/>
                </a:solidFill>
                <a:latin typeface="맑은 고딕"/>
              </a:rPr>
              <a:t>🟢 HyDE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011680"/>
            <a:ext cx="3657600" cy="59436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질문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61120" y="2697480"/>
            <a:ext cx="32004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0" y="2971800"/>
            <a:ext cx="3657600" cy="5943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LLM → 가짜 답변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30632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1">
                <a:solidFill>
                  <a:srgbClr val="E64A19"/>
                </a:solidFill>
                <a:latin typeface="맑은 고딕"/>
              </a:rPr>
              <a:t>★ 추가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961120" y="3657600"/>
            <a:ext cx="32004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0" y="3931920"/>
            <a:ext cx="3657600" cy="5943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가짜 답변 임베딩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961120" y="4617720"/>
            <a:ext cx="32004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0" y="4892040"/>
            <a:ext cx="3657600" cy="594360"/>
          </a:xfrm>
          <a:prstGeom prst="roundRect">
            <a:avLst/>
          </a:prstGeom>
          <a:solidFill>
            <a:srgbClr val="E8F7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5029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27AE60"/>
                </a:solidFill>
                <a:latin typeface="맑은 고딕"/>
              </a:rPr>
              <a:t>✅ 정확한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666666"/>
                </a:solidFill>
                <a:latin typeface="맑은 고딕"/>
              </a:rPr>
              <a:t>차이: LLM 호출 1회 추가 (가짜 답변 생성) — 비용/지연 트레이드오프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HyDE 흐름 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HyDE — LangChain 구현 &amp; 사용 시점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HypotheticalDocumentEmbedder + 기존 base embedding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7772400" cy="384048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7552944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langchain.chains import HypotheticalDocumentEmbedder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langchain_openai import ChatOpenAI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langchain_huggingface import HuggingFaceEmbeddings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1) 기본 임베딩 + LLM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base_emb = HuggingFaceEmbeddings(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model_name="jhgan/ko-sroberta-multitask"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llm = ChatOpenAI(model="gpt-4o-mini", temperature=0)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2) HyDE 임베더 — base를 감싸서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   '질문 → 가짜답변 → 임베딩' 자동 수행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hyde_emb = HypotheticalDocumentEmbedder.from_llm(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llm=llm,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base_embeddings=base_emb,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prompt_key="web_search",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3) HyDE 임베딩으로 검색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query = "심장 질환의 표준 치료법은?"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hyde_vec = hyde_emb.embed_query(query)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results = vectorstore.similarity_search_by_vector(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hyde_vec, k=5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🎯 언제 쓰나?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965960"/>
            <a:ext cx="3383280" cy="2286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21031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✅ 의학·법률·금융 등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도메인 어휘가 풍부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✅ 질문은 짧고 일반적인데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답변은 전문 용어인 경우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❌ 빠른 응답이 필요한 시스템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(LLM 1회 추가 부담)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4348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📝 prompt_key 옵션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84632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web_search (범용)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sci_fact (과학 논문)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arguana (논증)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trec_covid (의학)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• fiqa (금융 QA)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HyDE 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기법 ② Reranking — 핵심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빠른 검색으로 많이 가져오기 + 느린 모델로 정밀 재정렬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338560" cy="73152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1">
                <a:solidFill>
                  <a:srgbClr val="E64A19"/>
                </a:solidFill>
                <a:latin typeface="맑은 고딕"/>
              </a:rPr>
              <a:t>"빠른 1단계로 후보 100개 → 정밀한 2단계로 Top-10 재정렬"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2단계 파이프라인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1463040" cy="137160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질문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65960" y="370332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40" y="3154680"/>
            <a:ext cx="2560320" cy="13716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Bi-encoder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(임베딩 검색)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빠름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83480" y="370332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60" y="3154680"/>
            <a:ext cx="1828800" cy="13716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Top-100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69480" y="370332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0" y="3154680"/>
            <a:ext cx="2468880" cy="1371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Cross-encoder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(쌍 재순위)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정밀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195560" y="370332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07040" y="3154680"/>
            <a:ext cx="1188720" cy="13716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Top-10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6634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1F3A5F"/>
                </a:solidFill>
                <a:latin typeface="맑은 고딕"/>
              </a:rPr>
              <a:t>1단계: 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663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1F3A5F"/>
                </a:solidFill>
                <a:latin typeface="맑은 고딕"/>
              </a:rPr>
              <a:t>2단계: Rerank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49240"/>
            <a:ext cx="11338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💡 왜 2단계인가?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    • 1단계 Bi-encoder는 빠르지만 정확도 보통 — 진짜 정답이 50위쯤에 있을 수 있음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222222"/>
                </a:solidFill>
                <a:latin typeface="맑은 고딕"/>
              </a:rPr>
              <a:t>    • 2단계 Cross-encoder는 느리지만 정밀 — 그 50위 정답을 1위로 끌어올림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Reranking 핵심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Bi-encoder vs Cross-encoder — 왜 둘 다 필요한가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각자의 강점이 다르므로 역할 분담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Bi-encoder (임베딩 모델)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265176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질문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057400"/>
            <a:ext cx="265176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문서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691640" y="2788920"/>
            <a:ext cx="27432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4434840" y="2788920"/>
            <a:ext cx="27432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65176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벡터 (각자 따로)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108960"/>
            <a:ext cx="265176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벡터 (각자 따로)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222222"/>
                </a:solidFill>
                <a:latin typeface="맑은 고딕"/>
              </a:rPr>
              <a:t>→ 두 벡터의 코사인 거리로 유사도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Cross-encoder (재순위 모델)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57400"/>
            <a:ext cx="539496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맑은 고딕"/>
              </a:rPr>
              <a:t>(질문, 문서) 쌍 — 함께 입력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61120" y="2788920"/>
            <a:ext cx="27432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108960"/>
            <a:ext cx="539496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Cross-encoder (Transformer)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961120" y="3840480"/>
            <a:ext cx="27432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4160520"/>
            <a:ext cx="539496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관련성 점수 0.0~1.0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5029200"/>
          <a:ext cx="113385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572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Bi-encoder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Cross-encoder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속도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매우 빠름 (1만 docs/초)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C0392B"/>
                          </a:solidFill>
                          <a:latin typeface="맑은 고딕"/>
                        </a:rPr>
                        <a:t>느림 (100 docs/초)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정확도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E64A19"/>
                          </a:solidFill>
                          <a:latin typeface="맑은 고딕"/>
                        </a:rPr>
                        <a:t>보통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높음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Bi vs 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Reranking — 구현 &amp; 추천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BGE-Reranker (오픈소스) / Cohere Rerank (상용)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7315200" cy="41148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709574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sentence_transformers import CrossEncoder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1) Reranker 로드 (한 번만)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reranker = CrossEncoder("BAAI/bge-reranker-base")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2) 1단계: 벡터로 Top-100 가져오기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top100 = vectorstore.similarity_search(query, k=100)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3) 2단계: (질문, 문서) 쌍 점수 계산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pairs = [(query, doc.page_content) for doc in top100]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scores = reranker.predict(pairs)  # numpy array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4) 점수 기준 재정렬 → Top-10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ranked = sorted(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zip(top100, scores),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key=lambda x: -x[1]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top10 = [doc for doc, _ in ranked[:10]]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5) LLM에 Top-10만 컨텍스트로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→ 토큰 절약 + 정확도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📊 Reranker 모델 추천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046720" y="1965960"/>
          <a:ext cx="3931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</a:tblGrid>
              <a:tr h="694944"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94944">
                <a:tc>
                  <a:txBody>
                    <a:bodyPr lIns="80000" rIns="60000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BGE-base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000">
                          <a:solidFill>
                            <a:srgbClr val="27AE60"/>
                          </a:solidFill>
                          <a:latin typeface="맑은 고딕"/>
                        </a:rPr>
                        <a:t>무료, 빠름,
한국어 양호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lIns="80000" rIns="60000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BGE-large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000">
                          <a:solidFill>
                            <a:srgbClr val="27AE60"/>
                          </a:solidFill>
                          <a:latin typeface="맑은 고딕"/>
                        </a:rPr>
                        <a:t>더 정확,
GPU 권장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94944">
                <a:tc>
                  <a:txBody>
                    <a:bodyPr lIns="80000" rIns="60000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Cohere Rerank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API 한 줄,
$1/1k 쿼리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lIns="80000" rIns="60000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MS-MARCO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000">
                          <a:solidFill>
                            <a:srgbClr val="C0392B"/>
                          </a:solidFill>
                          <a:latin typeface="맑은 고딕"/>
                        </a:rPr>
                        <a:t>영어 전용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55778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64A19"/>
                </a:solidFill>
                <a:latin typeface="맑은 고딕"/>
              </a:rPr>
              <a:t>1순위 추천: BGE-reranker-base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Reranker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기법 ③ Ensemble Retriever — 핵심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BM25(키워드) + Semantic(벡터) → RRF로 결합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338560" cy="73152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1">
                <a:solidFill>
                  <a:srgbClr val="E64A19"/>
                </a:solidFill>
                <a:latin typeface="맑은 고딕"/>
              </a:rPr>
              <a:t>"한쪽이 놓친 걸 다른 쪽이 잡아준다 — 두 검색을 함께"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분기 &amp; 결합 흐름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3154680"/>
            <a:ext cx="228600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질문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926080" y="3931920"/>
            <a:ext cx="365760" cy="36576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120" y="4434840"/>
            <a:ext cx="22860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BM25 검색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(키워드)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144000" y="3931920"/>
            <a:ext cx="365760" cy="36576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4434840"/>
            <a:ext cx="22860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Vector 검색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(시맨틱)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154680" y="5212080"/>
            <a:ext cx="365760" cy="36576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823960" y="5212080"/>
            <a:ext cx="365760" cy="36576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5715000"/>
            <a:ext cx="301752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RRF (결합)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Ensemble 핵심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Reciprocal Rank Fusion (RRF) — 동작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두 검색기의 순위만으로 점수 합산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338560" cy="8229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FFFFFF"/>
                </a:solidFill>
                <a:latin typeface="Consolas"/>
              </a:rPr>
              <a:t>RRF_score(d) = Σ  1 / (k + rank_i(d))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📊 예시 — 같은 4개 문서가 두 검색기에 다른 순위로 나옴 (k=60)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017520"/>
          <a:ext cx="11338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54864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문서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BM25 순위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Semantic 순위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RRF 점수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최종 순위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문서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1/(60+1) + 1/(60+3) = 0.0323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문서 B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1위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1/(60+2) + 1/(60+1) = 0.0325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1위 (간발)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문서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1/(60+5) + 1/(60+2) = 0.0315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문서 D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3위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10위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1/(60+3) + 1/(60+10) = 0.0301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4위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89788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💡 RRF의 강점: 점수 정규화 불필요 + 한 검색기에서 누락돼도 다른 쪽이 살림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RRF 시각화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Ensemble — 구현 &amp; 가중치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BM25Retriever + VectorStoreRetriever 결합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7315200" cy="429768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7095744" cy="4151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langchain_community.retrievers import BM25Retriever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langchain.retrievers import EnsembleRetriever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1) 벡터 검색기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vector_ret = vectorstore.as_retriever(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search_kwargs={"k": 10}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2) BM25 검색기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bm25_ret = BM25Retriever.from_documents(chunks)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bm25_ret.k = 10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3) Ensemble — RRF 자동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ensemble = EnsembleRetriever(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retrievers=[bm25_ret, vector_ret],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weights=[0.4, 0.6],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# BM25 40% + Semantic 60%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4) 검색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results = ensemble.invoke(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"Qwen2.5-1.5B LoRA 학습 방법"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⚖️ 가중치 결정 가이드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046720" y="1965960"/>
          <a:ext cx="3931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</a:tblGrid>
              <a:tr h="64008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상황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BM25 : Sem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자연어 질문 많음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0.3 : 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균형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0.5 : 0.5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고유명사/코드 많음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0.6 : 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코드 검색 위주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0.7 : 0.3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534924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💡 가중치는 평가셋으로</a:t>
            </a:r>
          </a:p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   직접 측정해서 결정</a:t>
            </a:r>
          </a:p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66666"/>
                </a:solidFill>
                <a:latin typeface="맑은 고딕"/>
              </a:rPr>
              <a:t>   (0.1 단위로 sweep)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Ensemble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기법 ④ Parent Document — 핵심 아이디어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작게 검색 + 크게 반환 = 정확성과 풍부함 동시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338560" cy="73152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1">
                <a:solidFill>
                  <a:srgbClr val="E64A19"/>
                </a:solidFill>
                <a:latin typeface="맑은 고딕"/>
              </a:rPr>
              <a:t>"두 종류 청크를 함께 저장 — 검색은 Child(작게), 반환은 Parent(크게)"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청크 구조 — Parent와 Child의 관계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2286000" cy="7315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원본 문서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88920" y="338328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3154680"/>
            <a:ext cx="27432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Parent 청크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(~2000자)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9320" y="338328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697480"/>
            <a:ext cx="1828800" cy="5943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Child 1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(~400자)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383280"/>
            <a:ext cx="1828800" cy="5943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Child 2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(~400자)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069080"/>
            <a:ext cx="1828800" cy="5943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Child 3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(~400자)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21040" y="338328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0" y="3154680"/>
            <a:ext cx="3017520" cy="7315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Vector DB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(Child만 인덱싱)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🔍 검색 흐름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40680"/>
            <a:ext cx="164592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질문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286000" y="5623560"/>
            <a:ext cx="27432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06040" y="5440680"/>
            <a:ext cx="201168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Child 검색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(정확)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617720" y="5623560"/>
            <a:ext cx="27432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37760" y="5440680"/>
            <a:ext cx="182880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Parent ID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조회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766560" y="5623560"/>
            <a:ext cx="27432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86600" y="5440680"/>
            <a:ext cx="201168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Parent 반환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(풍부)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98280" y="5623560"/>
            <a:ext cx="27432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0" y="5440680"/>
            <a:ext cx="146304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LLM 답변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881360" y="5623560"/>
            <a:ext cx="27432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Parent Document 핵심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Parent Document —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LangChain ParentDocumentRetriever 한 함수로 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338560" cy="41148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11910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langchain.retrievers import ParentDocumentRetriever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langchain.storage import InMemoryStore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langchain.text_splitter import RecursiveCharacterTextSplitter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langchain_chroma import Chroma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1) 두 종류 splitter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parent_splitter = RecursiveCharacterTextSplitter(chunk_size=2000)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child_splitter  = RecursiveCharacterTextSplitter(chunk_size=400)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2) Vector DB (Child용) + Doc Store (Parent용)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vectorstore = Chroma(embedding_function=embeddings, collection_name="children")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docstore    = InMemoryStore()  # 운영 시 Redis/디스크 권장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3) Retriever — 인덱싱과 검색을 모두 처리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retriever = ParentDocumentRetriever(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vectorstore=vectorstore,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docstore=docstore,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child_splitter=child_splitter,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parent_splitter=parent_splitter,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4) 문서 추가 — Parent/Child 모두 자동 처리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retriever.add_documents(docs)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5) 검색 — Child로 매칭 → Parent 반환 (자동)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results = retriever.invoke("RAG 청킹 전략은?")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results는 큰 Parent 청크들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Parent Document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보너스 ① Multi-Query Retriever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LLM이 질문을 N가지로 재작성 → 각각 검색 → 합침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동작 도식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743200" cy="7315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원본 질문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33172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103120"/>
            <a:ext cx="18288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LLM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32120" y="233172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1645920"/>
            <a:ext cx="585216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재작성 1: 텍스트 분할 전략이 RAG 성능에 미치는 영향은?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194560"/>
            <a:ext cx="585216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재작성 2: 청크 크기가 검색 품질을 어떻게 결정하나?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743200"/>
            <a:ext cx="585216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재작성 3: 문서 분할 방법론과 LLM 답변 품질 관계는?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686800" y="3383280"/>
            <a:ext cx="27432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3794760"/>
            <a:ext cx="411480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각각 검색 → 합집합 (중복 제거)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17720"/>
            <a:ext cx="11338560" cy="169164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690872"/>
            <a:ext cx="11119104" cy="1545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from langchain.retrievers.multi_query import MultiQueryRetriever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retriever = MultiQueryRetriever.from_llm(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retriever=vectorstore.as_retriever(),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llm=ChatOpenAI(model="gpt-4o-mini"),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results = retriever.invoke("RAG에서 청킹이 왜 중요한가?")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# 내부적으로 3~5개 질문 재작성 → 각각 검색 → 합침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보너스 Multi-Query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보너스 ② Self-Query Retriever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자연어 → 시맨틱 검색 + 메타데이터 필터를 LLM이 동시 추출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LLM이 질문을 두 부분으로 분리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5943600" cy="82296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"2024년 이후 발표된 RAG 논문에서 청킹 전략은?"</a:t>
            </a:r>
          </a:p>
        </p:txBody>
      </p:sp>
      <p:sp>
        <p:nvSpPr>
          <p:cNvPr id="9" name="Down Arrow 8"/>
          <p:cNvSpPr/>
          <p:nvPr/>
        </p:nvSpPr>
        <p:spPr>
          <a:xfrm>
            <a:off x="3200400" y="2971800"/>
            <a:ext cx="36576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3383280"/>
            <a:ext cx="22860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LLM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200400" y="4114800"/>
            <a:ext cx="36576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274320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시맨틱 부분: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"청킹 전략"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572000"/>
            <a:ext cx="301752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필터: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{year: {"$gte": 2024}}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103120"/>
            <a:ext cx="5029200" cy="41148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176272"/>
            <a:ext cx="480974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langchain.retrievers.self_query.base \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import SelfQueryRetriever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langchain.chains.query_constructor.base \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import AttributeInfo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metadata_field_info = [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AttributeInfo(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name="year",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description="발표 연도",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type="integer",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AttributeInfo(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name="venue",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description="학회/저널",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type="string",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]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retriever = SelfQueryRetriever.from_llm(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llm=ChatOpenAI(model="gpt-4o-mini"),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vectorstore=vectorstore,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document_contents="논문 본문",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metadata_field_info=metadata_field_info,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results = retriever.invoke(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"2024년 이후 RAG 논문에서 청킹은?"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보너스 Self-Query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보너스 ③ Query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복합 질문을 sub-question으로 쪼개고 각각 검색·답변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📐 분해 → 각각 답변 → 통합 흐름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133856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복합 질문: "LLaMA 3.1 405B의 학습 데이터 양과 GPT-4의 학습 비용을 비교해줘"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2834640"/>
            <a:ext cx="36576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3246120"/>
            <a:ext cx="320040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LLM (분해)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3840480"/>
            <a:ext cx="36576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251960"/>
            <a:ext cx="54864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Q1: LLaMA 3.1 405B 학습 데이터 양?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251960"/>
            <a:ext cx="54864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Q2: GPT-4 학습 비용?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926080" y="4983480"/>
            <a:ext cx="36576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8778240" y="4983480"/>
            <a:ext cx="36576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5394960"/>
            <a:ext cx="5486400" cy="5486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A1: 15T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5394960"/>
            <a:ext cx="5486400" cy="5486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A2: ~$100M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43600" y="5989320"/>
            <a:ext cx="36576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28800" y="6400800"/>
            <a:ext cx="8686800" cy="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1F3A5F"/>
                </a:solidFill>
                <a:latin typeface="맑은 고딕"/>
              </a:rPr>
              <a:t>→ LLM 통합 → "LLaMA 405B는 15조 토큰, GPT-4는 약 1억 달러로 학습됨"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보너스 Decomposition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Advanced RAG 기법 종합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MS MARCO 유사 평가셋 가정 — 도메인마다 다를 수 있음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5544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1435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기법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추가 비용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정확도 향상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구현 난이도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적합 상황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Baseline (벡터만)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기준 (70점)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프로토타입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+ HyDE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E64A19"/>
                          </a:solidFill>
                          <a:latin typeface="맑은 고딕"/>
                        </a:rPr>
                        <a:t>LLM 1회/Q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+5~10점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낮음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도메인 어휘 갭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+ Reranking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E64A19"/>
                          </a:solidFill>
                          <a:latin typeface="맑은 고딕"/>
                        </a:rPr>
                        <a:t>GPU 추론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+10~15점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가성비 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+ Ensemble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약간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+5~10점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낮음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고유명사+자연어 혼합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+ Parent Doc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저장 2배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+3~7점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긴 답변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+ Multi-Query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E64A19"/>
                          </a:solidFill>
                          <a:latin typeface="맑은 고딕"/>
                        </a:rPr>
                        <a:t>LLM 1회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+3~5점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낮음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검색 다양성 부족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1435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+ Self-Query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E64A19"/>
                          </a:solidFill>
                          <a:latin typeface="맑은 고딕"/>
                        </a:rPr>
                        <a:t>LLM 1회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7AE60"/>
                          </a:solidFill>
                          <a:latin typeface="맑은 고딕"/>
                        </a:rPr>
                        <a:t>+5~10점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구조화 메타데이터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🎯 가장 가성비 좋은 1단계 업그레이드: Reranking 단독 추가만으로도 +10~15점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종합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어떤 한계 → 어떤 기법? — 의사결정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현재 RAG의 약점을 진단하고 처방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1554480"/>
            <a:ext cx="301752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RAG 답변이 부정확하다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2240280"/>
            <a:ext cx="365760" cy="18288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2560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F3A5F"/>
                </a:solidFill>
                <a:latin typeface="맑은 고딕"/>
              </a:rPr>
              <a:t>어휘가 달라서?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600200" y="3429000"/>
            <a:ext cx="27432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749040"/>
            <a:ext cx="256032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→ HyDE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743200"/>
            <a:ext cx="2560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F3A5F"/>
                </a:solidFill>
                <a:latin typeface="맑은 고딕"/>
              </a:rPr>
              <a:t>순위가 잘못돼서?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343400" y="3429000"/>
            <a:ext cx="27432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3749040"/>
            <a:ext cx="256032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→ Reranking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43200"/>
            <a:ext cx="2560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F3A5F"/>
                </a:solidFill>
                <a:latin typeface="맑은 고딕"/>
              </a:rPr>
              <a:t>키워드 누락?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086600" y="3429000"/>
            <a:ext cx="27432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3749040"/>
            <a:ext cx="2560320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→ Ensemble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743200"/>
            <a:ext cx="2560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F3A5F"/>
                </a:solidFill>
                <a:latin typeface="맑은 고딕"/>
              </a:rPr>
              <a:t>맥락 부족?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829800" y="3429000"/>
            <a:ext cx="274320" cy="27432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0" y="3749040"/>
            <a:ext cx="2560320" cy="7315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→ Parent Doc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🎯 한 가지만 적용하기보다 조합이 강력 — 권장 조합 (다음 슬라이드)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의사결정 트리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실무 권장 조합 — 단계적 업그레이드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프로토타입 → 베타 → production 으로 가는 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657600" cy="3657600"/>
          </a:xfrm>
          <a:prstGeom prst="roundRect">
            <a:avLst/>
          </a:prstGeom>
          <a:solidFill>
            <a:srgbClr val="F6F8FB"/>
          </a:solidFill>
          <a:ln w="317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Stage 1</a:t>
            </a:r>
          </a:p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프로토타입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Baseline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Chroma + LCEL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청크 500자 / 오버랩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E64A19"/>
                </a:solidFill>
                <a:latin typeface="맑은 고딕"/>
              </a:rPr>
              <a:t>💡 빠른 검증, MVP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33088" y="3200400"/>
            <a:ext cx="164592" cy="36576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3657600" cy="3657600"/>
          </a:xfrm>
          <a:prstGeom prst="roundRect">
            <a:avLst/>
          </a:prstGeom>
          <a:solidFill>
            <a:srgbClr val="F6F8FB"/>
          </a:solidFill>
          <a:ln w="317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657600" cy="6400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6459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Stage 2</a:t>
            </a:r>
          </a:p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베타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231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Baseline + Reranking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33756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+ BGE-Reranker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(Top-100→Top-10)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572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E64A19"/>
                </a:solidFill>
                <a:latin typeface="맑은 고딕"/>
              </a:rPr>
              <a:t>💡 +10~15점 / 가장 가성비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73568" y="3200400"/>
            <a:ext cx="164592" cy="365760"/>
          </a:xfrm>
          <a:prstGeom prst="rightArrow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1554480"/>
            <a:ext cx="3657600" cy="3657600"/>
          </a:xfrm>
          <a:prstGeom prst="roundRect">
            <a:avLst/>
          </a:prstGeom>
          <a:solidFill>
            <a:srgbClr val="F6F8FB"/>
          </a:solidFill>
          <a:ln w="317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554480"/>
            <a:ext cx="365760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Stage 3</a:t>
            </a:r>
          </a:p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231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+ Ensemble (BM25+Sem)</a:t>
            </a:r>
          </a:p>
          <a:p>
            <a:pPr algn="ctr">
              <a:lnSpc>
                <a:spcPct val="140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+ Parent 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3756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+ Multi-Query (선택)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+ HyDE (도메인 어휘)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572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E64A19"/>
                </a:solidFill>
                <a:latin typeface="맑은 고딕"/>
              </a:rPr>
              <a:t>💡 최종 +20~30점 향상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✅ Stage 2부터는 측정 가능한 평가셋이 있어야 효과 검증 가능 → Session 32에서 다룸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권장 조합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RAG 성능 향상 — 검색 외 다른 축들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Advanced 기법 외에도 손볼 곳이 많다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627017"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구체적 개선 포인트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예시 효과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27017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1. 데이터 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청킹 전략 (의미 단위, Markdown 헤더)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+3~5점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2. 임베딩 모델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한국어 특화 모델, 도메인 파인튜닝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+5~10점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27017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3. 검색 알고리즘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본 세션 5가지 기법 (HyDE/Rerank 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+10~25점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4. 프롬프트 엔지니어링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Few-shot, CoT, 인용 강제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+3~7점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27017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5. LLM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gpt-4o-mini → gpt-4o → claude-3.5-sonnet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+2~5점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6. 사후 평가/재시도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답변 자체 검증, 재검색 루프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+2~5점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E64A19"/>
                </a:solidFill>
                <a:latin typeface="맑은 고딕"/>
              </a:rPr>
              <a:t>💡 "검색을 손보는 게 가장 가성비 좋다" — 본 세션 5가지 기법이 가장 큰 효과를 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RAG 향상 로드맵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Session 29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Advanced RAG 5가지 기법을 한눈에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011680" cy="8686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HyDE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가짜 답변으로 의미 갭 메움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도메인 어휘 갭 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2011680" cy="8686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Reranking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Cross-encoder로 재순위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[G]가성비 1위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2011680" cy="8686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51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BM25 + Semantic RRF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017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키워드 + 자연어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560320"/>
            <a:ext cx="2011680" cy="8686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Parent 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작게 검색 + 크게 반환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0175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맥락 풍부 필요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2011680" cy="86868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보너스 3종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657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Multi/Self-Query, Decomp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023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66666"/>
                </a:solidFill>
                <a:latin typeface="맑은 고딕"/>
              </a:rPr>
              <a:t>특정 상황별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54880"/>
            <a:ext cx="11338560" cy="164592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🛠️ 실습 체크 (29_advanced_rag_base.ipynb)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Baseline RAG 측정 → Reranking 추가 → 정확도 변화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BM25 + Semantic Ensemble 가중치 sweep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Parent Document 적용 — 같은 질문에 답변 풍부함 비교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본인 도메인에서 어떤 기법이 가장 효과적인지 평가셋으로 측정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정리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228600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3A5F"/>
                </a:solidFill>
                <a:latin typeface="맑은 고딕"/>
              </a:rPr>
              <a:t>오전 끝 — 오후는 Graph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6666"/>
                </a:solidFill>
                <a:latin typeface="맑은 고딕"/>
              </a:rPr>
              <a:t>벡터 RAG의 한계를 또 다른 각도에서 — 관계를 보는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33856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 i="0">
                <a:solidFill>
                  <a:srgbClr val="222222"/>
                </a:solidFill>
                <a:latin typeface="맑은 고딕"/>
              </a:rPr>
              <a:t>오전에 본 Advanced RAG는 모두 "벡터 검색의 정밀도" 를 끌어올리는 기법이었음.</a:t>
            </a:r>
          </a:p>
          <a:p>
            <a:pPr algn="ctr">
              <a:lnSpc>
                <a:spcPct val="145000"/>
              </a:lnSpc>
            </a:pPr>
            <a:r>
              <a:rPr sz="1500" b="0" i="0">
                <a:solidFill>
                  <a:srgbClr val="222222"/>
                </a:solidFill>
                <a:latin typeface="맑은 고딕"/>
              </a:rPr>
              <a:t>오후 Graph RAG는 다른 차원 — "관계와 다중 홉 추론" 을 다룬다.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577840" cy="22860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🌅 오전 — Advanced RAG (벡터 정밀도)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한 검색의 정확도 / 다양성 / 맥락 향상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HyDE · Reranking · Ensemble · Parent Doc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사실(facts) 기반 검색의 한계 안에서 최적화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577840" cy="22860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🌆 오후 — Graph RAG (관계 추론)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다중 홉 추론 (A → B → C)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Knowledge Graph + Neo4j + Cypher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관계 패턴 매칭으로 벡터가 못 푸는 질문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🔑 핵심 다리: 벡터 RAG는 "의미를" 본다. Graph RAG는 "관계를" 본다. 둘 다 필요할 때가 많다.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Part 4 · 2일차 오전 · Session 29 · 오후 예고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666666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0">
                <a:solidFill>
                  <a:srgbClr val="666666"/>
                </a:solidFill>
                <a:latin typeface="맑은 고딕"/>
              </a:rPr>
              <a:t>수고하셨습니다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 i="0">
                <a:solidFill>
                  <a:srgbClr val="1F3A5F"/>
                </a:solidFill>
                <a:latin typeface="맑은 고딕"/>
              </a:rPr>
              <a:t>오전 완료 — Session 29 Advanced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오늘 오전 — 벡터 RAG의 4가지 한계를 진단하고</a:t>
            </a:r>
          </a:p>
          <a:p>
            <a:pPr algn="ctr">
              <a:lnSpc>
                <a:spcPct val="150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HyDE · Reranking · Ensemble · Parent Document로 한 단계 끌어올렸습니다.</a:t>
            </a:r>
          </a:p>
          <a:p>
            <a:pPr algn="ctr">
              <a:lnSpc>
                <a:spcPct val="150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기본 70점 RAG → Advanced 90점 RAG.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4572000"/>
            <a:ext cx="4846320" cy="109728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🍽️ 점심 후</a:t>
            </a:r>
          </a:p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오후 Session 30 — Graph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1">
                <a:solidFill>
                  <a:srgbClr val="666666"/>
                </a:solidFill>
                <a:latin typeface="맑은 고딕"/>
              </a:rPr>
              <a:t>오후엔 Knowledge Graph + Neo4j + Cypher로 "관계를 보는 RAG" 를 시작합니다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