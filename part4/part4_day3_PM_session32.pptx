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E64A19"/>
                </a:solidFill>
                <a:latin typeface="맑은 고딕"/>
              </a:rPr>
              <a:t>Part 4 · 3일차 · 오후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6800" b="1" i="0">
                <a:solidFill>
                  <a:srgbClr val="1F3A5F"/>
                </a:solidFill>
                <a:latin typeface="맑은 고딕"/>
              </a:rPr>
              <a:t>RAG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666666"/>
                </a:solidFill>
                <a:latin typeface="맑은 고딕"/>
              </a:rPr>
              <a:t>RAGAS · LLM-as-a-Judge로 정량 측정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572000"/>
            <a:ext cx="7589520" cy="1188720"/>
          </a:xfrm>
          <a:prstGeom prst="round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</a:rPr>
              <a:t>측정하지 않으면</a:t>
            </a:r>
          </a:p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맑은 고딕"/>
              </a:rPr>
              <a:t>개선할 수 없다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RAG의 "잘 만들었는가" 를 측정하는 4가지 도구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F3A5F"/>
                </a:solidFill>
                <a:latin typeface="맑은 고딕"/>
              </a:rPr>
              <a:t>📋 학습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500">
                <a:solidFill>
                  <a:srgbClr val="222222"/>
                </a:solidFill>
                <a:latin typeface="맑은 고딕"/>
              </a:rPr>
              <a:t>●  RAG 평가가 어려운 이유 진단</a:t>
            </a:r>
          </a:p>
          <a:p>
            <a:pPr>
              <a:lnSpc>
                <a:spcPct val="140000"/>
              </a:lnSpc>
            </a:pPr>
            <a:r>
              <a:rPr sz="1500">
                <a:solidFill>
                  <a:srgbClr val="222222"/>
                </a:solidFill>
                <a:latin typeface="맑은 고딕"/>
              </a:rPr>
              <a:t>●  자동 메트릭 (BLEU · ROUGE · BERTScore)</a:t>
            </a:r>
          </a:p>
          <a:p>
            <a:pPr>
              <a:lnSpc>
                <a:spcPct val="140000"/>
              </a:lnSpc>
            </a:pPr>
            <a:r>
              <a:rPr sz="1500">
                <a:solidFill>
                  <a:srgbClr val="222222"/>
                </a:solidFill>
                <a:latin typeface="맑은 고딕"/>
              </a:rPr>
              <a:t>●  RAGAS 4가지 핵심 지표 이해</a:t>
            </a:r>
          </a:p>
          <a:p>
            <a:pPr>
              <a:lnSpc>
                <a:spcPct val="140000"/>
              </a:lnSpc>
            </a:pPr>
            <a:r>
              <a:rPr sz="1500">
                <a:solidFill>
                  <a:srgbClr val="222222"/>
                </a:solidFill>
                <a:latin typeface="맑은 고딕"/>
              </a:rPr>
              <a:t>●  LLM-as-a-Judge — Single / Pairwise</a:t>
            </a:r>
          </a:p>
          <a:p>
            <a:pPr>
              <a:lnSpc>
                <a:spcPct val="140000"/>
              </a:lnSpc>
            </a:pPr>
            <a:r>
              <a:rPr sz="1500">
                <a:solidFill>
                  <a:srgbClr val="222222"/>
                </a:solidFill>
                <a:latin typeface="맑은 고딕"/>
              </a:rPr>
              <a:t>●  평가셋 만들기 (synthetic generation)</a:t>
            </a:r>
          </a:p>
          <a:p>
            <a:pPr>
              <a:lnSpc>
                <a:spcPct val="140000"/>
              </a:lnSpc>
            </a:pPr>
            <a:r>
              <a:rPr sz="1500">
                <a:solidFill>
                  <a:srgbClr val="222222"/>
                </a:solidFill>
                <a:latin typeface="맑은 고딕"/>
              </a:rPr>
              <a:t>●  평가 → 진단 → 개선 사이클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F3A5F"/>
                </a:solidFill>
                <a:latin typeface="맑은 고딕"/>
              </a:rPr>
              <a:t>🛠️ 학습 흐름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94560"/>
            <a:ext cx="1554480" cy="6400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개념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235915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왜 평가?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971800"/>
            <a:ext cx="155448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도구 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13639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자동 메트릭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749040"/>
            <a:ext cx="1554480" cy="6400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도구 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91363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RAGAS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526280"/>
            <a:ext cx="1554480" cy="6400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도구 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69087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LLM Judge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5303520"/>
            <a:ext cx="1554480" cy="6400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응용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546811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진단 → 개선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왜 RAG를 평가해야 하나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측정 없는 개선은 환상이다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0392B"/>
                </a:solidFill>
                <a:latin typeface="맑은 고딕"/>
              </a:rPr>
              <a:t>🚫 측정 없이 "감으로" 개선할 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11338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"청크 크기를 500 → 1000 으로 바꿨더니 좀 나아진 것 같아" → 진짜?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"Reranker 추가했는데 답변이 더 잘 나오는 듯" → 평균? 어떤 케이스?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"임베딩 모델 바꿔봤더니 별 차이 없어" → 어느 지표가?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→ 모두 "느낌" — 객관적 비교 불가능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348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27AE60"/>
                </a:solidFill>
                <a:latin typeface="맑은 고딕"/>
              </a:rPr>
              <a:t>✅ 측정하면 가능한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338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변경 전/후 정량 비교 → A가 B보다 0.05점 높음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어느 단계에서 문제? (검색 정확도? 답변 충실성?)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프로덕션 모니터링 — 시간 따라 품질 추이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→ 데이터 기반 의사결정 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RAG 평가의 4가지 어려움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단일 정답이 없는 생성형 시스템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2788920" cy="210312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788920" cy="5029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정답이 여러 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2514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같은 질문에 여러 좋은 답변</a:t>
            </a:r>
          </a:p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→ 정답 vs 오답 단순 비교 안 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737360"/>
            <a:ext cx="2788920" cy="210312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737360"/>
            <a:ext cx="2788920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82880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검색·생성 2단계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68880"/>
            <a:ext cx="2514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검색이 좋은데 답이 나쁠 수도</a:t>
            </a:r>
          </a:p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검색이 나쁜데 답이 좋을 수도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2788920" cy="210312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278892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주관성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68880"/>
            <a:ext cx="2514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"답변 품질" 의 기준이</a:t>
            </a:r>
          </a:p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사람마다·도메인마다 다름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737360"/>
            <a:ext cx="2788920" cy="210312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1737360"/>
            <a:ext cx="278892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82880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평가셋 부족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468880"/>
            <a:ext cx="2514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도메인 특화 평가셋이</a:t>
            </a:r>
          </a:p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공개돼있지 않음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💡 → 그래서 "여러 도구를 함께 + 시간 두고 누적 데이터로"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평가의 두 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객관적 자동 메트릭 vs LLM-as-a-Judge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4A90E2"/>
                </a:solidFill>
                <a:latin typeface="맑은 고딕"/>
              </a:rPr>
              <a:t>📊 자동 메트릭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48840"/>
            <a:ext cx="5577840" cy="411480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예시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BLEU, ROUGE, BERTScore,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Perplexity, EM, 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7AE60"/>
                </a:solidFill>
                <a:latin typeface="맑은 고딕"/>
              </a:rPr>
              <a:t>✅ 장점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519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맑은 고딕"/>
              </a:rPr>
              <a:t>●  빠름 (수천 건/초)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맑은 고딕"/>
              </a:rPr>
              <a:t>●  재현 가능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맑은 고딕"/>
              </a:rPr>
              <a:t>●  무료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0392B"/>
                </a:solidFill>
                <a:latin typeface="맑은 고딕"/>
              </a:rPr>
              <a:t>❌ 단점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064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의미·뉘앙스 파악 못함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3736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E64A19"/>
                </a:solidFill>
                <a:latin typeface="맑은 고딕"/>
              </a:rPr>
              <a:t>🤖 LLM-as-a-Judge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5577840" cy="411480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예시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97480"/>
            <a:ext cx="53035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GPT-4 Single Rating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GPT-4 Pairwise Comparison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RAGAS (LLM 기반)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86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27AE60"/>
                </a:solidFill>
                <a:latin typeface="맑은 고딕"/>
              </a:rPr>
              <a:t>✅ 장점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519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맑은 고딕"/>
              </a:rPr>
              <a:t>●  의미·자연스러움 평가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맑은 고딕"/>
              </a:rPr>
              <a:t>●  사람 평가와 높은 상관</a:t>
            </a:r>
          </a:p>
          <a:p>
            <a:pPr>
              <a:lnSpc>
                <a:spcPct val="140000"/>
              </a:lnSpc>
            </a:pPr>
            <a:r>
              <a:rPr sz="1100">
                <a:solidFill>
                  <a:srgbClr val="222222"/>
                </a:solidFill>
                <a:latin typeface="맑은 고딕"/>
              </a:rPr>
              <a:t>●  도메인 적응 쉬움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440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0392B"/>
                </a:solidFill>
                <a:latin typeface="맑은 고딕"/>
              </a:rPr>
              <a:t>❌ 단점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8064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API 비용 / 평가자 편향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자동 메트릭 4종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Perplexity · BLEU · ROUGE · BERTScore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82296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메트릭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측정 대상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범위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주 용도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82296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Perplexity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모델이 정답 토큰에 부여한 확률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↓ 좋음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학습 진행 모니터링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BLEU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n-gram 정확도 (번역 표준)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0~1 ↑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번역·요약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82296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ROUGE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n-gram 겹침 (recall 위주)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0~1 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요약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BERTScore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BERT 임베딩 코사인 유사도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0~1 ↑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다양한 표현 허용 평가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8932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🎯 RAG 평가에서 단독으로는 부족 — RAGAS·LLM Judge와 함께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BLEU (Bilingual Evaluation Understudy)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기계 번역 평가의 표준 — n-gram 정확도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338560" cy="8229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FFFFFF"/>
                </a:solidFill>
                <a:latin typeface="Consolas"/>
              </a:rPr>
              <a:t>BLEU = BP × exp( Σ wₙ · log pₙ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🧮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80"/>
            <a:ext cx="11338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pₙ : n-gram precision (1-gram, 2-gram, 3-gram, 4-gram)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wₙ : 가중치 (보통 0.25씩 균등)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BP : Brevity Penalty (너무 짧으면 페널티)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📝 예시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120640"/>
            <a:ext cx="11338560" cy="13716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193792"/>
            <a:ext cx="11119104" cy="1225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정답: "The cat sat on the mat"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생성: "The cat is on the mat"   → 1-gram 일치: 5/6, 2-gram: 3/5 ...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                                  BLEU ≈ 0.62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ROUGE (Recall-Oriented)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요약 평가 표준 — 정답에 있는 n-gram이 생성에 얼마나 나왔나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3385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57150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변종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측정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715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ROUGE-1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1-gram (단어) 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기본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ROUGE-2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2-gram recall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구문 보존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715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ROUGE-L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최장 공통 부분수열 (LCS)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문장 구조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519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📝 예시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663440"/>
            <a:ext cx="11338560" cy="164592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4736592"/>
            <a:ext cx="11119104" cy="14996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정답: "RAG는 검색과 생성을 결합한 기술이다"     (6 단어)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생성: "RAG는 검색을 통해 답변하는 기술"        (5 단어)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공통: "RAG는", "검색", "기술"                  (3 단어)</a:t>
            </a:r>
          </a:p>
          <a:p>
            <a:pPr>
              <a:lnSpc>
                <a:spcPct val="115000"/>
              </a:lnSpc>
            </a:pPr>
            <a:r>
              <a:rPr sz="1200">
                <a:solidFill>
                  <a:srgbClr val="DCDCDC"/>
                </a:solidFill>
                <a:latin typeface="Consolas"/>
              </a:rPr>
              <a:t>ROUGE-1 = 공통 / 정답 = 3/6 = 0.5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BERTScore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임베딩 기반 의미 유사도 — "다른 단어, 같은 뜻" 허용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📐 작동 원리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40280"/>
            <a:ext cx="2560320" cy="91440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정답 문장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63240" y="251460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2240280"/>
            <a:ext cx="2468880" cy="9144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BERT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임베딩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89320" y="251460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2240280"/>
            <a:ext cx="2468880" cy="9144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생성 임베딩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915400" y="2514600"/>
            <a:ext cx="36576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0" y="2240280"/>
            <a:ext cx="2468880" cy="91440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코사인</a:t>
            </a:r>
          </a:p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유사도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27AE60"/>
                </a:solidFill>
                <a:latin typeface="맑은 고딕"/>
              </a:rPr>
              <a:t>✅ BLEU/ROUGE 대비 강점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69080"/>
            <a:ext cx="11338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동의어·환언 인정: "심장 질환" ≈ "심혈관계 질환"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어순 변화 허용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사람 평가와 상관관계 가장 높음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단점: 임베딩 모델 의존성, 다국어 모델 필요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자동 메트릭의 한계 — RAG에서 부족한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왜 RAGAS·LLM Judge가 필요한가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82296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한계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구체 사례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RAG에 미치는 영향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82296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검색 평가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BLEU는 답변만 봄 — 검색이 좋은지 모름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검색이 망가져도 못 감지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환각 감지 X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그럴듯하지만 틀린 답에 점수 높을 수도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C0392B"/>
                          </a:solidFill>
                          <a:latin typeface="맑은 고딕"/>
                        </a:rPr>
                        <a:t>환각 탐지 불가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82296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문서 활용도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참조 문서를 안 봤는지 봤는지 모름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RAG의 "존재 이유" 평가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여러 정답 처리 X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정답이 1개라고 가정 — RAG는 다양함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정답이지만 표현 다르면 감점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8932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💡 → RAG 전용 지표 RAGAS 등장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RAGAS (RAG Assessment) 프레임워크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RAG 전용 자동 평가 — LLM 기반 4가지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🎯 RAGAS의 정체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11338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오픈소스 RAG 평가 라이브러리 (2023~)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LLM을 평가자로 사용 (Judge)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Reference-free (정답 없어도 일부 지표 측정 가능)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LangChain · LlamaIndex 직접 통합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📊 4가지 핵심 지표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2697480" cy="59436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Faithfulness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150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222222"/>
                </a:solidFill>
                <a:latin typeface="맑은 고딕"/>
              </a:rPr>
              <a:t>답이 검색 문서에 근거?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5029200"/>
            <a:ext cx="2697480" cy="5943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Answer Relevancy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57150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222222"/>
                </a:solidFill>
                <a:latin typeface="맑은 고딕"/>
              </a:rPr>
              <a:t>답이 질문에 부합?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029200"/>
            <a:ext cx="2697480" cy="5943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Context 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57150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222222"/>
                </a:solidFill>
                <a:latin typeface="맑은 고딕"/>
              </a:rPr>
              <a:t>검색이 정확?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5029200"/>
            <a:ext cx="2697480" cy="59436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Context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571500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222222"/>
                </a:solidFill>
                <a:latin typeface="맑은 고딕"/>
              </a:rPr>
              <a:t>검색이 완전?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Faithfulness — 답변이 검색 문서에 근거하는가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환각(hallucination) 탐지의 핵심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338560" cy="8229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Faithfulness = 답변의 주장(claims) 중 검색 문서로 뒷받침되는 비율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📐 측정 4단계 (LLM이 수행)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246120"/>
            <a:ext cx="2560320" cy="77724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답변 → claims 분해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44368" y="3493008"/>
            <a:ext cx="18288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54680" y="3246120"/>
            <a:ext cx="2560320" cy="7772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각 claim →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문서에서 검증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33288" y="3493008"/>
            <a:ext cx="18288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0" y="3246120"/>
            <a:ext cx="2468880" cy="7772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뒷받침되는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claim 개수 계산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430768" y="3493008"/>
            <a:ext cx="18288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41080" y="3246120"/>
            <a:ext cx="2194560" cy="77724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점수 = 비율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177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📝 예시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029200"/>
            <a:ext cx="11338560" cy="13716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5102352"/>
            <a:ext cx="11119104" cy="1225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답변: "RAG는 검색과 생성을 결합한다. 2017년에 처음 제안됐다."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문서: "RAG는 검색과 생성을 결합한 기술이다. Lewis et al. 2020에서 제안."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Claims: ① "검색+생성 결합" (✅ 문서 뒷받침)  ② "2017년 제안" (❌ 환각)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Faithfulness = 1/2 = 0.5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Answer Relevancy — 답이 질문에 얼마나 부합하나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주제 이탈·동문서답 탐지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338560" cy="8229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Answer Relevancy = 답변의 충실도 — 질문과 직접 관련된가?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📐 LLM이 측정 — 역방향 트릭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11338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LLM에게 "이 답변을 보고 질문을 추측해봐" 요청 → N개 가설 질문 생성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원래 질문과 가설 질문들의 임베딩 유사도 평균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→ 답변이 질문에 충실할수록 가설 질문이 원래 질문과 유사함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749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📝 예시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486400"/>
            <a:ext cx="11338560" cy="9144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559552"/>
            <a:ext cx="11119104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Q: "RAG가 뭐야?"   A1: "RAG는 검색+생성 기술" → 높은 Relevancy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      A2: "RAG는 좋은 기법이고, 회사들이 많이 써요." → 낮은 Relevancy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Context Precision — 검색 결과의 "정확성"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Top-K 중 진짜 관련 있는 문서의 비율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338560" cy="8229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Context Precision = 관련 문서가 상위 K에 얼마나 잘 정렬됐는가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📐 측정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11338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각 검색 문서에 대해 LLM이 "정답과 관련 있나?" 판정 (yes/no)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Precision@K 계산 (relevant 비율, 상위 순위 가중)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→ 검색기 정확도 진단 — 낮으면 "검색을 손봐야 함"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749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📝 예시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486400"/>
            <a:ext cx="11338560" cy="9144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559552"/>
            <a:ext cx="11119104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Top-5 검색: [관련, 관련, 무관, 관련, 무관]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Context Precision ≈ 3/5 = 0.6  (순위 가중치로 1·2위 비중 ↑)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Context Recall — 검색이 "빠짐없이" 가져왔나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정답에 필요한 정보가 검색됐나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338560" cy="82296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1F3A5F"/>
                </a:solidFill>
                <a:latin typeface="맑은 고딕"/>
              </a:rPr>
              <a:t>Context Recall = 정답을 만들기 위해 필요한 정보가 모두 검색됐는가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📐 측정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11338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정답(ground truth)을 claims로 분해 (LLM 사용)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각 claim이 검색 문서에서 발견되는지 체크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→ 발견된 claim 비율 = Recall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낮으면 "검색이 부족함" — Top-K 늘리거나 Retriever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🎯 4지표 요약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5532120"/>
          <a:ext cx="1133856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5669280"/>
              </a:tblGrid>
              <a:tr h="30480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진단 부위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04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검색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Context Precision (정확) + Context Recall (완전)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생성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Faithfulness (근거) + Answer Relevancy (충실)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RAGAS 코드 예시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evaluate() 한 줄로 4지표 동시 측정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11338560" cy="4572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10512"/>
            <a:ext cx="11119104" cy="4425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ragas import evaluate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ragas.metrics import (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faithfulness, answer_relevancy,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context_precision, context_recall,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datasets import Dataset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평가셋 — 질문 / 답변 / 검색문서 / 정답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data = {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"question": ["RAG가 뭐야?", "청킹은 왜 중요해?"],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"answer":   ["RAG는 검색+생성 결합 기술", "..."],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"contexts": [["RAG 문서 청크1", "청크2"], ["청킹 문서1", "..."]],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"ground_truth": ["RAG는 Retrieval-Augmented Generation의 약자", "..."],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dataset = Dataset.from_dict(data)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4지표 한 번에 평가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result = evaluate(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dataset,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metrics=[faithfulness, answer_relevancy,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         context_precision, context_recall],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print(result)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{'faithfulness': 0.85, 'answer_relevancy': 0.91,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#  'context_precision': 0.73, 'context_recall': 0.82}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LLM-as-a-Judge — GPT가 직접 채점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RAGAS 외에 가장 널리 쓰이는 평가 방식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1338560" cy="73152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1">
                <a:solidFill>
                  <a:srgbClr val="E64A19"/>
                </a:solidFill>
                <a:latin typeface="맑은 고딕"/>
              </a:rPr>
              <a:t>"강력한 LLM(GPT-4)이 두 답변을 비교하면 사람과 80~90% 일치"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📐 두 가지 평가 방식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5577840" cy="228600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4A90E2"/>
                </a:solidFill>
                <a:latin typeface="맑은 고딕"/>
              </a:rPr>
              <a:t>Single Rating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한 답변에 1~10점 채점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절대 평가 — 각 답변의 자체 품질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장점: 시간 추이 측정 가능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단점: 점수 인플레이션 (LLM이 후함)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91840"/>
            <a:ext cx="5577840" cy="228600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4747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E64A19"/>
                </a:solidFill>
                <a:latin typeface="맑은 고딕"/>
              </a:rPr>
              <a:t>Pairwise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두 답변 (A, B) 중 더 좋은 것 선택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상대 평가 — A/B 테스트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장점: 일관성 높음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단점: 위치 편향 (A 자주 선택)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Single Rating — 프롬프트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1~10점 채점 + 근거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11338560" cy="475488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10512"/>
            <a:ext cx="11119104" cy="4608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판정 프롬프트 (system)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─────────────────────────────────────────────────────────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당신은 RAG 답변 품질 평가 전문가입니다.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다음 답변을 정확성, 완결성, 관련성, 명료성 4가지 기준으로 평가하세요.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각 기준을 1~10점으로 채점하고 평균을 final score로 제시하세요.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JSON 형식으로 답하세요: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"accuracy":     &lt;int&gt;,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"completeness": &lt;int&gt;,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"relevance":    &lt;int&gt;,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"clarity":      &lt;int&gt;,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"final_score":  &lt;float&gt;,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"reasoning":    "&lt;왜 이 점수인지 한 줄&gt;"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질문: {question}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검색 문서: {context}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답변: {answer}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─────────────────────────────────────────────────────────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Pairwise Comparison — 프롬프트 + 위치 편향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A/B 중 더 좋은 것 선택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11338560" cy="347472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10512"/>
            <a:ext cx="11119104" cy="33284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판정 프롬프트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─────────────────────────────────────────────────────────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다음 질문에 대한 두 답변을 비교하세요.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어느 답변이 더 정확하고 도움이 되나요?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질문: {question}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답변 A: {answer_a}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답변 B: {answer_b}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JSON으로: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"winner": "A" | "B" | "tie",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"reasoning": "&lt;짧은 근거&gt;"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394960"/>
            <a:ext cx="11338560" cy="1097280"/>
          </a:xfrm>
          <a:prstGeom prst="roundRect">
            <a:avLst/>
          </a:prstGeom>
          <a:solidFill>
            <a:srgbClr val="FDEDE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0392B"/>
                </a:solidFill>
                <a:latin typeface="맑은 고딕"/>
              </a:rPr>
              <a:t>⚠️ 위치 편향 (Position Bias)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→ 해결: 같은 쌍을 (A, B) 와 (B, A) 두 번 평가하고 평균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RAGAS vs 직접 LLM Judge — 언제 무엇을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둘은 보완 관계, 함께 쓰는 게 베스트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587828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RAGAS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직접 LLM Judge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87828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측정 대상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4가지 정량 지표 자동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커스텀 기준 자유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구현 부담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한 줄 (.evaluate())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프롬프트 직접 설계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87828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도메인 적응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기본 프롬프트 고정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프롬프트 수정 자유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비용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낮음 (간결한 프롬프트)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프롬프트 길이 따라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87828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설명 가능성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지표 4종 분리 진단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7AE60"/>
                          </a:solidFill>
                          <a:latin typeface="맑은 고딕"/>
                        </a:rPr>
                        <a:t>각 답변에 근거 자세히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주 용도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정기 회귀 평가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수동 검수·새 모델 비교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8932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🎯 실무: RAGAS로 매일 정량 모니터링 + LLM Judge로 의심 사례 정밀 분석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평가셋 만들기 — Synthetic Question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도메인 평가셋이 없을 때 LLM으로 자동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📐 RAGAS TestSet Generator 흐름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1645920" cy="82296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문서 청크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12848" y="2514600"/>
            <a:ext cx="18288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23160" y="2240280"/>
            <a:ext cx="173736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LLM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질문 생성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78808" y="2514600"/>
            <a:ext cx="18288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2240280"/>
            <a:ext cx="1737360" cy="8229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LLM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정답 생성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144768" y="2514600"/>
            <a:ext cx="18288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1828800" cy="8229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난이도별 분류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202168" y="2514600"/>
            <a:ext cx="18288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2240280"/>
            <a:ext cx="1645920" cy="82296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평가셋</a:t>
            </a:r>
          </a:p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</a:rPr>
              <a:t>저장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49039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📝 코드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11338560" cy="228600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233672"/>
            <a:ext cx="11119104" cy="2139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ragas.testset import TestsetGenerator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from langchain_openai import ChatOpenAI, OpenAIEmbeddings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generator = TestsetGenerator.from_langchain(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generator_llm=ChatOpenAI(model="gpt-4o-mini"),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critic_llm=ChatOpenAI(model="gpt-4o"),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    embeddings=OpenAIEmbeddings(),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testset = generator.generate_with_langchain_docs(docs, test_size=20)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DCDCDC"/>
                </a:solidFill>
                <a:latin typeface="Consolas"/>
              </a:rPr>
              <a:t>testset.to_pandas().to_csv("eval_set.csv")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평가 → 진단 → 개선 사이클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지표가 가리키는 곳을 손본다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📐 4단계 반복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377440" cy="86868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① 평가 실행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222222"/>
                </a:solidFill>
                <a:latin typeface="맑은 고딕"/>
              </a:rPr>
              <a:t>RAGAS + LLM Judge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52928" y="2560320"/>
            <a:ext cx="27432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54680" y="2286000"/>
            <a:ext cx="2377440" cy="8686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② 약점 진단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3200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222222"/>
                </a:solidFill>
                <a:latin typeface="맑은 고딕"/>
              </a:rPr>
              <a:t>어느 지표가 낮나?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550408" y="2560320"/>
            <a:ext cx="27432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52160" y="2286000"/>
            <a:ext cx="2377440" cy="8686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③ 가설 + 변경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200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222222"/>
                </a:solidFill>
                <a:latin typeface="맑은 고딕"/>
              </a:rPr>
              <a:t>원인 가정 + 1 변수만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47888" y="2560320"/>
            <a:ext cx="274320" cy="274320"/>
          </a:xfrm>
          <a:prstGeom prst="right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49640" y="2286000"/>
            <a:ext cx="2377440" cy="86868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④ 재평가 + 비교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200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1">
                <a:solidFill>
                  <a:srgbClr val="222222"/>
                </a:solidFill>
                <a:latin typeface="맑은 고딕"/>
              </a:rPr>
              <a:t>전/후 같은 평가셋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🔑 사이클 원칙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17720"/>
            <a:ext cx="11338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한 번에 한 변수만 변경 (A/B 비교의 기본)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같은 평가셋 사용 (변경 효과만 측정)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최소 30개 이상 평가 (통계적 유의성)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222222"/>
                </a:solidFill>
                <a:latin typeface="맑은 고딕"/>
              </a:rPr>
              <a:t>●  지표 ↑가 항상 좋은 건 아님 — 트레이드오프 (예: Recall↑ vs Precision↓)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지표가 가리키는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각 지표 → 손볼 부위 매핑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68580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낮은 지표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원인 후보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개선 조치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Context Precision↓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검색이 무관한 문서를 가져옴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Reranking 추가 / Top-K 줄임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Context Recall↓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검색이 정보 일부만 가져옴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Top-K 늘림 / 청크 크기 조정 / HyDE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Faithfulness↓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LLM이 환각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프롬프트에 "문서 기반으로만" 강조 / 모델 업그레이드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Answer Relevancy↓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답변이 주제 이탈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프롬프트 명료화 / 검색 품질 개선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전반적으로 낮음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기반 RAG 부실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Session 29 Advanced RAG 기법 적용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8932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💡 한 번에 여러 지표 모니터링하면 진단 정확도 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도메인별 평가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도메인 특성에 맞는 메트릭 선택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68580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도메인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중요 지표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추가 평가 항목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FAQ / 매뉴얼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Faithfulness · Answer Relevancy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정확성 (Exact Match)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의료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C0392B"/>
                          </a:solidFill>
                          <a:latin typeface="맑은 고딕"/>
                        </a:rPr>
                        <a:t>Faithfulness 최우선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환각 = 위험 → 엄격 검수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법률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Faithfulness · 인용 정확성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조문 ID 일치율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고객 지원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Answer Relevancy · 친절도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사용자 만족도 직접 측정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</a:rPr>
                        <a:t>창의적 글쓰기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BERTScore (의미 보존)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100">
                          <a:solidFill>
                            <a:srgbClr val="222222"/>
                          </a:solidFill>
                          <a:latin typeface="맑은 고딕"/>
                        </a:rPr>
                        <a:t>Pairwise (사람 선호)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8932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🎯 "잘" 의 정의가 도메인마다 다름 — 평가 기준도 달라야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실무 RAG 평가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production RAG 운영의 기본 루틴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338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✅ 도메인 평가셋 50~100개 보유 (synthetic + 수동 보정)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✅ CI/CD에 RAGAS 자동 실행 — 코드 변경 시 회귀 감지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✅ 주요 4지표 시계열 대시보드 (Grafana 등)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✅ Pairwise A/B 테스트 — 새 모델·새 청크 전략 도입 전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✅ Production 로그 샘플링 → LLM Judge로 주기 평가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✅ "이상 답변" 자동 알림 (Faithfulness &lt; 0.5 등)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✅ 사용자 피드백 ('👍/👎') 수집 → LLM Judge와 상관 분석</a:t>
            </a:r>
          </a:p>
          <a:p>
            <a:pPr>
              <a:lnSpc>
                <a:spcPct val="140000"/>
              </a:lnSpc>
            </a:pPr>
            <a:r>
              <a:rPr sz="1400">
                <a:solidFill>
                  <a:srgbClr val="222222"/>
                </a:solidFill>
                <a:latin typeface="맑은 고딕"/>
              </a:rPr>
              <a:t>●  ✅ 평가 결과 정기 리뷰 (주간/월간)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LLM Judge 사용 시 주의사항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환상이 아닌 도구 — 한계 인식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2788920" cy="210312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2788920" cy="5029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위치 편향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2514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(A,B) 와 (B,A) 두 번 평가</a:t>
            </a:r>
          </a:p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→ 평균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737360"/>
            <a:ext cx="2788920" cy="210312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737360"/>
            <a:ext cx="2788920" cy="5029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82880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길이 편향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68880"/>
            <a:ext cx="2514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긴 답변을 선호하는 경향</a:t>
            </a:r>
          </a:p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→ 길이 normalize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2788920" cy="210312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278892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자기 편향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68880"/>
            <a:ext cx="2514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GPT-4가 GPT-4 답을 선호</a:t>
            </a:r>
          </a:p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→ 다른 모델로 교차 검증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737360"/>
            <a:ext cx="2788920" cy="210312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1737360"/>
            <a:ext cx="278892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82880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비용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468880"/>
            <a:ext cx="2514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1000개 평가 = $1~5</a:t>
            </a:r>
          </a:p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222222"/>
                </a:solidFill>
                <a:latin typeface="맑은 고딕"/>
              </a:rPr>
              <a:t>→ 샘플링·캐싱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💡 도메인 전문가 sample check 병행 — LLM Judge가 만능 아님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Part 4 전체 회고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RAG의 4차원을 다 봤다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3385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685800"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일차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차원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lIns="50000" rIns="500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핵심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1일차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기본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Loader · Splitter · Vector DB · LangChain · Streamlit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2일차 오전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정밀도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HyDE · Reranking · Ensemble · Parent Doc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2일차 오후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관계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Graph RAG (Neo4j · Cypher · GraphCypherQAChain)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3일차 오전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추론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Ontology RAG (Apache AGE · Axiom)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685800">
                <a:tc>
                  <a:txBody>
                    <a:bodyPr lIns="80000" rIns="60000"/>
                    <a:lstStyle/>
                    <a:p>
                      <a:pPr algn="ctr"/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</a:rPr>
                        <a:t>3일차 오후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측정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80000" rIns="60000"/>
                    <a:lstStyle/>
                    <a:p>
                      <a:pPr algn="l"/>
                      <a:r>
                        <a:rPr sz="1200">
                          <a:solidFill>
                            <a:srgbClr val="222222"/>
                          </a:solidFill>
                          <a:latin typeface="맑은 고딕"/>
                        </a:rPr>
                        <a:t>RAGAS · LLM-as-a-Judge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8932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🎯 RAG의 4차원: 검색 · 정밀도 · 관계 · 추론 + 측정으로 마무리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Session 32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측정 가능한 RAG 운영의 시작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2286000" cy="777240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자동 메트릭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920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BLEU · ROUGE · BERTScore (단독은 부족)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2286000" cy="7772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RAGAS 4지표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920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Faithfulness · Relevancy · Precision · Recall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2286000" cy="7772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LLM-as-Judge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8346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Single Rating · Pairwise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651760"/>
            <a:ext cx="2286000" cy="77724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평가셋 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8346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RAGAS TestsetGenerator (LLM 자동)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66160"/>
            <a:ext cx="2286000" cy="7772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개선 사이클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7490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F3A5F"/>
                </a:solidFill>
                <a:latin typeface="맑은 고딕"/>
              </a:rPr>
              <a:t>측정 → 진단 → 변경 → 재측정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029200"/>
            <a:ext cx="11338560" cy="146304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166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64A19"/>
                </a:solidFill>
                <a:latin typeface="맑은 고딕"/>
              </a:rPr>
              <a:t>🛠️ 실습 체크 (32_rag_evaluation.ipynb)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77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✅ 1일차에 만든 Streamlit RAG에 RAGAS 평가 적용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✅ 청크 크기 변경 전/후 4지표 비교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222222"/>
                </a:solidFill>
                <a:latin typeface="맑은 고딕"/>
              </a:rPr>
              <a:t>✅ Pairwise로 "내 RAG" vs "베이스라인" 어느 게 나은지 결론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3385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F3A5F"/>
                </a:solidFill>
                <a:latin typeface="맑은 고딕"/>
              </a:rPr>
              <a:t>Part 4 끝 — 다음은 Part 5 (AI Agent)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맑은 고딕"/>
              </a:rPr>
              <a:t>지식을 가져오는 단계 → 도구처럼 활용하는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3385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600" b="0" i="0">
                <a:solidFill>
                  <a:srgbClr val="222222"/>
                </a:solidFill>
                <a:latin typeface="맑은 고딕"/>
              </a:rPr>
              <a:t>Part 4에서 우리는 LLM에 "모르는 것을 알게 하는" 방법을 완성했습니다.</a:t>
            </a:r>
          </a:p>
          <a:p>
            <a:pPr algn="ctr">
              <a:lnSpc>
                <a:spcPct val="155000"/>
              </a:lnSpc>
            </a:pPr>
            <a:r>
              <a:rPr sz="1600" b="0" i="0">
                <a:solidFill>
                  <a:srgbClr val="222222"/>
                </a:solidFill>
                <a:latin typeface="맑은 고딕"/>
              </a:rPr>
              <a:t>다음 Part 5에서는 LLM이 그 지식을 "도구처럼 능동적으로 사용" 하는 단계로.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383280"/>
            <a:ext cx="5577840" cy="2286000"/>
          </a:xfrm>
          <a:prstGeom prst="roundRect">
            <a:avLst/>
          </a:prstGeom>
          <a:solidFill>
            <a:srgbClr val="F6F8FB"/>
          </a:solidFill>
          <a:ln w="254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4A90E2"/>
                </a:solidFill>
                <a:latin typeface="맑은 고딕"/>
              </a:rPr>
              <a:t>🌅 Part 5 시작 (다음주)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AI Agent 입문 + Tool Calling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LLM이 직접 도구를 선택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Function Calling 패턴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383280"/>
            <a:ext cx="5577840" cy="2286000"/>
          </a:xfrm>
          <a:prstGeom prst="roundRect">
            <a:avLst/>
          </a:prstGeom>
          <a:solidFill>
            <a:srgbClr val="FEF6E5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56616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E64A19"/>
                </a:solidFill>
                <a:latin typeface="맑은 고딕"/>
              </a:rPr>
              <a:t>🌆 Part 5 심화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605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LangGraph 멀티에이전트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워크플로우 그래프 표현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222222"/>
                </a:solidFill>
                <a:latin typeface="맑은 고딕"/>
              </a:rPr>
              <a:t>●  도메인 프로젝트 통합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1F3A5F"/>
                </a:solidFill>
                <a:latin typeface="맑은 고딕"/>
              </a:rPr>
              <a:t>🔑 RAG = 지식을 가져온다 / Agent = 지식을 도구처럼 쓴다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 i="0">
                <a:solidFill>
                  <a:srgbClr val="666666"/>
                </a:solidFill>
                <a:latin typeface="맑은 고딕"/>
              </a:rPr>
              <a:t>수고하셨습니다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 i="0">
                <a:solidFill>
                  <a:srgbClr val="1F3A5F"/>
                </a:solidFill>
                <a:latin typeface="맑은 고딕"/>
              </a:rPr>
              <a:t>Part 4 완료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06040"/>
            <a:ext cx="112471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700" b="0" i="0">
                <a:solidFill>
                  <a:srgbClr val="222222"/>
                </a:solidFill>
                <a:latin typeface="맑은 고딕"/>
              </a:rPr>
              <a:t>오늘까지 우리는 LLM에 "모르는 것을 알게 하는" 방법을 완성했고,</a:t>
            </a:r>
          </a:p>
          <a:p>
            <a:pPr algn="ctr">
              <a:lnSpc>
                <a:spcPct val="155000"/>
              </a:lnSpc>
            </a:pPr>
            <a:r>
              <a:rPr sz="1700" b="0" i="0">
                <a:solidFill>
                  <a:srgbClr val="222222"/>
                </a:solidFill>
                <a:latin typeface="맑은 고딕"/>
              </a:rPr>
              <a:t>그 결과를 정량 측정하는 도구까지 손에 들어왔습니다.</a:t>
            </a:r>
          </a:p>
          <a:p>
            <a:pPr algn="ctr">
              <a:lnSpc>
                <a:spcPct val="155000"/>
              </a:lnSpc>
            </a:pPr>
            <a:r>
              <a:rPr sz="1700" b="0" i="0">
                <a:solidFill>
                  <a:srgbClr val="222222"/>
                </a:solidFill>
                <a:latin typeface="맑은 고딕"/>
              </a:rPr>
              <a:t/>
            </a:r>
          </a:p>
          <a:p>
            <a:pPr algn="ctr">
              <a:lnSpc>
                <a:spcPct val="155000"/>
              </a:lnSpc>
            </a:pPr>
            <a:r>
              <a:rPr sz="1700" b="0" i="0">
                <a:solidFill>
                  <a:srgbClr val="222222"/>
                </a:solidFill>
                <a:latin typeface="맑은 고딕"/>
              </a:rPr>
              <a:t>이제 RAG의 4차원(검색 · 정밀도 · 관계 · 추론) 모두 + 측정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5303520"/>
            <a:ext cx="5760720" cy="1097280"/>
          </a:xfrm>
          <a:prstGeom prst="round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30000" bIns="30000"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📅 다음주</a:t>
            </a:r>
          </a:p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맑은 고딕"/>
              </a:rPr>
              <a:t>Part 5 — AI Agent 시작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666666"/>
                </a:solidFill>
                <a:latin typeface="맑은 고딕"/>
              </a:rPr>
              <a:t>지식을 가져오는 단계 → 도구처럼 쓰는 단계로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