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0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Part 5 · Session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A2A — Agent-to-Agent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023360"/>
            <a:ext cx="7589520" cy="9144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에이전트끼리 «대화하는»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여러 자율 에이전트가 발견·위임·협업하는 개방형 프로토콜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B0B8C4"/>
                </a:solidFill>
                <a:latin typeface="맑은 고딕"/>
                <a:ea typeface="맑은 고딕"/>
                <a:cs typeface="맑은 고딕"/>
              </a:rPr>
              <a:t>Google + 파트너 50+ · 2024 — HTTP + JSON-RPC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세 가지 «멀티 에이전트»  —  무엇이 다른가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703320" cy="86868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Multi-Tool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LLM 1개 + 여러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834640"/>
            <a:ext cx="37033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단일 모델이 여러 도구를 호출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(Tool Calling · MCP)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17720"/>
            <a:ext cx="37033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프로세스 1개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417320"/>
            <a:ext cx="3703320" cy="86868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Multi-Agent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(In-Process)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2423160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E86A33"/>
                </a:solidFill>
                <a:latin typeface="맑은 고딕"/>
                <a:ea typeface="맑은 고딕"/>
                <a:cs typeface="맑은 고딕"/>
              </a:rPr>
              <a:t>LangGraph · CrewAI · AutoGen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2834640"/>
            <a:ext cx="37033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여러 에이전트가 같은 프로세스에서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메모리·상태 공유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4617720"/>
            <a:ext cx="37033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E86A33"/>
                </a:solidFill>
                <a:latin typeface="맑은 고딕"/>
                <a:ea typeface="맑은 고딕"/>
                <a:cs typeface="맑은 고딕"/>
              </a:rPr>
              <a:t>프로세스 1개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703320" cy="86868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Agent-to-Agent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(A2A)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423160"/>
            <a:ext cx="3703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별도 프로세스 · 별도 서비스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834640"/>
            <a:ext cx="37033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독립 에이전트끼리 HTTP 로 통신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표준 카드 발견 + 작업 위임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617720"/>
            <a:ext cx="37033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프로세스 N개</a:t>
            </a:r>
          </a:p>
          <a:p>
            <a:pPr algn="ctr"/>
            <a:r>
              <a:rPr sz="11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(분산)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86400"/>
            <a:ext cx="1115568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💡 A2A 는 «조직» 단위로 에이전트를 운영할 때 필요</a:t>
            </a:r>
          </a:p>
          <a:p>
            <a:pPr algn="l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 (예: 회사 A 의 영업 에이전트  ↔  회사 B 의 재고 에이전트)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A2A 핵심 개념 — 4가지 빌딩 블록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40680" cy="54864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Agent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5440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68"/>
                </a:solidFill>
                <a:latin typeface="Consolas"/>
                <a:ea typeface="Consolas"/>
                <a:cs typeface="Consolas"/>
              </a:rPr>
              <a:t>/.well-known/agent.json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54406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에이전트의 «명함»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— 누구이고, 무엇을 할 수 있는가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— 어디로 호출하는가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440680" cy="54864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5440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작업 단위 + 생명주기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423160"/>
            <a:ext cx="54406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submitted → working → completed/failed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— ID 로 추적 가능한 비동기 작업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23360"/>
            <a:ext cx="5440680" cy="5486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Message / Part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5440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E7D4F"/>
                </a:solidFill>
                <a:latin typeface="Consolas"/>
                <a:ea typeface="Consolas"/>
                <a:cs typeface="Consolas"/>
              </a:rPr>
              <a:t>통신의 «말풍선»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54406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Message = 여러 Part 의 묶음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Part = text · file · data 한 조각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023360"/>
            <a:ext cx="5440680" cy="54864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617720"/>
            <a:ext cx="5440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6E44AA"/>
                </a:solidFill>
                <a:latin typeface="Consolas"/>
                <a:ea typeface="Consolas"/>
                <a:cs typeface="Consolas"/>
              </a:rPr>
              <a:t>Task 의 «산출물»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029200"/>
            <a:ext cx="54406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최종 결과물 (파일·구조화 데이터·텍스트)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— Message 와 분리된 결과 컨테이너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Agent Card — 에이전트의 «명함»  ( /.well-known/agent.json 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이런 표준 위치인가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`/.well-known/` 은  RFC 8615 표준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40864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클라이언트가 «무엇이 있는지» 묻기 전에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먼저 «누구인지» 확인할 수 있게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• Discovery (탐색) — 카드만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호출 방식·인증·스킬 파악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86784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필드 핵심: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15968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▸ name /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45152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▸ url        — RPC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74336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▸ capabilities — streaming, push 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▸ skills[]   — 노출 작업 목록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32704"/>
            <a:ext cx="5349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▸ securitySchemes — 인증 방식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예시 — Math Executor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057400"/>
            <a:ext cx="5394960" cy="44348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"name"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"math-executor"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"description"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"산술 계산 전문 에이전트"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"url"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"http://localhost:8001/a2a"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"capabilities"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{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"streaming"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6E44AA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"pushNotifications"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6E44AA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"skills"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[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  "id"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"arithmetic"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  "name"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"사칙연산"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  "inputModes"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[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"text"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]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Task 생명주기 — 비동기 작업 상태 머신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2468880" cy="59436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submitted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작업 접수됨</a:t>
            </a:r>
          </a:p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ID 발급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2468880" cy="59436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6888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처리 중</a:t>
            </a:r>
          </a:p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진행 상태 갱신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114800"/>
            <a:ext cx="2468880" cy="59436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input-required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75488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추가 입력 대기</a:t>
            </a:r>
          </a:p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사용자 응답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2468880" cy="59436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성공 완료</a:t>
            </a:r>
          </a:p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Artifact 반환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2468880" cy="594360"/>
          </a:xfrm>
          <a:prstGeom prst="roundRect">
            <a:avLst/>
          </a:prstGeom>
          <a:solidFill>
            <a:srgbClr val="C13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실패</a:t>
            </a:r>
          </a:p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에러 메시지 포함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97680"/>
            <a:ext cx="2468880" cy="594360"/>
          </a:xfrm>
          <a:prstGeom prst="roundRect">
            <a:avLst/>
          </a:prstGeom>
          <a:solidFill>
            <a:srgbClr val="B0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canceled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취소됨</a:t>
            </a:r>
          </a:p>
          <a:p>
            <a:pPr algn="ctr"/>
            <a:r>
              <a:rPr sz="10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tasks/cancel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2121408"/>
            <a:ext cx="1920240" cy="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263640" y="1481328"/>
            <a:ext cx="1965960" cy="64008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63640" y="2423160"/>
            <a:ext cx="1965960" cy="612648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63640" y="2423160"/>
            <a:ext cx="0" cy="169164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63640" y="4407408"/>
            <a:ext cx="1965960" cy="18288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263640" y="2423160"/>
            <a:ext cx="0" cy="169164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5577840"/>
            <a:ext cx="1115568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JSON-RPC 메서드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message/send  ─  tasks/get  ─  tasks/cancel  ─  tasks/pushNotification/set  ─  message/stream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표준 메서드  ─  JSON-RPC 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200400" cy="77724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message/send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417320"/>
            <a:ext cx="24688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Task 생성·메시지 전송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417320"/>
            <a:ext cx="52120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단발성 작업 — Client → Server</a:t>
            </a:r>
          </a:p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응답에 Task 객체 +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3200400" cy="77724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message/stream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377440"/>
            <a:ext cx="24688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E86A33"/>
                </a:solidFill>
                <a:latin typeface="맑은 고딕"/>
                <a:ea typeface="맑은 고딕"/>
                <a:cs typeface="맑은 고딕"/>
              </a:rPr>
              <a:t>스트리밍 작업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377440"/>
            <a:ext cx="52120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SSE 로 부분 결과 실시간 수신</a:t>
            </a:r>
          </a:p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LLM 토큰 스트리밍과 유사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3200400" cy="7772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tasks/get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337560"/>
            <a:ext cx="24688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Task 상태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337560"/>
            <a:ext cx="52120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비동기 작업의 현재 상태 폴링</a:t>
            </a:r>
          </a:p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working → completed 까지 추적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3200400" cy="777240"/>
          </a:xfrm>
          <a:prstGeom prst="roundRect">
            <a:avLst/>
          </a:prstGeom>
          <a:solidFill>
            <a:srgbClr val="C13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tasks/cancel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297680"/>
            <a:ext cx="24688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13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C1393C"/>
                </a:solidFill>
                <a:latin typeface="맑은 고딕"/>
                <a:ea typeface="맑은 고딕"/>
                <a:cs typeface="맑은 고딕"/>
              </a:rPr>
              <a:t>작업 취소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4297680"/>
            <a:ext cx="52120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진행 중인 Task 를 중단</a:t>
            </a:r>
          </a:p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canceled 상태로 전이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57800"/>
            <a:ext cx="3200400" cy="77724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tasks/pushNotification/set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257800"/>
            <a:ext cx="24688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6E44AA"/>
                </a:solidFill>
                <a:latin typeface="맑은 고딕"/>
                <a:ea typeface="맑은 고딕"/>
                <a:cs typeface="맑은 고딕"/>
              </a:rPr>
              <a:t>결과 푸시 등록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5257800"/>
            <a:ext cx="52120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클라이언트가 콜백 URL 등록</a:t>
            </a:r>
          </a:p>
          <a:p>
            <a:pPr algn="l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완료 시 서버가 푸시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모두 JSON-RPC 2.0 위에 정의 — 트랜스포트는 HTTP(S) 기본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협업 패턴 — Planner  +  Executor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4114800" cy="91440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Planner Agent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(LLM 기반 · 작업 분해)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포트 8002  ·  /a2a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554480"/>
            <a:ext cx="4114800" cy="9144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Executor Agent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(산술 계산 전문)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6060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포트 8001  ·  /a2a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3200400"/>
            <a:ext cx="6217920" cy="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71800" y="2926080"/>
            <a:ext cx="6217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3A68"/>
                </a:solidFill>
                <a:latin typeface="Consolas"/>
                <a:ea typeface="Consolas"/>
                <a:cs typeface="Consolas"/>
              </a:rPr>
              <a:t>① GET /.well-known/agent.json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971800" y="3657600"/>
            <a:ext cx="6217920" cy="0"/>
          </a:xfrm>
          <a:prstGeom prst="bentConnector3">
            <a:avLst/>
          </a:prstGeom>
          <a:ln w="2540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71800" y="3703320"/>
            <a:ext cx="6217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2E7D4F"/>
                </a:solidFill>
                <a:latin typeface="Consolas"/>
                <a:ea typeface="Consolas"/>
                <a:cs typeface="Consolas"/>
              </a:rPr>
              <a:t>② Agent Card (skills, capabilities)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4206240"/>
            <a:ext cx="6217920" cy="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71800" y="3950208"/>
            <a:ext cx="6217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3A68"/>
                </a:solidFill>
                <a:latin typeface="Consolas"/>
                <a:ea typeface="Consolas"/>
                <a:cs typeface="Consolas"/>
              </a:rPr>
              <a:t>③ POST /a2a — message/send "12 + 7 = ?"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971800" y="4663440"/>
            <a:ext cx="6217920" cy="0"/>
          </a:xfrm>
          <a:prstGeom prst="bentConnector3">
            <a:avLst/>
          </a:prstGeom>
          <a:ln w="25400">
            <a:solidFill>
              <a:srgbClr val="E86A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71800" y="4709160"/>
            <a:ext cx="6217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④ Task { id: ..., status: "working" 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5212080"/>
            <a:ext cx="6217920" cy="0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71800" y="4956048"/>
            <a:ext cx="6217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3A68"/>
                </a:solidFill>
                <a:latin typeface="Consolas"/>
                <a:ea typeface="Consolas"/>
                <a:cs typeface="Consolas"/>
              </a:rPr>
              <a:t>⑤ tasks/get (polling)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971800" y="5669280"/>
            <a:ext cx="6217920" cy="0"/>
          </a:xfrm>
          <a:prstGeom prst="bentConnector3">
            <a:avLst/>
          </a:prstGeom>
          <a:ln w="2540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71800" y="5715000"/>
            <a:ext cx="6217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2E7D4F"/>
                </a:solidFill>
                <a:latin typeface="Consolas"/>
                <a:ea typeface="Consolas"/>
                <a:cs typeface="Consolas"/>
              </a:rPr>
              <a:t>⑥ Task { status: "completed", artifact: { result: 19 }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End-to-End  —  Planner 가 Executor 호출하는 코드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55680" cy="5074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1) Discovery — Executor의 명함 확인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card =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httpx.AsyncClient().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"http://localhost:8001/.well-known/agent.json"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2) 작업 위임 — message/send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request = {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"jsonrpc"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"2.0"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"id"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uuid4().hex,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"method"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"message/send"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"params"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{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    "message"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{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"parts"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[{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"text"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"12 + 7 = ?"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}]}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task = (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client.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post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(card.url, json=request)).json()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3) 결과 폴링 — tasks/get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task[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"result"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 !=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"completed"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asyncio.sleep(0.5)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    task = (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client.post(card.url, json={..., "method":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"tasks/get"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"params": {"id": task_id}})).json()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4) Artifact 추출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answer = task[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"result"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"artifact"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][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"result"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   </a:t>
            </a:r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 vs  A2A  —  같은 LLM 시대, 다른 레이어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389120"/>
              </a:tblGrid>
              <a:tr h="587828">
                <a:tc>
                  <a:txBody>
                    <a:bodyPr tIns="54864" bIns="54864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A2A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87828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↔ 도구·데이터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↔ 에이전트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«도구 호출자» 관점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«협업자» 관점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87828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주로 stdio (로컬) · 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HTTP(S) · JSON-RPC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tools/list (서버 내)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Card (/.well-known)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87828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 · Resource ·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 · Message · Artifact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앱이 외부 시스템과 연결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독립 에이전트끼리 협업·위임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760720"/>
            <a:ext cx="1115568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💡 보완 관계 — 한 에이전트가 «MCP 로 도구를 쓰면서» 동시에 «A2A 로 다른 에이전트와 협업»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확장 포인트  + 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97480" cy="59436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Streaming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6974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message/stream + SSE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부분 결과 실시간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17320"/>
            <a:ext cx="2697480" cy="59436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Push Notification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2103120"/>
            <a:ext cx="26974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tasks/pushNotification/set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완료 시 콜백 URL 호출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2697480" cy="59436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Authentication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2103120"/>
            <a:ext cx="26974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Agent Card 의 securitySchemes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OAuth · API Key · mTLS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417320"/>
            <a:ext cx="2697480" cy="59436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Public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2103120"/>
            <a:ext cx="26974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Python · TypeScript · Java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Google 공식 a2a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11155680" cy="9144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"여러 자율 에이전트가 발견·위임·협업하기 위한 표준 — 분산 AI 시스템의 인터넷"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83480"/>
            <a:ext cx="3641598" cy="594360"/>
          </a:xfrm>
          <a:prstGeom prst="roundRect">
            <a:avLst/>
          </a:prstGeom>
          <a:solidFill>
            <a:srgbClr val="B0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Tool Calling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0"/>
            <a:ext cx="364159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LLM 1개 + 함수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8798" y="51663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983480"/>
            <a:ext cx="3641598" cy="59436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669280"/>
            <a:ext cx="364159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LLM ↔ 도구/데이터 표준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118" y="51663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983480"/>
            <a:ext cx="3641598" cy="59436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A2A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669280"/>
            <a:ext cx="364159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에이전트 ↔ 에이전트 표준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→ Part 5 가 다루는 «에이전트 시대»의 핵심 3축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