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000" b="0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Part 5 · Session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4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— Model Context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4023360"/>
            <a:ext cx="7589520" cy="9144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Agent 의 «USB-C 표준»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이 도구·데이터·시스템과 연결되는 단 하나의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0">
                <a:solidFill>
                  <a:srgbClr val="B0B8C4"/>
                </a:solidFill>
                <a:latin typeface="맑은 고딕"/>
                <a:ea typeface="맑은 고딕"/>
                <a:cs typeface="맑은 고딕"/>
              </a:rPr>
              <a:t>Anthropic · 2024 — JSON-RPC 2.0 기반 개방형 표준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가 해결하는 문제 — Tool Calling 만으로는 부족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548640"/>
          </a:xfrm>
          <a:prstGeom prst="roundRect">
            <a:avLst/>
          </a:prstGeom>
          <a:solidFill>
            <a:srgbClr val="C139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❌  MCP 없이  —  N×M 통합 지옥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71800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GPT-4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617720"/>
            <a:ext cx="59436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617720"/>
            <a:ext cx="59436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617720"/>
            <a:ext cx="59436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4617720"/>
            <a:ext cx="594360" cy="5029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11680" y="2450591"/>
            <a:ext cx="1485900" cy="2167129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011680" y="2450591"/>
            <a:ext cx="2171700" cy="2167129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011680" y="2450591"/>
            <a:ext cx="2857500" cy="2167129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11680" y="2450591"/>
            <a:ext cx="3543300" cy="2167129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011680" y="3227832"/>
            <a:ext cx="1485900" cy="138988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3227832"/>
            <a:ext cx="2171700" cy="138988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011680" y="3227832"/>
            <a:ext cx="2857500" cy="138988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11680" y="3227832"/>
            <a:ext cx="3543300" cy="138988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011680" y="4005072"/>
            <a:ext cx="1485900" cy="61264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11680" y="4005072"/>
            <a:ext cx="2171700" cy="61264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011680" y="4005072"/>
            <a:ext cx="2857500" cy="61264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11680" y="4005072"/>
            <a:ext cx="3543300" cy="612648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257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C1393C"/>
                </a:solidFill>
                <a:latin typeface="맑은 고딕"/>
                <a:ea typeface="맑은 고딕"/>
                <a:cs typeface="맑은 고딕"/>
              </a:rPr>
              <a:t>→ N × M 어댑터 필요 · 매번 새로 작성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417320"/>
            <a:ext cx="5394960" cy="5486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✅  MCP 적용  —  1×N + 1×M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194560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Claude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2971800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GPT-4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3749039"/>
            <a:ext cx="12801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Gemini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2240280"/>
            <a:ext cx="1371600" cy="219456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Protocol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0" y="2194560"/>
            <a:ext cx="105156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Slack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2743200"/>
            <a:ext cx="105156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GitHub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5600" y="3291839"/>
            <a:ext cx="105156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0" y="3840479"/>
            <a:ext cx="105156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Email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72400" y="2450591"/>
            <a:ext cx="822960" cy="886969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772400" y="3227832"/>
            <a:ext cx="822960" cy="109728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772400" y="3337560"/>
            <a:ext cx="822960" cy="667512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9966960" y="2423160"/>
            <a:ext cx="548640" cy="91440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966960" y="2971800"/>
            <a:ext cx="548640" cy="36576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966960" y="3337560"/>
            <a:ext cx="548640" cy="182879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66960" y="3337560"/>
            <a:ext cx="548640" cy="731519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63640" y="525780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→ 표준 1개로 모든 LLM × 모든 도구 연결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806440"/>
            <a:ext cx="11155680" cy="685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Tool Calling = LLM API 별 규격. MCP = LLM 과 무관한 «도구/데이터 노출» 표준.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— 한 줄 정의 &amp; 핵심 컴포넌트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155680" cy="82296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= "LLM 애플리케이션이 도구·데이터·프롬프트를 발견·호출하는 표준 프로토콜"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60320"/>
            <a:ext cx="2697480" cy="64008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91840"/>
            <a:ext cx="269748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사용자가 직접 쓰는 앱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(Claude Desktop · Cursor)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560320"/>
            <a:ext cx="2697480" cy="64008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3291840"/>
            <a:ext cx="269748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Host 내부의 MCP 클라이언트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서버와 1:1 연결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560320"/>
            <a:ext cx="2697480" cy="64008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3291840"/>
            <a:ext cx="269748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도구·리소스·프롬프트 제공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— stdio / HTTP 로 통신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560320"/>
            <a:ext cx="2697480" cy="64008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Transport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3291840"/>
            <a:ext cx="2697480" cy="1554480"/>
          </a:xfrm>
          <a:prstGeom prst="rect">
            <a:avLst/>
          </a:prstGeom>
          <a:solidFill>
            <a:srgbClr val="FFFFFF"/>
          </a:solidFill>
          <a:ln w="1524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stdio (로컬 프로세스)</a:t>
            </a:r>
          </a:p>
          <a:p>
            <a:pPr algn="ctr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SSE (원격 HTTP) — JSON-RPC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0460" y="361188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3659" y="361188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6860" y="361188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1115568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Host 안에는 여러 Client 가 살고, 각 Client 는 정확히 1개의 Server 에 연결</a:t>
            </a:r>
          </a:p>
          <a:p>
            <a:pPr algn="ctr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Transport 는 두 가지 — 로컬 도구는 stdio, 원격 서비스는 SSE(HTTP)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아키텍처 — 통신 흐름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4114800" cy="4389120"/>
          </a:xfrm>
          <a:prstGeom prst="rect">
            <a:avLst/>
          </a:prstGeom>
          <a:solidFill>
            <a:srgbClr val="F5F7FA"/>
          </a:solidFill>
          <a:ln w="254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931920" cy="4572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Host (예: Claude Desktop)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566160" cy="64008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(Claude/GPT/…)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1645920" cy="64008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Client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200400"/>
            <a:ext cx="1645920" cy="64008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Client B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554480" y="2834640"/>
            <a:ext cx="274320" cy="36576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554480" y="2834640"/>
            <a:ext cx="274320" cy="36576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2834640"/>
            <a:ext cx="868680" cy="36576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651760" y="2834640"/>
            <a:ext cx="868680" cy="365760"/>
          </a:xfrm>
          <a:prstGeom prst="bentConnector3">
            <a:avLst/>
          </a:prstGeom>
          <a:ln w="1905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114800"/>
            <a:ext cx="3566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JSON-RPC 2.0  ·  stdio / SSE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54480" y="4434840"/>
            <a:ext cx="0" cy="68580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4480" y="4434840"/>
            <a:ext cx="0" cy="68580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520440" y="4434840"/>
            <a:ext cx="0" cy="68580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20440" y="4434840"/>
            <a:ext cx="0" cy="68580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846320" y="3108960"/>
            <a:ext cx="3200400" cy="7315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Server 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(Filesystem)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4160520"/>
            <a:ext cx="3200400" cy="7315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Server B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(GitHub)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423160" y="3474720"/>
            <a:ext cx="2423160" cy="4572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423160" y="3474720"/>
            <a:ext cx="2423160" cy="4572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43400" y="3520440"/>
            <a:ext cx="502920" cy="100584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4343400" y="3520440"/>
            <a:ext cx="502920" cy="1005840"/>
          </a:xfrm>
          <a:prstGeom prst="bentConnector3">
            <a:avLst/>
          </a:prstGeom>
          <a:ln w="2540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321040" y="1417320"/>
            <a:ext cx="3337560" cy="4572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통신 시퀀스 (개략)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9659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1. initialize  (handshake)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37744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2. tools/list  (목록 조회)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78892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3. resources/list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4. prompts/list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61188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5. tools/call  ← LLM 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02336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6. notifications  (이벤트)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989320"/>
            <a:ext cx="11155680" cy="502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→ Host 는 여러 Server 를 동시 연결 · 각 연결은 독립된 Client 가 관리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의 3대 Primitive — 무엇을 노출하는가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3703320" cy="77724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Tools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@mcp.tool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31720"/>
            <a:ext cx="3703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1F3A68"/>
                </a:solidFill>
                <a:latin typeface="맑은 고딕"/>
                <a:ea typeface="맑은 고딕"/>
                <a:cs typeface="맑은 고딕"/>
              </a:rPr>
              <a:t>LLM 이 호출하는 «액션» (함수)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154680"/>
            <a:ext cx="370332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add(a, b)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search_files(query)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send_email(to, body)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59" y="1417320"/>
            <a:ext cx="3703320" cy="77724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Resources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@mcp.resource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2331720"/>
            <a:ext cx="3703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2E7D4F"/>
                </a:solidFill>
                <a:latin typeface="맑은 고딕"/>
                <a:ea typeface="맑은 고딕"/>
                <a:cs typeface="맑은 고딕"/>
              </a:rPr>
              <a:t>LLM 이 읽는 «데이터» (URI 기반)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3154680"/>
            <a:ext cx="370332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file:///etc/hosts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db://users/42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gh://repo/issues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417320"/>
            <a:ext cx="3703320" cy="77724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Prompts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@mcp.prompt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331720"/>
            <a:ext cx="37033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6E4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300" b="1">
                <a:solidFill>
                  <a:srgbClr val="6E44AA"/>
                </a:solidFill>
                <a:latin typeface="맑은 고딕"/>
                <a:ea typeface="맑은 고딕"/>
                <a:cs typeface="맑은 고딕"/>
              </a:rPr>
              <a:t>사용자가 선택하는 «템플릿»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3154680"/>
            <a:ext cx="3703320" cy="1737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 bIns="109728"/>
          <a:lstStyle/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/summarize {file}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/code-review {pr}</a:t>
            </a:r>
          </a:p>
          <a:p>
            <a:pPr algn="l"/>
            <a:r>
              <a:rPr sz="12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• /sql-explain {q}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212080"/>
            <a:ext cx="11155680" cy="1325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Tools     —  부작용 있는 액션 (DB 쓰기, 메일 발송)</a:t>
            </a:r>
          </a:p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Resources —  부작용 없는 데이터 (파일, 레코드 조회)</a:t>
            </a:r>
          </a:p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Prompts   —  사용자가 명시적으로 선택하는 슬래시 명령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서버 만들기 — FastMCP 로 5줄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FastMCP = MCP SDK 의 «FastAPI 스타일» 데코레이터 인터페이스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6766560" cy="4206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mcp.server.fastmcp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FastMCP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mcp = 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FastMCP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"demo-server"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Tool — 부작용 있는 액션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@mcp.tool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add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(a: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b: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 -&gt;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    """두 정수를 더한다."""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a + b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# Resource — URI 기반 읽기 전용</a:t>
            </a:r>
          </a:p>
          <a:p>
            <a:pPr algn="l"/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@mcp.resource("config://demo")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config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() -&gt; </a:t>
            </a:r>
            <a:r>
              <a:rPr sz="1100" b="0">
                <a:solidFill>
                  <a:srgbClr val="6E44AA"/>
                </a:solidFill>
                <a:latin typeface="Consolas"/>
                <a:ea typeface="Consolas"/>
                <a:cs typeface="Consolas"/>
              </a:rPr>
              <a:t>dict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{"version": "1.0"}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if __name__ ==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"__main__"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mcp.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run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transport=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"stdio"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920240"/>
            <a:ext cx="42062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2514600"/>
            <a:ext cx="420624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$ </a:t>
            </a:r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python 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server.py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154680"/>
            <a:ext cx="420624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749039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✓ 타입 힌트 → JSON Schema 자동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416052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✓ docstring → 도구 설명 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457200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✓ stdio = 같은 머신에서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983479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✓ SSE = 원격 HTTP 노출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394959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✓ 권한·인증은 Transport 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클라이언트 — 핸드셰이크 &amp; 도구 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통신 시퀀스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1645920" cy="45720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057400"/>
            <a:ext cx="1645920" cy="45720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17320" y="2560320"/>
            <a:ext cx="0" cy="3566160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83480" y="2560320"/>
            <a:ext cx="0" cy="3566160"/>
          </a:xfrm>
          <a:prstGeom prst="bentConnector3">
            <a:avLst/>
          </a:prstGeom>
          <a:ln w="9525">
            <a:solidFill>
              <a:srgbClr val="B0B8C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17320" y="2697480"/>
            <a:ext cx="3566160" cy="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600200" y="246888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initialize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417320" y="3154680"/>
            <a:ext cx="3566160" cy="0"/>
          </a:xfrm>
          <a:prstGeom prst="bentConnector3">
            <a:avLst/>
          </a:prstGeom>
          <a:ln w="1905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00200" y="292608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(capabilities)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3703320"/>
            <a:ext cx="3566160" cy="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600200" y="347472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tools/list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417320" y="4160520"/>
            <a:ext cx="3566160" cy="0"/>
          </a:xfrm>
          <a:prstGeom prst="bentConnector3">
            <a:avLst/>
          </a:prstGeom>
          <a:ln w="1905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600200" y="393192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[add, config]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17320" y="4709160"/>
            <a:ext cx="3566160" cy="0"/>
          </a:xfrm>
          <a:prstGeom prst="bentConnector3">
            <a:avLst/>
          </a:prstGeom>
          <a:ln w="19050">
            <a:solidFill>
              <a:srgbClr val="1F3A6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00200" y="448056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tools/call add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17320" y="5166360"/>
            <a:ext cx="3566160" cy="0"/>
          </a:xfrm>
          <a:prstGeom prst="bentConnector3">
            <a:avLst/>
          </a:prstGeom>
          <a:ln w="1905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00200" y="493776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{result: 8}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17320" y="5715000"/>
            <a:ext cx="3566160" cy="0"/>
          </a:xfrm>
          <a:prstGeom prst="bentConnector3">
            <a:avLst/>
          </a:prstGeom>
          <a:ln w="16510">
            <a:solidFill>
              <a:srgbClr val="6E44A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0200" y="5486400"/>
            <a:ext cx="3200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notifications/...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417320"/>
            <a:ext cx="539496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클라이언트 코드 (Python)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57400"/>
            <a:ext cx="5394960" cy="44348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 bIns="109728" wrap="square"/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mcp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import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ClientSession,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       StdioServerParameters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params = 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StdioServerParameters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   command=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"python"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   args=[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"server.py"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async with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stdio_client(params)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(r, w):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async with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ClientSession(r, w)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as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sess: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sess.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initialize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       tools 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sess.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list_tools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()</a:t>
            </a:r>
          </a:p>
          <a:p>
            <a:pPr algn="l"/>
            <a:r>
              <a:rPr sz="1100" b="0">
                <a:solidFill>
                  <a:srgbClr val="DDE7F5"/>
                </a:solidFill>
                <a:latin typeface="Consolas"/>
                <a:ea typeface="Consolas"/>
                <a:cs typeface="Consolas"/>
              </a:rPr>
              <a:t>        result =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await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sess.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call_tool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   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"add"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, {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"a"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3, </a:t>
            </a:r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"b"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: 5})</a:t>
            </a:r>
          </a:p>
          <a:p>
            <a:pPr algn="l"/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        </a:t>
            </a:r>
            <a:r>
              <a:rPr sz="1100" b="0">
                <a:solidFill>
                  <a:srgbClr val="E86A33"/>
                </a:solidFill>
                <a:latin typeface="Consolas"/>
                <a:ea typeface="Consolas"/>
                <a:cs typeface="Consolas"/>
              </a:rPr>
              <a:t>print</a:t>
            </a:r>
            <a:r>
              <a:rPr sz="1100" b="0">
                <a:solidFill>
                  <a:srgbClr val="E6E6E6"/>
                </a:solidFill>
                <a:latin typeface="Consolas"/>
                <a:ea typeface="Consolas"/>
                <a:cs typeface="Consolas"/>
              </a:rPr>
              <a:t>(result.content)</a:t>
            </a:r>
            <a:r>
              <a:rPr sz="1100" b="0">
                <a:solidFill>
                  <a:srgbClr val="8B9CAD"/>
                </a:solidFill>
                <a:latin typeface="Consolas"/>
                <a:ea typeface="Consolas"/>
                <a:cs typeface="Consolas"/>
              </a:rPr>
              <a:t>  #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LLM ↔ MCP 브리지 — «진짜» 에이전트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874519" cy="960120"/>
          </a:xfrm>
          <a:prstGeom prst="roundRect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39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사용자 질문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554480"/>
            <a:ext cx="1874519" cy="960120"/>
          </a:xfrm>
          <a:prstGeom prst="roundRect">
            <a:avLst/>
          </a:prstGeom>
          <a:solidFill>
            <a:srgbClr val="6E4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606039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추론·계획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54480"/>
            <a:ext cx="1874519" cy="9601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06039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도구 라우팅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554480"/>
            <a:ext cx="1874519" cy="960120"/>
          </a:xfrm>
          <a:prstGeom prst="round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06039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Tool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554480"/>
            <a:ext cx="1874519" cy="960120"/>
          </a:xfrm>
          <a:prstGeom prst="roundRect">
            <a:avLst/>
          </a:prstGeom>
          <a:solidFill>
            <a:srgbClr val="14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External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606039"/>
            <a:ext cx="187451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DB·API·파일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95727" y="2011680"/>
            <a:ext cx="192024" cy="0"/>
          </a:xfrm>
          <a:prstGeom prst="bentConnector3">
            <a:avLst/>
          </a:prstGeom>
          <a:ln w="2540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98847" y="2011680"/>
            <a:ext cx="192025" cy="0"/>
          </a:xfrm>
          <a:prstGeom prst="bentConnector3">
            <a:avLst/>
          </a:prstGeom>
          <a:ln w="2540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01967" y="2011680"/>
            <a:ext cx="192025" cy="0"/>
          </a:xfrm>
          <a:prstGeom prst="bentConnector3">
            <a:avLst/>
          </a:prstGeom>
          <a:ln w="2540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2011680"/>
            <a:ext cx="192024" cy="0"/>
          </a:xfrm>
          <a:prstGeom prst="bentConnector3">
            <a:avLst/>
          </a:prstGeom>
          <a:ln w="25400">
            <a:solidFill>
              <a:srgbClr val="222A3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2395727" y="2194560"/>
            <a:ext cx="192024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498847" y="2194560"/>
            <a:ext cx="192025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01967" y="2194560"/>
            <a:ext cx="192025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705088" y="2194560"/>
            <a:ext cx="192024" cy="0"/>
          </a:xfrm>
          <a:prstGeom prst="bentConnector3">
            <a:avLst/>
          </a:prstGeom>
          <a:ln w="25400">
            <a:solidFill>
              <a:srgbClr val="2E7D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749039"/>
            <a:ext cx="11155680" cy="50292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단계별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① User → LLM:    "이번 주에 PR 몇 개 머지됐어?"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② LLM → Client:   tool_use(name="search_pr", args={"state": "merged"})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③ Client → Server: JSON-RPC tools/call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④ Server → GitHub API: 검색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⑤ Server → Client → LLM: {"count": 7, "prs": [...]}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222A35"/>
                </a:solidFill>
                <a:latin typeface="Consolas"/>
                <a:ea typeface="Consolas"/>
                <a:cs typeface="Consolas"/>
              </a:rPr>
              <a:t>⑥ LLM → User:    자연어 요약 답변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MCP 생태계 — 이미 있는 서버 그대로 쓰기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Anthropic 공식 + 커뮤니티 — 수십~수백 개의 «플러그앤플레이» 서버 존재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920240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926080"/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파일/IDE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Consolas"/>
                          <a:ea typeface="Consolas"/>
                          <a:cs typeface="Consolas"/>
                        </a:rPr>
                        <a:t>@mcp/filesystem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로컬 디렉터리 읽기·쓰기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npm + 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 호스팅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Consolas"/>
                          <a:ea typeface="Consolas"/>
                          <a:cs typeface="Consolas"/>
                        </a:rPr>
                        <a:t>@mcp/github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이슈·PR·코드 검색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토큰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Consolas"/>
                          <a:ea typeface="Consolas"/>
                          <a:cs typeface="Consolas"/>
                        </a:rPr>
                        <a:t>@mcp/postgres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 쿼리·스키마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Connection 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협업/검색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Consolas"/>
                          <a:ea typeface="Consolas"/>
                          <a:cs typeface="Consolas"/>
                        </a:rPr>
                        <a:t>@mcp/slack · brave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채팅 검색·웹 검색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토큰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486400"/>
            <a:ext cx="11155680" cy="1005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💡 본인이 직접 만든 도메인 서버(예: 사내 ERP·이메일·CRM)도</a:t>
            </a:r>
          </a:p>
          <a:p>
            <a:pPr algn="l"/>
            <a:r>
              <a:rPr sz="14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    같은 인터페이스로 만들면 Claude Desktop·Cursor·n8n 등 어디서든 즉시 동작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>
                <a:solidFill>
                  <a:srgbClr val="222A35"/>
                </a:solidFill>
                <a:latin typeface="맑은 고딕"/>
                <a:ea typeface="맑은 고딕"/>
                <a:cs typeface="맑은 고딕"/>
              </a:rPr>
              <a:t>정리 — Tool Calling  vs 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206240"/>
              </a:tblGrid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 Calling (Session 35)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(Session 36)</a:t>
                      </a:r>
                    </a:p>
                  </a:txBody>
                  <a:tcPr>
                    <a:solidFill>
                      <a:srgbClr val="1F3A68"/>
                    </a:solidFill>
                  </a:tcPr>
                </a:tc>
              </a:tr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표준화 범위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벤더별 (OpenAI, Claude 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벤더 무관 · 개방형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단위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함수 정의 (in-process)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프로세스 / 원격 서비스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발견(Discovery)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코드에 하드코딩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Server 가 동적 노출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재사용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단위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생태계 (Claude/Cursor/...)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22514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경계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앱 안 (격리 없음)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Transport 단 분리 + 권한 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1F3A68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사용처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LLM 앱의 함수 호출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 tIns="54864" bIns="54864"/>
                    <a:lstStyle/>
                    <a:p>
                      <a:pPr algn="l"/>
                      <a:r>
                        <a:rPr sz="1300" b="0">
                          <a:solidFill>
                            <a:srgbClr val="222A35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의 도구 백엔드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349240"/>
            <a:ext cx="11155680" cy="1143000"/>
          </a:xfrm>
          <a:prstGeom prst="round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 한 줄 정리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MCP = "도구·데이터를 LLM 에 노출하는 USB-C 표준". 직접 만들 수도, 남이 만든 것을 쓸 수도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