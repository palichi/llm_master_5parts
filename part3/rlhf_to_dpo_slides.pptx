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1F3A5F"/>
                </a:solidFill>
                <a:latin typeface="Noto Sans CJK KR"/>
              </a:rPr>
              <a:t>1. RLHF의 구조와 단점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55555"/>
                </a:solidFill>
                <a:latin typeface="Noto Sans CJK KR"/>
              </a:rPr>
              <a:t>인간 선호도로 정렬하는 표준 방식 — 그러나 무겁고 까다롭다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6675120" cy="1874519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90472"/>
            <a:ext cx="6455664" cy="17282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[RLHF 3단계 파이프라인]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① SFT          지도학습으로 기본 모델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  |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② Reward Model  선호도 데이터로 '점수 매기는 모델' 학습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  |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③ PPO          RM 점수를 보상으로 강화학습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           (+ KL 패널티로 reference에서 안 벗어나게)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4173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E64A19"/>
                </a:solidFill>
                <a:latin typeface="Noto Sans CJK KR"/>
              </a:rPr>
              <a:t>⚠️ 핵심 단점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874519"/>
            <a:ext cx="448056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</a:pPr>
            <a:r>
              <a:rPr sz="1500">
                <a:solidFill>
                  <a:srgbClr val="222222"/>
                </a:solidFill>
                <a:latin typeface="Noto Sans CJK KR"/>
              </a:rPr>
              <a:t>●  3단계 파이프라인 — 복잡하고 길다</a:t>
            </a:r>
          </a:p>
          <a:p>
            <a:pPr>
              <a:lnSpc>
                <a:spcPct val="135000"/>
              </a:lnSpc>
            </a:pPr>
            <a:r>
              <a:rPr sz="1500">
                <a:solidFill>
                  <a:srgbClr val="222222"/>
                </a:solidFill>
                <a:latin typeface="Noto Sans CJK KR"/>
              </a:rPr>
              <a:t>●  Reward Model을 별도로 학습해야 함</a:t>
            </a:r>
          </a:p>
          <a:p>
            <a:pPr>
              <a:lnSpc>
                <a:spcPct val="135000"/>
              </a:lnSpc>
            </a:pPr>
            <a:r>
              <a:rPr sz="1500">
                <a:solidFill>
                  <a:srgbClr val="222222"/>
                </a:solidFill>
                <a:latin typeface="Noto Sans CJK KR"/>
              </a:rPr>
              <a:t>●  PPO 강화학습이 불안정 · 튜닝 어려움</a:t>
            </a:r>
          </a:p>
          <a:p>
            <a:pPr>
              <a:lnSpc>
                <a:spcPct val="135000"/>
              </a:lnSpc>
            </a:pPr>
            <a:r>
              <a:rPr sz="1500">
                <a:solidFill>
                  <a:srgbClr val="222222"/>
                </a:solidFill>
                <a:latin typeface="Noto Sans CJK KR"/>
              </a:rPr>
              <a:t>●  메모리에 4개 모델 동시 상주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555555"/>
                </a:solidFill>
                <a:latin typeface="Noto Sans CJK KR"/>
              </a:rPr>
              <a:t>   –  policy + reference + reward + value</a:t>
            </a:r>
          </a:p>
          <a:p>
            <a:pPr>
              <a:lnSpc>
                <a:spcPct val="135000"/>
              </a:lnSpc>
            </a:pPr>
            <a:r>
              <a:rPr sz="1500">
                <a:solidFill>
                  <a:srgbClr val="222222"/>
                </a:solidFill>
                <a:latin typeface="Noto Sans CJK KR"/>
              </a:rPr>
              <a:t>●  Reward Hacking 위험 (보상 악용)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11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3A5F"/>
                </a:solidFill>
                <a:latin typeface="Noto Sans CJK KR"/>
              </a:rPr>
              <a:t>💾 메모리 부담: RLHF는 동시에 4개의 모델을 올린다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14800"/>
            <a:ext cx="2468880" cy="8229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Policy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4114800"/>
            <a:ext cx="2468880" cy="8229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Reference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114800"/>
            <a:ext cx="2468880" cy="8229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Reward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4114800"/>
            <a:ext cx="2468880" cy="8229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Value/Critic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120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E64A19"/>
                </a:solidFill>
                <a:latin typeface="Noto Sans CJK KR"/>
              </a:rPr>
              <a:t>👉 "좋은 모델은 만들 수 있지만, 파이프라인이 무겁고 재현이 어렵다"</a:t>
            </a:r>
          </a:p>
          <a:p>
            <a:pPr algn="l">
              <a:lnSpc>
                <a:spcPct val="130000"/>
              </a:lnSpc>
            </a:pPr>
            <a:r>
              <a:rPr sz="1600" b="1">
                <a:solidFill>
                  <a:srgbClr val="E64A19"/>
                </a:solidFill>
                <a:latin typeface="Noto Sans CJK KR"/>
              </a:rPr>
              <a:t>    — 이 복잡성을 줄이려는 시도에서 DPO가 등장한다.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3 | RLHF → DPO : 왜 DPO가 나왔는가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1F3A5F"/>
                </a:solidFill>
                <a:latin typeface="Noto Sans CJK KR"/>
              </a:rPr>
              <a:t>2. DPO의 핵심 아이디어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55555"/>
                </a:solidFill>
                <a:latin typeface="Noto Sans CJK KR"/>
              </a:rPr>
              <a:t>Direct Preference Optimization (Rafailov et al., 2023)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33856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</a:pPr>
            <a:r>
              <a:rPr sz="1600">
                <a:solidFill>
                  <a:srgbClr val="222222"/>
                </a:solidFill>
                <a:latin typeface="Noto Sans CJK KR"/>
              </a:rPr>
              <a:t>●  핵심 통찰: RLHF 목적함수의 최적 정책은 보상과 closed-form 관계를 가진다</a:t>
            </a:r>
          </a:p>
          <a:p>
            <a:pPr>
              <a:lnSpc>
                <a:spcPct val="135000"/>
              </a:lnSpc>
            </a:pPr>
            <a:r>
              <a:rPr sz="1500">
                <a:solidFill>
                  <a:srgbClr val="555555"/>
                </a:solidFill>
                <a:latin typeface="Noto Sans CJK KR"/>
              </a:rPr>
              <a:t>   –  → 보상(reward)을 정책(policy)으로 "대수적으로 표현" 할 수 있다</a:t>
            </a:r>
          </a:p>
          <a:p>
            <a:pPr>
              <a:lnSpc>
                <a:spcPct val="135000"/>
              </a:lnSpc>
            </a:pPr>
            <a:r>
              <a:rPr sz="1600">
                <a:solidFill>
                  <a:srgbClr val="222222"/>
                </a:solidFill>
                <a:latin typeface="Noto Sans CJK KR"/>
              </a:rPr>
              <a:t>●  따라서 Reward Model을 따로 학습하지 않고, 선호도 데이터로 정책을 직접 최적화</a:t>
            </a:r>
          </a:p>
          <a:p>
            <a:pPr>
              <a:lnSpc>
                <a:spcPct val="135000"/>
              </a:lnSpc>
            </a:pPr>
            <a:r>
              <a:rPr sz="1500">
                <a:solidFill>
                  <a:srgbClr val="555555"/>
                </a:solidFill>
                <a:latin typeface="Noto Sans CJK KR"/>
              </a:rPr>
              <a:t>   –  → PPO 같은 강화학습 루프가 사라지고, 지도학습(분류)처럼 단순해진다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63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3A5F"/>
                </a:solidFill>
                <a:latin typeface="Noto Sans CJK KR"/>
              </a:rPr>
              <a:t>DPO 손실 함수 (선호 쌍 chosen=y_w, rejected=y_l)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474720"/>
            <a:ext cx="11247120" cy="105156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547872"/>
            <a:ext cx="11027664" cy="905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400">
                <a:solidFill>
                  <a:srgbClr val="222222"/>
                </a:solidFill>
                <a:latin typeface="DejaVu Sans Mono"/>
              </a:rPr>
              <a:t>L_DPO = -log σ( β · [ log πθ(y_w|x)/π_ref(y_w|x)  −  log πθ(y_l|x)/π_ref(y_l|x) ]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557784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1E8B4E"/>
                </a:solidFill>
                <a:latin typeface="Noto Sans CJK KR"/>
              </a:rPr>
              <a:t>●  chosen 응답의 확률은 ↑, rejected는 ↓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β: reference에서 벗어나는 정도 조절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π_ref(reference)는 동결 — 학습 안 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E8B4E"/>
                </a:solidFill>
                <a:latin typeface="Noto Sans CJK KR"/>
              </a:rPr>
              <a:t>✅ 필요한 모델: 단 2개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5074920"/>
            <a:ext cx="2606040" cy="777240"/>
          </a:xfrm>
          <a:prstGeom prst="roundRect">
            <a:avLst/>
          </a:prstGeom>
          <a:solidFill>
            <a:srgbClr val="1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Policy (학습)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5074920"/>
            <a:ext cx="2606040" cy="777240"/>
          </a:xfrm>
          <a:prstGeom prst="roundRect">
            <a:avLst/>
          </a:prstGeom>
          <a:solidFill>
            <a:srgbClr val="1E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Reference (동결)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3 | RLHF → DPO : 왜 DPO가 나왔는가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1F3A5F"/>
                </a:solidFill>
                <a:latin typeface="Noto Sans CJK KR"/>
              </a:rPr>
              <a:t>3. RLHF vs DPO 비교 &amp;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5097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55555"/>
                </a:solidFill>
                <a:latin typeface="Noto Sans CJK KR"/>
              </a:rPr>
              <a:t>무엇이 어떻게 개선됐나 — 그리고 DPO의 한계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877170" cy="391885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4370" y="1371600"/>
            <a:ext cx="4184974" cy="391885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RLHF (PPO)</a:t>
            </a:r>
          </a:p>
        </p:txBody>
      </p:sp>
      <p:sp>
        <p:nvSpPr>
          <p:cNvPr id="8" name="Rectangle 7"/>
          <p:cNvSpPr/>
          <p:nvPr/>
        </p:nvSpPr>
        <p:spPr>
          <a:xfrm>
            <a:off x="7519344" y="1371600"/>
            <a:ext cx="4184974" cy="391885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DPO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63485"/>
            <a:ext cx="2877170" cy="391885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40000" wrap="square"/>
          <a:lstStyle/>
          <a:p>
            <a:pPr algn="ctr"/>
            <a:r>
              <a:rPr sz="1250">
                <a:solidFill>
                  <a:srgbClr val="222222"/>
                </a:solidFill>
                <a:latin typeface="Noto Sans CJK KR"/>
              </a:rPr>
              <a:t>학습 단계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4370" y="1763485"/>
            <a:ext cx="4184974" cy="391885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40000" wrap="square"/>
          <a:lstStyle/>
          <a:p>
            <a:pPr algn="l"/>
            <a:r>
              <a:rPr sz="1250">
                <a:solidFill>
                  <a:srgbClr val="C0392B"/>
                </a:solidFill>
                <a:latin typeface="Noto Sans CJK KR"/>
              </a:rPr>
              <a:t>3단계 (SFT→RM→PPO)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9344" y="1763485"/>
            <a:ext cx="4184974" cy="391885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40000" wrap="square"/>
          <a:lstStyle/>
          <a:p>
            <a:pPr algn="l"/>
            <a:r>
              <a:rPr sz="1250">
                <a:solidFill>
                  <a:srgbClr val="1E8B4E"/>
                </a:solidFill>
                <a:latin typeface="Noto Sans CJK KR"/>
              </a:rPr>
              <a:t>1단계 (선호 쌍 직접 학습)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55370"/>
            <a:ext cx="2877170" cy="391885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40000" wrap="square"/>
          <a:lstStyle/>
          <a:p>
            <a:pPr algn="ctr"/>
            <a:r>
              <a:rPr sz="1250">
                <a:solidFill>
                  <a:srgbClr val="222222"/>
                </a:solidFill>
                <a:latin typeface="Noto Sans CJK KR"/>
              </a:rPr>
              <a:t>Reward 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4370" y="2155370"/>
            <a:ext cx="4184974" cy="391885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40000" wrap="square"/>
          <a:lstStyle/>
          <a:p>
            <a:pPr algn="l"/>
            <a:r>
              <a:rPr sz="1250">
                <a:solidFill>
                  <a:srgbClr val="C0392B"/>
                </a:solidFill>
                <a:latin typeface="Noto Sans CJK KR"/>
              </a:rPr>
              <a:t>별도 학습 필요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9344" y="2155370"/>
            <a:ext cx="4184974" cy="391885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40000" wrap="square"/>
          <a:lstStyle/>
          <a:p>
            <a:pPr algn="l"/>
            <a:r>
              <a:rPr sz="1250">
                <a:solidFill>
                  <a:srgbClr val="1E8B4E"/>
                </a:solidFill>
                <a:latin typeface="Noto Sans CJK KR"/>
              </a:rPr>
              <a:t>불필요 (정책에 내재)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47255"/>
            <a:ext cx="2877170" cy="391885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40000" wrap="square"/>
          <a:lstStyle/>
          <a:p>
            <a:pPr algn="ctr"/>
            <a:r>
              <a:rPr sz="1250">
                <a:solidFill>
                  <a:srgbClr val="222222"/>
                </a:solidFill>
                <a:latin typeface="Noto Sans CJK KR"/>
              </a:rPr>
              <a:t>메모리 내 모델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4370" y="2547255"/>
            <a:ext cx="4184974" cy="391885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40000" wrap="square"/>
          <a:lstStyle/>
          <a:p>
            <a:pPr algn="l"/>
            <a:r>
              <a:rPr sz="1250">
                <a:solidFill>
                  <a:srgbClr val="C0392B"/>
                </a:solidFill>
                <a:latin typeface="Noto Sans CJK KR"/>
              </a:rPr>
              <a:t>4개 (policy/ref/reward/value)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19344" y="2547255"/>
            <a:ext cx="4184974" cy="391885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40000" wrap="square"/>
          <a:lstStyle/>
          <a:p>
            <a:pPr algn="l"/>
            <a:r>
              <a:rPr sz="1250">
                <a:solidFill>
                  <a:srgbClr val="1E8B4E"/>
                </a:solidFill>
                <a:latin typeface="Noto Sans CJK KR"/>
              </a:rPr>
              <a:t>2개 (policy/ref)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39140"/>
            <a:ext cx="2877170" cy="391885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40000" wrap="square"/>
          <a:lstStyle/>
          <a:p>
            <a:pPr algn="ctr"/>
            <a:r>
              <a:rPr sz="1250">
                <a:solidFill>
                  <a:srgbClr val="222222"/>
                </a:solidFill>
                <a:latin typeface="Noto Sans CJK KR"/>
              </a:rPr>
              <a:t>학습 안정성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4370" y="2939140"/>
            <a:ext cx="4184974" cy="391885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40000" wrap="square"/>
          <a:lstStyle/>
          <a:p>
            <a:pPr algn="l"/>
            <a:r>
              <a:rPr sz="1250">
                <a:solidFill>
                  <a:srgbClr val="C0392B"/>
                </a:solidFill>
                <a:latin typeface="Noto Sans CJK KR"/>
              </a:rPr>
              <a:t>불안정 (RL 튜닝 까다로움)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19344" y="2939140"/>
            <a:ext cx="4184974" cy="391885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40000" wrap="square"/>
          <a:lstStyle/>
          <a:p>
            <a:pPr algn="l"/>
            <a:r>
              <a:rPr sz="1250">
                <a:solidFill>
                  <a:srgbClr val="1E8B4E"/>
                </a:solidFill>
                <a:latin typeface="Noto Sans CJK KR"/>
              </a:rPr>
              <a:t>안정 (지도학습과 유사)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331025"/>
            <a:ext cx="2877170" cy="391885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40000" wrap="square"/>
          <a:lstStyle/>
          <a:p>
            <a:pPr algn="ctr"/>
            <a:r>
              <a:rPr sz="1250">
                <a:solidFill>
                  <a:srgbClr val="222222"/>
                </a:solidFill>
                <a:latin typeface="Noto Sans CJK KR"/>
              </a:rPr>
              <a:t>구현 난이도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4370" y="3331025"/>
            <a:ext cx="4184974" cy="391885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40000" wrap="square"/>
          <a:lstStyle/>
          <a:p>
            <a:pPr algn="l"/>
            <a:r>
              <a:rPr sz="1250">
                <a:solidFill>
                  <a:srgbClr val="C0392B"/>
                </a:solidFill>
                <a:latin typeface="Noto Sans CJK KR"/>
              </a:rPr>
              <a:t>높음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19344" y="3331025"/>
            <a:ext cx="4184974" cy="391885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40000" wrap="square"/>
          <a:lstStyle/>
          <a:p>
            <a:pPr algn="l"/>
            <a:r>
              <a:rPr sz="1250">
                <a:solidFill>
                  <a:srgbClr val="1E8B4E"/>
                </a:solidFill>
                <a:latin typeface="Noto Sans CJK KR"/>
              </a:rPr>
              <a:t>낮음 (TRL DPOTrainer 몇 줄)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22910"/>
            <a:ext cx="2877170" cy="391885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40000" wrap="square"/>
          <a:lstStyle/>
          <a:p>
            <a:pPr algn="ctr"/>
            <a:r>
              <a:rPr sz="1250">
                <a:solidFill>
                  <a:srgbClr val="222222"/>
                </a:solidFill>
                <a:latin typeface="Noto Sans CJK KR"/>
              </a:rPr>
              <a:t>성능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4370" y="3722910"/>
            <a:ext cx="4184974" cy="391885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40000" wrap="square"/>
          <a:lstStyle/>
          <a:p>
            <a:pPr algn="l"/>
            <a:r>
              <a:rPr sz="1250">
                <a:solidFill>
                  <a:srgbClr val="222222"/>
                </a:solidFill>
                <a:latin typeface="Noto Sans CJK KR"/>
              </a:rPr>
              <a:t>매우 높음 (잘 튜닝 시)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19344" y="3722910"/>
            <a:ext cx="4184974" cy="391885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40000" wrap="square"/>
          <a:lstStyle/>
          <a:p>
            <a:pPr algn="l"/>
            <a:r>
              <a:rPr sz="1250">
                <a:solidFill>
                  <a:srgbClr val="222222"/>
                </a:solidFill>
                <a:latin typeface="Noto Sans CJK KR"/>
              </a:rPr>
              <a:t>RLHF에 준하거나 동등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E64A19"/>
                </a:solidFill>
                <a:latin typeface="Noto Sans CJK KR"/>
              </a:rPr>
              <a:t>⚠️ DPO의 한계 (그래서 그 다음이 또 나온다)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709160"/>
            <a:ext cx="1133856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선호도 데이터 품질에 강하게 의존 (나쁜 쌍 → 나쁜 정렬)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오프라인 학습 — 학습 중 새 응답을 탐색(online exploration)하지 못함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Reward Model이 없어 Best-of-N·검증가능 보상 활용이 어려움 → DeepSeek R1의 GRPO·Rejection Sampling으로 이어짐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1722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3A5F"/>
                </a:solidFill>
                <a:latin typeface="Noto Sans CJK KR"/>
              </a:rPr>
              <a:t>🔑 한 줄 요약: DPO = "Reward Model + PPO"를 하나의 분류형 손실로 대체해 RLHF를 단순·안정·경량화한 방법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3 | RLHF → DPO : 왜 DPO가 나왔는가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